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9" r:id="rId2"/>
    <p:sldId id="320" r:id="rId3"/>
    <p:sldId id="324" r:id="rId4"/>
    <p:sldId id="325" r:id="rId5"/>
    <p:sldId id="322" r:id="rId6"/>
    <p:sldId id="327" r:id="rId7"/>
    <p:sldId id="321" r:id="rId8"/>
    <p:sldId id="338" r:id="rId9"/>
    <p:sldId id="339" r:id="rId10"/>
    <p:sldId id="344" r:id="rId11"/>
    <p:sldId id="326" r:id="rId12"/>
    <p:sldId id="333" r:id="rId13"/>
    <p:sldId id="332" r:id="rId14"/>
    <p:sldId id="331" r:id="rId15"/>
    <p:sldId id="328" r:id="rId16"/>
    <p:sldId id="330" r:id="rId17"/>
    <p:sldId id="334" r:id="rId18"/>
    <p:sldId id="335" r:id="rId19"/>
    <p:sldId id="336" r:id="rId20"/>
    <p:sldId id="340" r:id="rId21"/>
    <p:sldId id="342" r:id="rId22"/>
    <p:sldId id="341" r:id="rId23"/>
    <p:sldId id="337" r:id="rId24"/>
    <p:sldId id="343" r:id="rId25"/>
    <p:sldId id="345" r:id="rId26"/>
    <p:sldId id="346" r:id="rId27"/>
    <p:sldId id="347" r:id="rId28"/>
    <p:sldId id="34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2" autoAdjust="0"/>
    <p:restoredTop sz="94660"/>
  </p:normalViewPr>
  <p:slideViewPr>
    <p:cSldViewPr snapToGrid="0">
      <p:cViewPr varScale="1">
        <p:scale>
          <a:sx n="94" d="100"/>
          <a:sy n="94" d="100"/>
        </p:scale>
        <p:origin x="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16:55:54.825"/>
    </inkml:context>
    <inkml:brush xml:id="br0">
      <inkml:brushProperty name="width" value="0.05" units="cm"/>
      <inkml:brushProperty name="height" value="0.05" units="cm"/>
      <inkml:brushProperty name="color" value="#E71224"/>
    </inkml:brush>
  </inkml:definitions>
  <inkml:trace contextRef="#ctx0" brushRef="#br0">243 1 24575,'2'0'0,"0"0"0,0 0 0,-1 1 0,1-1 0,0 1 0,0-1 0,-1 1 0,1 0 0,0 0 0,-1 0 0,1 0 0,-1 0 0,1 0 0,1 1 0,7 6 0,67 47 0,-3 3 0,-3 3 0,-3 3 0,-2 3 0,-4 3 0,-2 2 0,-4 4 0,62 107 0,-93-140 0,-3 2 0,-1 0 0,-2 2 0,-3 0 0,21 91 0,-32-109 0,-2 0 0,0 0 0,-2 1 0,-1-1 0,-1 0 0,-2 1 0,-1-1 0,-1 0 0,-1 0 0,-2-1 0,-14 36 0,-6-6 0,-1-2 0,-4 0 0,-1-3 0,-3-1 0,-48 52 0,-14 4 0,-125 104 0,129-129 0,-192 127 0,281-206 0,2-1 0,0 0 0,0-1 0,-1 1 0,1-1 0,-1 1 0,1-1 0,-1-1 0,0 1 0,0-1 0,0 1 0,0-2 0,-7 2 0,11-3 0,0 1 0,1-1 0,-1 1 0,0-1 0,1 1 0,-1-1 0,0 1 0,1-1 0,-1 0 0,1 1 0,-1-1 0,1 0 0,0 0 0,-1 1 0,1-1 0,0 0 0,-1 0 0,1 0 0,0 1 0,0-1 0,0 0 0,0 0 0,0 0 0,0 0 0,0 1 0,0-1 0,0 0 0,0 0 0,0 0 0,0 0 0,1 1 0,-1-1 0,0 0 0,1 0 0,-1 1 0,0-1 0,2-1 0,15-39 0,-14 34 0,83-224 0,-49 124 0,-28 78 0,-3 10 0,-5 43 0,-2-8 0,-7 382 0,9-392 0,-1-1 0,1 0 0,0 0 0,1 0 0,-1 1 0,1-1 0,0-1 0,0 1 0,1 0 0,-1 0 0,1-1 0,0 1 0,0-1 0,1 0 0,-1 0 0,1 0 0,0-1 0,0 1 0,0-1 0,1 0 0,-1 0 0,1 0 0,-1-1 0,1 0 0,0 1 0,0-2 0,0 1 0,8 1 0,11 3 0,0-2 0,1-1 0,-1 0 0,44-2 0,33-8-455,-1-4 0,140-34 0,-178 32-6371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20:29:25.910"/>
    </inkml:context>
    <inkml:brush xml:id="br0">
      <inkml:brushProperty name="width" value="0.05" units="cm"/>
      <inkml:brushProperty name="height" value="0.05" units="cm"/>
      <inkml:brushProperty name="color" value="#E71224"/>
    </inkml:brush>
  </inkml:definitions>
  <inkml:trace contextRef="#ctx0" brushRef="#br0">3081 0 24575,'-10'12'0,"0"0"0,0-1 0,-1 0 0,0-1 0,-1-1 0,-21 15 0,3-3 0,-449 313 0,348-255 0,-255 115 0,335-174 0,0-3 0,-1-2 0,0-2 0,-71 8 0,28-13 0,-148-5 0,-587-18 0,811 15 0,5 1 0,1-1 0,0 0 0,0-1 0,-18-3 0,29 3 0,1 1 0,-1 0 0,0-1 0,1 1 0,-1-1 0,1 1 0,-1-1 0,1 0 0,-1 0 0,1 1 0,-1-1 0,1 0 0,0 0 0,-1-1 0,1 1 0,0 0 0,0 0 0,0-1 0,0 1 0,0 0 0,0-1 0,0 1 0,0-1 0,1 1 0,-1-1 0,1 0 0,-1 1 0,1-1 0,-1 0 0,1 1 0,0-1 0,0 0 0,0 1 0,0-1 0,0 0 0,0 1 0,0-1 0,1 0 0,-1 1 0,1-3 0,4-8 0,1 1 0,0 0 0,0 0 0,1 0 0,0 1 0,1 0 0,0 0 0,0 1 0,1 0 0,1 0 0,13-9 0,-5 2 0,-1-1 0,-17 17 0,0 0 0,0 0 0,-1 0 0,1 0 0,0 0 0,0 0 0,0 0 0,0 0 0,0 0 0,0 0 0,0 0 0,0 0 0,0 0 0,-1 0 0,1 0 0,0 0 0,0 0 0,0 0 0,0 0 0,0 0 0,0 0 0,0 0 0,0 0 0,-1 0 0,1 0 0,0 0 0,0 0 0,0 0 0,0 0 0,0 0 0,0 0 0,0 0 0,0 0 0,0 0 0,0 0 0,-1 0 0,1 0 0,0-1 0,0 1 0,0 0 0,0 0 0,0 0 0,0 0 0,0 0 0,0 0 0,0 0 0,0 0 0,0 0 0,0-1 0,0 1 0,0 0 0,0 0 0,0 0 0,0 0 0,0 0 0,0 0 0,0 0 0,0 0 0,0 0 0,0-1 0,0 1 0,0 0 0,0 0 0,0 0 0,-37 20 0,-47 38 0,2 4 0,-131 131 0,208-188 0,0 0 0,0 1 0,0 0 0,1-1 0,0 2 0,0-1 0,-4 11 0,7-16 0,1 1 0,-1 0 0,1-1 0,0 1 0,-1-1 0,1 1 0,0 0 0,0-1 0,0 1 0,0 0 0,0-1 0,1 1 0,-1 0 0,0-1 0,1 1 0,-1-1 0,1 1 0,0-1 0,-1 1 0,1-1 0,0 1 0,0-1 0,0 1 0,0-1 0,0 0 0,0 0 0,0 0 0,1 0 0,-1 1 0,0-1 0,1-1 0,-1 1 0,1 0 0,-1 0 0,1-1 0,-1 1 0,1 0 0,2 0 0,24 8 0,44 10 0,15 3 0,174 80-1365,-229-88-5461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20:35:25.631"/>
    </inkml:context>
    <inkml:brush xml:id="br0">
      <inkml:brushProperty name="width" value="0.05" units="cm"/>
      <inkml:brushProperty name="height" value="0.05" units="cm"/>
      <inkml:brushProperty name="color" value="#E71224"/>
    </inkml:brush>
  </inkml:definitions>
  <inkml:trace contextRef="#ctx0" brushRef="#br0">1395 891 24575,'-19'16'0,"0"0"0,0-2 0,-2 0 0,-23 12 0,6-7 0,-2-1 0,0-2 0,-1-1 0,0-3 0,-1-1 0,0-2 0,-1-2 0,0-1 0,-80-2 0,-399-8 0,514 5 0,-1-1 0,1 0 0,0-1 0,0 1 0,0-2 0,0 1 0,-1-1 0,2-1 0,-1 1 0,0-1 0,1-1 0,-1 1 0,1-1 0,0-1 0,0 1 0,0-1 0,1 0 0,0-1 0,0 0 0,0 0 0,1 0 0,-1 0 0,2-1 0,-1 0 0,1 0 0,-5-10 0,-4-11 0,1 0 0,1-1 0,1-1 0,-7-40 0,15 54 0,0 0 0,1-1 0,1 1 0,0-1 0,1 0 0,1 1 0,1 0 0,0-1 0,10-28 0,2 9 0,1 2 0,2-1 0,2 2 0,0 1 0,2 0 0,2 2 0,1 1 0,1 0 0,1 2 0,1 1 0,2 2 0,43-29 0,-36 28 0,2 2 0,1 2 0,0 1 0,2 3 0,0 0 0,1 3 0,0 2 0,1 2 0,0 1 0,58-3 0,-77 12 0,0 1 0,0 0 0,0 2 0,0 1 0,-1 1 0,0 2 0,0 0 0,0 1 0,-1 1 0,23 13 0,-16-5 0,0 1 0,-1 2 0,-1 1 0,0 1 0,-2 1 0,37 42 0,-51-50 0,-1 1 0,0 0 0,-1 0 0,0 1 0,-2 0 0,0 1 0,-1 0 0,-1 0 0,0 0 0,-2 1 0,3 19 0,-1 12 0,-3-1 0,-2 1 0,-5 53 0,1-78 0,-1 0 0,0 0 0,-2-1 0,-1 0 0,-1 0 0,-1 0 0,-23 42 0,25-52 0,-2 0 0,0 0 0,0-1 0,-2 0 0,1 0 0,-2-1 0,1-1 0,-2 0 0,1 0 0,-1-2 0,-1 1 0,0-2 0,-18 9 0,22-13-114,0-1 1,0-1-1,0 0 0,-1 0 0,0-1 1,1 0-1,-1 0 0,1-1 0,-1-1 1,0 0-1,-17-4 0,-28-9-6712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20:35:26.813"/>
    </inkml:context>
    <inkml:brush xml:id="br0">
      <inkml:brushProperty name="width" value="0.05" units="cm"/>
      <inkml:brushProperty name="height" value="0.05" units="cm"/>
      <inkml:brushProperty name="color" value="#E71224"/>
    </inkml:brush>
  </inkml:definitions>
  <inkml:trace contextRef="#ctx0" brushRef="#br0">229 154 24575,'176'-1'0,"19"-2"0,206 26 0,-366-18 0,-1 2 0,0 2 0,-1 1 0,0 1 0,0 2 0,-1 2 0,-1 0 0,-1 2 0,0 2 0,-1 0 0,42 38 0,-41-30 0,-1 2 0,-1 1 0,-1 2 0,-2 0 0,-1 2 0,-2 0 0,-2 1 0,0 2 0,21 60 0,-35-81 0,0 0 0,-2 0 0,0 1 0,-1 0 0,2 25 0,-5-36 0,0-1 0,0 1 0,-1 0 0,0-1 0,0 0 0,0 1 0,0-1 0,-1 0 0,0 1 0,0-1 0,0 0 0,-1 0 0,0-1 0,0 1 0,0-1 0,-1 1 0,1-1 0,-1 0 0,0 0 0,0 0 0,-5 3 0,-10 5 0,0-1 0,-1-1 0,0 0 0,-41 12 0,-96 20 0,107-31 0,-66 16 0,-176 16 0,214-37 0,1-3 0,-1-4 0,-103-14 0,128 6 0,-1-2 0,-73-26 0,99 27 0,0-1 0,1-2 0,1-1 0,0 0 0,1-2 0,-24-19 0,44 30 0,0 1 0,1 0 0,0-1 0,-1 0 0,2 0 0,-1 0 0,0-1 0,1 1 0,0-1 0,0 0 0,1 0 0,0 0 0,0 0 0,0 0 0,1-1 0,0 1 0,0 0 0,0-1 0,1 1 0,0 0 0,0-1 0,1 1 0,-1-1 0,2 1 0,-1 0 0,1-1 0,4-10 0,6-11 0,0 2 0,2-1 0,2 2 0,29-40 0,-34 50 0,116-151 0,157-158 0,-268 307 15,0 1 0,2 0 0,0 1 0,0 1 0,2 1 0,0 1 0,30-14 0,-39 21-102,0 1-1,0 0 1,1 1 0,0 1-1,-1 0 1,1 0 0,0 1-1,0 0 1,0 1-1,0 1 1,0 0 0,0 0-1,-1 2 1,1-1 0,0 1-1,10 5 1,15 7-6739</inkml:trace>
</inkml:ink>
</file>

<file path=ppt/ink/ink5.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31:59.906"/>
    </inkml:context>
    <inkml:brush xml:id="br0">
      <inkml:brushProperty name="width" value="0.05292" units="cm"/>
      <inkml:brushProperty name="height" value="0.05292" units="cm"/>
      <inkml:brushProperty name="color" value="#FF0000"/>
    </inkml:brush>
  </inkml:definitions>
  <inkml:trace contextRef="#ctx0" brushRef="#br0">13652 8237 0,'18'0'31,"70"0"-15,18-35-1,-53 17 1,0-17 0,0 0-1,-35 17 1,-1 18 0</inkml:trace>
  <inkml:trace contextRef="#ctx0" brushRef="#br0" timeOffset="1130.22">13864 10354 0,'18'0'79,"-1"0"-64,1 0 1</inkml:trace>
  <inkml:trace contextRef="#ctx0" brushRef="#br0" timeOffset="2014.39">13635 13247 0,'0'17'16,"35"-17"-1,-17 0 1,88 0 0,-89-17-1,19-54-15</inkml:trace>
  <inkml:trace contextRef="#ctx0" brushRef="#br0" timeOffset="4044.4">5609 8167 0,'124'0'47,"140"-71"-31,-158 54-1,0-19 1,-71 19-1,18-1 1,-18 0-16</inkml:trace>
  <inkml:trace contextRef="#ctx0" brushRef="#br0" timeOffset="6106.82">19403 8343 0,'70'0'47,"71"-17"-32,-70-19 1,-36 36 0,-17 0-1</inkml:trace>
  <inkml:trace contextRef="#ctx0" brushRef="#br0" timeOffset="26289.73">24977 5345 0,'105'-36'78,"37"36"-62,-19 0-1,265 0 1,-247 0-1,388 0 1,-176 0 0,53 0-1,-106 0 1,-36 0 0,-193 0-1,88 0 1,-106 0-1,-36 0-15</inkml:trace>
  <inkml:trace contextRef="#ctx0" brushRef="#br0" timeOffset="28411.83">23848 6227 0,'70'0'47,"336"0"-31,123 0-1,336 0 1,69 52 0,19 37-1,52 16 1,18-52 0,-247-53-1,-493 0 1,-230 0-1</inkml:trace>
  <inkml:trace contextRef="#ctx0" brushRef="#br0" timeOffset="43305.18">14799 6315 0,'141'0'62,"124"0"-46,-107 0-1,-34 0 1,-71 0 0,123 0-1,-140 0 1,-19 0-1</inkml:trace>
  <inkml:trace contextRef="#ctx0" brushRef="#br0" timeOffset="47017.68">13458 4057 0,'124'0'31,"123"18"-15,35 17 0,0-17-1,53-18 1,1 0-1,-1 0 1,-71 0 0,-158 0-1,106 0 1,-124 0 0,-35 0-1,-18 0 16,0 0-15,1 0 0,-1 0-1,36 0 17,-1 0-17,36 0 1,-53 0-1,-35 0 1,52 0 0,-35 0-1,-17 0 32</inkml:trace>
  <inkml:trace contextRef="#ctx0" brushRef="#br0" timeOffset="48038.16">12347 4921 0,'159'36'63,"106"-1"-48,158 53 1,141-88 0,-229 0-1,477 0 1,-512 0-16,-53 0 16,158 0-1,-193 0 1,-141 0-16</inkml:trace>
  <inkml:trace contextRef="#ctx0" brushRef="#br0" timeOffset="60510.21">21749 9842 0,'141'-70'78,"123"35"-62,54-18-1,88 53 1,123 0 0,-159 0-1,36 0 1</inkml:trace>
  <inkml:trace contextRef="#ctx0" brushRef="#br0" timeOffset="143243">19015 16792 0,'194'-17'63,"247"17"-47,-18-36-1,18-17 1,-53-17-1,18 35 1,-89 35 0,-176-53-1,-105 53 1</inkml:trace>
  <inkml:trace contextRef="#ctx0" brushRef="#br0" timeOffset="153507.91">8308 6138 0,'-18'0'47,"18"18"-32,0 17 1,0-17-1,0 0 1,0 17 15,0 0-15</inkml:trace>
  <inkml:trace contextRef="#ctx0" brushRef="#br0" timeOffset="153908.29">8308 5944 0</inkml:trace>
  <inkml:trace contextRef="#ctx0" brushRef="#br0" timeOffset="154475.66">8484 6385 0,'0'0'0,"18"-17"31,-18-36-16,0-18 1,18-35 0,-18 53-1,0 0 1,0-35 0,0 18-1,0-54 1,35 36-1,-18 18 1</inkml:trace>
  <inkml:trace contextRef="#ctx0" brushRef="#br0" timeOffset="155039.95">8449 6121 0,'35'0'78,"36"0"-62,-18 0 0,-18 0-1,-17 0 1,52 0 0,-52-18-16,-18 0 46</inkml:trace>
  <inkml:trace contextRef="#ctx0" brushRef="#br0" timeOffset="155819.24">8961 6174 0,'17'0'31,"-34"0"-31,52-18 47,0-17-31,-17 17 0,-18 0 30,0-17-30,0 17 15,-36 18 1,-16 0-17,16 0 1,-17 0-1,18 0-15,-35 18 16,-1 88 0,36-35 15,35-1 0,70-52-15,89-1 15,-106-17-15,35-17 15,-53-1-15,-17 18-16,17 0 46,-17-18-14</inkml:trace>
  <inkml:trace contextRef="#ctx0" brushRef="#br0" timeOffset="178531.97">8643 8220 0,'35'0'47,"54"17"-32,-37 1 1,37 0 0,-1 17-1,124 35 1,34 19-1,-52-36 1,18-1 0,-18 19-1,-35-53 1,-124-18 0</inkml:trace>
  <inkml:trace contextRef="#ctx0" brushRef="#br0" timeOffset="186492.91">9049 8343 0,'211'18'109,"36"-1"-93,71-17-1,-18 0 1,-177 0 0,71 0-1,-123 0-15,-54 0 16,19 0 0,-19 0-16,-52 36 78,-71-19-63,-141-17 1,-35 0 0,-53 18-1,159 35 1,140-53 15,177 0 0,159 53-15,-70-18 15,-336-35 32,53 0-48,0 18-15,35-18 32,1 0-17,17 35 1,0 0-1,17 1 1,1-19 15</inkml:trace>
  <inkml:trace contextRef="#ctx0" brushRef="#br0" timeOffset="192011.67">4533 13776 0,'300'35'31,"229"36"-16,18-18 1,-106 17 0,-159-52-1,-17 35 1,-106-36 0,-89-17-16</inkml:trace>
  <inkml:trace contextRef="#ctx0" brushRef="#br0" timeOffset="193837.65">10178 8837 0,'0'18'31,"17"52"-15,-17 18-1,18 71 1,52 159 0,72 193-1,69 18 1,-52-158 0,-53-36-1,-71-18 1,-35-158-1,0 123 1,0-158-16,-53 17 16,-106 194-1,-52-35 1,-19-53 0,-34-53-1,-1-71 1,1 54-1,123-107 1,52-17 15,178-194 126,-36-123-142,-1-36 1,-52 123-1,0 72 1,-17 105 31,17 141-31,-71 53-1,36 35 1,-124 36-1,89 17 1,34-176 0,36-89-1,265 36 17,105-53 14,-211 0-30,-106 18 0,0-18-1,18 17 1,-54 1-16</inkml:trace>
  <inkml:trace contextRef="#ctx0" brushRef="#br0" timeOffset="-214425.28">18521 18098 0,'-18'0'16,"36"35"-1,88-35 1,52 70 0,213-34-1,123 34 1,388 71 0,176-17-1,-476-124 1,-353 0-1,-211-18 1</inkml:trace>
</inkml:ink>
</file>

<file path=ppt/ink/ink6.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36:58.102"/>
    </inkml:context>
    <inkml:brush xml:id="br0">
      <inkml:brushProperty name="width" value="0.05292" units="cm"/>
      <inkml:brushProperty name="height" value="0.05292" units="cm"/>
      <inkml:brushProperty name="color" value="#FF0000"/>
    </inkml:brush>
  </inkml:definitions>
  <inkml:trace contextRef="#ctx0" brushRef="#br0">15311 4604 0,'0'0'0,"0"17"110,52-17-95,72-17 1,17-1 0,0 18-1,71-18 1,-1 18 0,-122 0-1,-36 0 1,-36 0 15,1 0-15</inkml:trace>
  <inkml:trace contextRef="#ctx0" brushRef="#br0" timeOffset="1831.95">14235 10513 0,'158'0'47,"89"35"-31,-35-17 15,-142-18-15,54 0-1,-1 0 1</inkml:trace>
  <inkml:trace contextRef="#ctx0" brushRef="#br0" timeOffset="2784.4">14305 14746 0,'35'0'31,"71"0"-15,53 0 15,-88 35-15</inkml:trace>
  <inkml:trace contextRef="#ctx0" brushRef="#br0" timeOffset="3600.63">15469 14781 0,'18'0'16,"-106"89"15,-89-19-15,-52-35 0,35-17-1,-71 17 1,36-35-1,70 0 1,36 0 0,-36-106-1,53 18 1,53 35 0,36-52-1,17 34-15,35-35 16,106-105-1,-70 122-15,-1 1 16,142-18 0,35 53-1,123 53 1,-17 106 0,-53 106-1,-194-36 1,-89-35-1,-17-52 1,-158 52 0,-36-53-1,-71-18 1,71-70 0,53 0-16,17 0 15,-34-70 1,122 70-1</inkml:trace>
  <inkml:trace contextRef="#ctx0" brushRef="#br0" timeOffset="6712.16">11836 13458 0,'0'18'16,"194"106"0,141 87-1,-53-34 1,-194-89-1,53 35 1,-52-52-16,-1 17 16,106 71-1,-53-18 1,-35-71 0,-89-52 30,-34-106 64,-71-71-95,17 18 1,-17-35 0,70 105-1,18 53 1,0 54 46,124 158-46,-19-53 0,1 18-1,-18-54 1,-70-69 0,-212-36 46,53 0-46,35 0-16,-17 0 15,17 0 1</inkml:trace>
</inkml:ink>
</file>

<file path=ppt/ink/ink7.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37:11.263"/>
    </inkml:context>
    <inkml:brush xml:id="br0">
      <inkml:brushProperty name="width" value="0.05292" units="cm"/>
      <inkml:brushProperty name="height" value="0.05292" units="cm"/>
      <inkml:brushProperty name="color" value="#FF0000"/>
    </inkml:brush>
  </inkml:definitions>
  <inkml:trace contextRef="#ctx0" brushRef="#br0">22154 6650 0,'18'53'15,"670"35"16,-229-88 16,-354 0-31</inkml:trace>
</inkml:ink>
</file>

<file path=ppt/ink/ink8.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37:38.984"/>
    </inkml:context>
    <inkml:brush xml:id="br0">
      <inkml:brushProperty name="width" value="0.05292" units="cm"/>
      <inkml:brushProperty name="height" value="0.05292" units="cm"/>
      <inkml:brushProperty name="color" value="#FF0000"/>
    </inkml:brush>
  </inkml:definitions>
  <inkml:trace contextRef="#ctx0" brushRef="#br0">17639 10566 0,'141'0'141,"124"0"-125,87 0 15,-299 0-15,0 0-1,-18 0 1,18 0-1,-17 0 1,-1 0 0,-17 0-1,-1 0 17,18 0 14,1 0 1,34 0-31</inkml:trace>
  <inkml:trace contextRef="#ctx0" brushRef="#br0" timeOffset="761.18">17903 11218 0,'71'0'93,"352"0"-77,-105 0 15,-177 0-15,-70 0-1,-36 0 1</inkml:trace>
  <inkml:trace contextRef="#ctx0" brushRef="#br0" timeOffset="1427.6">17903 11942 0,'124'0'63,"158"0"-48,-176 0 1,159 0-1,-124 0-15,-35 0 16,123 0 0,-141 0-1,-53 0 1</inkml:trace>
  <inkml:trace contextRef="#ctx0" brushRef="#br0" timeOffset="2061.21">18168 12488 0,'141'0'63,"177"0"-48,317 0 16,-212 0-15,-317 0-16,0 0 31,-89 0-15</inkml:trace>
  <inkml:trace contextRef="#ctx0" brushRef="#br0" timeOffset="2816.11">17022 14199 0,'0'0'0,"52"0"31,54 0-15,18 0-1,123-17 1,123 17 0,71 0-1,-35 0 1,-159 0 0,-177 0-1,-17 0-15</inkml:trace>
  <inkml:trace contextRef="#ctx0" brushRef="#br0" timeOffset="3114.17">17727 15787 0,'0'0'15,"106"0"17,282 0-17,-159 0 1,-158 0-1,-54 0 1</inkml:trace>
</inkml:ink>
</file>

<file path=ppt/ink/ink9.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38:58.184"/>
    </inkml:context>
    <inkml:brush xml:id="br0">
      <inkml:brushProperty name="width" value="0.05292" units="cm"/>
      <inkml:brushProperty name="height" value="0.05292" units="cm"/>
      <inkml:brushProperty name="color" value="#FF0000"/>
    </inkml:brush>
  </inkml:definitions>
  <inkml:trace contextRef="#ctx0" brushRef="#br0">16704 7197 0,'88'0'63,"142"88"-48,-1 53 1,-18 18 0,-34-1-1,-124-87-15</inkml:trace>
  <inkml:trace contextRef="#ctx0" brushRef="#br0" timeOffset="565.24">16387 8943 0,'17'35'16,"477"142"15,-318-142-16,371 88 1,-511-123 0,-1 0-1</inkml:trace>
  <inkml:trace contextRef="#ctx0" brushRef="#br0" timeOffset="1143.05">16633 11342 0,'18'0'47,"229"123"-32,-18-17 1,-52-18 0,-124-52-1,-18-1-15</inkml:trace>
  <inkml:trace contextRef="#ctx0" brushRef="#br0" timeOffset="1555.42">16969 12823 0,'176'53'47,"-70"-35"-31,-36 35-1,-17-18 1,0 1 0</inkml:trace>
  <inkml:trace contextRef="#ctx0" brushRef="#br0" timeOffset="2076.81">16051 14834 0,'18'0'31,"53"0"-15,87 36 0,1-1-1,-35 35 1</inkml:trace>
  <inkml:trace contextRef="#ctx0" brushRef="#br0" timeOffset="2525.16">16192 16651 0,'0'0'0,"0"18"16,0-1-16,159 142 31,53 18-15,0-36 0,-54-71 15,-122-70-31</inkml:trace>
  <inkml:trace contextRef="#ctx0" brushRef="#br0" timeOffset="5322.82">16422 17815 0,'0'0'0,"0"-17"16,123-107-1,160-17 1,-89 70 0,405-140-1,-369 140 1,158 36-1,-53 35 1,-88 0 0,-53 106-1,-36 53 1,-52 70 0,-53-70-1,-35-54 1,-18-87-1,0 53 1,-71-1 0,-158 301-1,35-19 1,70-105 0,36-247-1,18 0 1,-54 0-1,-105 0 1,88 0 0,35 0-16,-70-35 15,-230-106 1,-35 35 0,159 53-1,158 0 1,89-88-1,53-282 1,299-212 0,-52 176-1,-18 124 1,17 123 0,160 142-1,34 70 1,-70 53-1,-264 0 1,52 53 0,-158-106-16,-1 17 15,-17 1-15</inkml:trace>
  <inkml:trace contextRef="#ctx0" brushRef="#br0" timeOffset="62251.57">30480 12859 0,'0'0'0,"-1058"17"16,-142-17-1,671 0 1,194 0-16,123-17 16,-141-107-1,-88-70 1,-670-247 0,141 141-1,653 177-15</inkml:trace>
</inkml:ink>
</file>

<file path=ppt/ink/ink10.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40:45.353"/>
    </inkml:context>
    <inkml:brush xml:id="br0">
      <inkml:brushProperty name="width" value="0.05292" units="cm"/>
      <inkml:brushProperty name="height" value="0.05292" units="cm"/>
      <inkml:brushProperty name="color" value="#FF0000"/>
    </inkml:brush>
  </inkml:definitions>
  <inkml:trace contextRef="#ctx0" brushRef="#br0">14975 4163 0,'124'53'46,"105"35"-30,36 0 0,476 0-1,-300 0 17,-247-88-1,-141 18-16,-18-18-15</inkml:trace>
  <inkml:trace contextRef="#ctx0" brushRef="#br0" timeOffset="9867.87">4727 9684 0,'0'17'62,"53"1"-46,-35-18 0,105 18-1,177 52 1,71-52-1,-125-18 1,-87 17 0,35 36-1,-88-35 1,-88-18 265,88 0-265,-54 0-1,54 0 1,-53 0-16,35 0 16,18-18-1,-35 1-15,-36 17 16,53-18 0,-70 18 46,17-18-46,-17 18 46,-1 0-46</inkml:trace>
  <inkml:trace contextRef="#ctx0" brushRef="#br0" timeOffset="11274.42">6368 12118 0,'88'0'47,"282"0"-31,-105 0-1,-36 53 1,53-18 0,36 18-1,-89-53 1,-105 0-1,-107 0 1</inkml:trace>
  <inkml:trace contextRef="#ctx0" brushRef="#br0" timeOffset="50494.4">16475 9948 0</inkml:trace>
</inkml:ink>
</file>

<file path=ppt/ink/ink11.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42:19.241"/>
    </inkml:context>
    <inkml:brush xml:id="br0">
      <inkml:brushProperty name="width" value="0.05292" units="cm"/>
      <inkml:brushProperty name="height" value="0.05292" units="cm"/>
      <inkml:brushProperty name="color" value="#FF0000"/>
    </inkml:brush>
  </inkml:definitions>
  <inkml:trace contextRef="#ctx0" brushRef="#br0">11589 13212 0,'141'0'47,"123"0"-31,19 0 0,-54 0-1,88 0 1,1 0-1,-36 0 1,-123 0 0</inkml:trace>
  <inkml:trace contextRef="#ctx0" brushRef="#br0" timeOffset="1920.15">15469 12312 0,'0'0'0,"494"0"15,512 0 1,387 0-1,318 0 1,388 0 0,-335 0-1,-459 0 1,-582-18 0</inkml:trace>
</inkml:ink>
</file>

<file path=ppt/ink/ink12.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42:27.834"/>
    </inkml:context>
    <inkml:brush xml:id="br0">
      <inkml:brushProperty name="width" value="0.05292" units="cm"/>
      <inkml:brushProperty name="height" value="0.05292" units="cm"/>
      <inkml:brushProperty name="color" value="#FF0000"/>
    </inkml:brush>
  </inkml:definitions>
  <inkml:trace contextRef="#ctx0" brushRef="#br0">970 15363 0,'53'0'47,"141"0"-32,88 0 1,-52 0 0,-1 0-1,18 0 1,-53 0 0,-71 0-1,-70 0 1,-35 0-1</inkml:trace>
  <inkml:trace contextRef="#ctx0" brushRef="#br0" timeOffset="3896.38">27305 5768 0,'18'0'31,"35"35"-16,17 0 1,1 18 0,-18 0-1,-36 106 1,-17-71 0,0 177-1,35-177 1,-35 18-1,0-36-15,0-17 16,-17 88 0,-71-35-1,52-70 1,-17-1 0,1-35-1,-72 0 1,36 0-1,-18 0 1,53 0 0,-35-53-1,0-35 1,17 17 0,54 36-16,-54-18 15,0-35 1,36 70-1,35-70 1,0-36 0,18-52-1,17 53 1,18 17 0,0 35-1,35 1 1,-53 52-1,36 0 1,-36 18-16,36 0 16,370 265-1,-230-71 17,-158-53-17,-17 106 16,-89-123-15,-71 52 15,89-141-15,17-17 0,1-18 15,-36 0-16,35 0 1</inkml:trace>
</inkml:ink>
</file>

<file path=ppt/ink/ink13.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42:45.012"/>
    </inkml:context>
    <inkml:brush xml:id="br0">
      <inkml:brushProperty name="width" value="0.05292" units="cm"/>
      <inkml:brushProperty name="height" value="0.05292" units="cm"/>
      <inkml:brushProperty name="color" value="#FF0000"/>
    </inkml:brush>
  </inkml:definitions>
  <inkml:trace contextRef="#ctx0" brushRef="#br0">19897 11818 0,'0'-18'31,"0"-193"-16,0 87-15,0-17 16,17-123 0,-17 70-1,0 52 1,0 19 0,0 35-1,-35 17 1,-18-17-1,-53-106 1,53 71-16</inkml:trace>
  <inkml:trace contextRef="#ctx0" brushRef="#br0" timeOffset="370.39">19068 9931 0,'0'0'0,"123"-18"16,1-70 0,-19 17-1,-52 54 1,36 17 0,-19 17-1,-35 54 1,18 70-16,-35 0 15,0 53 1,-18-159 0,17-35-16</inkml:trace>
</inkml:ink>
</file>

<file path=ppt/ink/ink14.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43:59.183"/>
    </inkml:context>
    <inkml:brush xml:id="br0">
      <inkml:brushProperty name="width" value="0.05292" units="cm"/>
      <inkml:brushProperty name="height" value="0.05292" units="cm"/>
      <inkml:brushProperty name="color" value="#FF0000"/>
    </inkml:brush>
  </inkml:definitions>
  <inkml:trace contextRef="#ctx0" brushRef="#br0">16739 5168 0,'36'18'32,"122"17"-17,-17-17 1,-35-1-1,71-17 1,-89 0 0,18 0-1,-53 0 1</inkml:trace>
  <inkml:trace contextRef="#ctx0" brushRef="#br0" timeOffset="45169.99">17145 7796 0,'18'0'62,"193"0"-30,-87 0-17,140 0 16,36-53 1,-229 36-1,-54-1 16</inkml:trace>
  <inkml:trace contextRef="#ctx0" brushRef="#br0" timeOffset="63076.24">14023 9296 0</inkml:trace>
</inkml:ink>
</file>

<file path=ppt/ink/ink15.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45:38.441"/>
    </inkml:context>
    <inkml:brush xml:id="br0">
      <inkml:brushProperty name="width" value="0.05292" units="cm"/>
      <inkml:brushProperty name="height" value="0.05292" units="cm"/>
      <inkml:brushProperty name="color" value="#FF0000"/>
    </inkml:brush>
  </inkml:definitions>
  <inkml:trace contextRef="#ctx0" brushRef="#br0">24659 9419 0,'282'35'63,"89"-35"-48,-195 0 1,142 0 15,-283 0-15</inkml:trace>
  <inkml:trace contextRef="#ctx0" brushRef="#br0" timeOffset="932.62">24783 16351 0,'70'0'63,"159"0"-47,618 0 15,-494 0-16,-265 0-15</inkml:trace>
  <inkml:trace contextRef="#ctx0" brushRef="#br0" timeOffset="1834.76">25594 10707 0,'71'35'31,"158"36"-15,18-36 15,-230-35-15</inkml:trace>
  <inkml:trace contextRef="#ctx0" brushRef="#br0" timeOffset="6314.9">688 3704 0,'70'247'47,"1"388"-32,-53 194 1,70-388 0,-18-176-1,-52-107 1,-18-105 0,0-35-1,0 0 1,18-18-1</inkml:trace>
  <inkml:trace contextRef="#ctx0" brushRef="#br0" timeOffset="84329.45">5345 10142 0,'123'0'94,"53"0"-78,160 0-1,122 0 1,-52 0 0,-53 0-1,-124 0 1,-176 0-1,-35 0 1,-1-17 0</inkml:trace>
  <inkml:trace contextRef="#ctx0" brushRef="#br0" timeOffset="86057.81">22190 7920 0,'35'18'47,"230"70"-32,-142-35-15,142 70 31,-36-35-15,-158-70-16,211 105 31,-124-87-15,-69-19 0,16 19-1,-52-19 1,0 18-1</inkml:trace>
  <inkml:trace contextRef="#ctx0" brushRef="#br0" timeOffset="88455.14">22472 8237 0,'18'18'63,"229"0"-48,211 52 1,18-35 0,-35 36-1,53-71 1,-282 0-1,35 0 1,-212 0-16</inkml:trace>
  <inkml:trace contextRef="#ctx0" brushRef="#br0" timeOffset="90538.66">22825 16510 0,'0'-18'15,"247"18"1,88 0 0,106 0-1,300 71 1,-300-18 0,70 17-16,-140-17 15,122-53 1,-246 0-1</inkml:trace>
  <inkml:trace contextRef="#ctx0" brushRef="#br0" timeOffset="97798.64">2611 11765 0,'158'0'16,"213"0"-1,-142 0 1,353 0 0,-88 0-1,-106 0 1,-106 0-1,-194 18-15</inkml:trace>
  <inkml:trace contextRef="#ctx0" brushRef="#br0" timeOffset="99779.09">24836 10354 0,'88'-18'15,"123"18"1,336-17 15,-335 17-15,-71 0 15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19:59:45.582"/>
    </inkml:context>
    <inkml:brush xml:id="br0">
      <inkml:brushProperty name="width" value="0.05" units="cm"/>
      <inkml:brushProperty name="height" value="0.05" units="cm"/>
      <inkml:brushProperty name="color" value="#E71224"/>
    </inkml:brush>
  </inkml:definitions>
  <inkml:trace contextRef="#ctx0" brushRef="#br0">1 2457 24575,'3'-75'0,"25"-135"0,-9 85 0,12-124 0,23-163 0,29 10 0,-75 373 0,1 0 0,2 1 0,0 1 0,2-1 0,26-40 0,-26 51 0,-1 1 0,2 0 0,0 1 0,1 0 0,0 1 0,1 1 0,1 1 0,36-21 0,-8 10 0,1 3 0,2 1 0,51-13 0,160-30 0,-251 60 0,886-146 0,-464 84 0,-394 58 0,-25 6 0,0-1 0,0-1 0,0 0 0,-1 0 0,1-1 0,-1-1 0,1 1 0,-1-2 0,16-9 0,-25 14 0,-1 0 0,1-1 0,0 1 0,-1-1 0,0 1 0,1-1 0,-1 1 0,1-1 0,-1 1 0,0-1 0,1 1 0,-1-1 0,0 1 0,1-1 0,-1 0 0,0 1 0,0-1 0,0 0 0,1 1 0,-1-1 0,0 1 0,0-1 0,0 0 0,0 1 0,0-1 0,0 0 0,-1 1 0,1-1 0,0 0 0,0 1 0,0-1 0,0 1 0,-1-1 0,1 0 0,0 1 0,-1-1 0,1 1 0,0-1 0,-1 1 0,1-1 0,-1 1 0,1-1 0,-1 1 0,0-1 0,-28-17 0,27 17 0,-54-24 0,-104-29 0,88 32 0,3 0 0,-120-22 0,232 53 0,-1 2 0,69 27 0,-37-12 0,381 117 0,-444-139 0,0 1 0,0-1 0,-1 2 0,13 7 0,-21-12 0,-1 0 0,1-1 0,-1 1 0,1 0 0,-1 0 0,0 0 0,0 0 0,0 0 0,1 1 0,-1-1 0,0 0 0,0 0 0,0 1 0,-1-1 0,1 0 0,0 1 0,0-1 0,-1 1 0,1-1 0,-1 1 0,0 0 0,1-1 0,-1 1 0,0-1 0,0 1 0,0 0 0,0-1 0,0 1 0,0 0 0,0-1 0,-1 1 0,1-1 0,0 1 0,-1-1 0,1 1 0,-1-1 0,0 1 0,0-1 0,0 1 0,-1 1 0,-3 2 0,0 0 0,0 0 0,0-1 0,-1 0 0,1 0 0,-1 0 0,0-1 0,0 0 0,-7 3 0,-66 20 0,51-18 0,-274 85-1365,255-77-5461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20:00:15.584"/>
    </inkml:context>
    <inkml:brush xml:id="br0">
      <inkml:brushProperty name="width" value="0.05" units="cm"/>
      <inkml:brushProperty name="height" value="0.05" units="cm"/>
      <inkml:brushProperty name="color" value="#E71224"/>
    </inkml:brush>
  </inkml:definitions>
  <inkml:trace contextRef="#ctx0" brushRef="#br0">0 848 24575,'1253'0'0,"-1166"0"0,97-13 0,-150 8 0,0-2 0,-1 0 0,0-3 0,0 0 0,57-29 0,-52 18 0,-1-1 0,-2-2 0,0-1 0,-2-2 0,0-1 0,-2-1 0,39-49 0,-35 32 0,-3-1 0,-1-1 0,-2-2 0,-2-1 0,19-55 0,13-28 0,-59 133 0,1 1 0,-1-1 0,1 1 0,-1-1 0,0 1 0,1-1 0,-1 0 0,0 1 0,1-1 0,-1 1 0,0-1 0,0 0 0,0 1 0,0-1 0,0 0 0,0 1 0,0-1 0,0 0 0,0 1 0,0-1 0,0 0 0,0 1 0,0-1 0,0 0 0,0 1 0,-1-1 0,1 0 0,0 1 0,-1-1 0,1 1 0,-1-2 0,-19 10 0,-36 38 0,47-38 0,-10 7 0,-1-1 0,-1 0 0,0-1 0,-1-2 0,0 0 0,-1-1 0,0-1 0,-46 10 0,29-11 0,-1-2 0,0-2 0,-1-1 0,-60-5 0,118 0 0,-1 0 0,0-1 0,0-1 0,0 0 0,27-12 0,93-44 0,-60 20 0,-50 25 0,0 2 0,43-17 0,-64 29 0,-1 0 0,0 0 0,1 1 0,-1-1 0,0 1 0,1 0 0,-1 0 0,0 0 0,1 1 0,-1-1 0,0 1 0,0 0 0,1 0 0,-1 0 0,0 0 0,0 1 0,0-1 0,0 1 0,0-1 0,0 1 0,-1 0 0,1 0 0,-1 1 0,1-1 0,-1 0 0,0 1 0,0 0 0,0-1 0,0 1 0,2 4 0,6 10 0,-1 0 0,-1 1 0,-1-1 0,6 21 0,-8-22 0,90 339-1365,-88-316-5461</inkml:trace>
</inkml:ink>
</file>

<file path=ppt/ink/ink18.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49:00.995"/>
    </inkml:context>
    <inkml:brush xml:id="br0">
      <inkml:brushProperty name="width" value="0.05292" units="cm"/>
      <inkml:brushProperty name="height" value="0.05292" units="cm"/>
      <inkml:brushProperty name="color" value="#FF0000"/>
    </inkml:brush>
  </inkml:definitions>
  <inkml:trace contextRef="#ctx0" brushRef="#br0">6791 11130 0,'53'0'31,"141"0"-15,212-53-1,370 36 1,741 17 0,352 0-1,-916 0 1,440 0 0,-1128 0-1,52 0 1,-211 0-16,-18 0 15,1-18-15</inkml:trace>
  <inkml:trace contextRef="#ctx0" brushRef="#br0" timeOffset="919.33">3757 11818 0,'318'53'31,"2222"247"0,-1711-194-31,1164 176 16,18-176 15,-1729-106-15</inkml:trace>
  <inkml:trace contextRef="#ctx0" brushRef="#br0" timeOffset="14734.69">18627 6385 0,'35'0'94,"159"0"-79,-35 0-15,17 0 16,336 0-1,140 36 1,-352-19 0,18 1-1,-142-18 1,-17 0 0,52 0-1,-105-53 1,-88 53-1</inkml:trace>
  <inkml:trace contextRef="#ctx0" brushRef="#br0" timeOffset="17343.54">19209 8608 0,'-18'-18'31,"18"0"0,35 1-15,71-1-16,-35-17 16,-18 17-16,70 18 15,-17 0 1,-53 0-16,0 0 16,70-17-1,-17-19 1,0 36-1,-53 0 1,-18 0 0,18 0-1,35 0 1,18 0 0,-35 0-1,-36 0 1,18 0-1,-35 0-15,52 0 16,89 0 0,-53 0-1,-53 0 1,-1 0 0,19 0-1,0 0 1,52 36 15,-52-19-15,-54 1 15,1-18 0,0 35-15,-18 18 31,0-18-32,-18-17 1,0 0 0,-17 17-1,17-17 1,-35-1-1,-17 19 1,35-19-16,-18 1 16,-36-1-1,1 19 1,-35-36 0,-54 17-1,54 19 1,35-36-1,-53 0 1,35 0 0,-35 0-1,-18 0 1,35 0 0,-17 0-1,71 0 1,-1 0-1,18 0-15,36 0 16,-19 0 0,1 0-1,18-18 1,-1 18 0,0-18-1,-17 1 1,-18-1-1,53-17 110,0 0-109,0-1 0,18 19-1,17-72 1,53 1 0,-35 53-1,-53 17 1,18 1 46,-1 17-15</inkml:trace>
  <inkml:trace contextRef="#ctx0" brushRef="#br0" timeOffset="18994.43">19826 8978 0,'35'0'78,"18"0"-63,35 0 1,89 0 0,52 0-1,18 0 1,-123 0-1,-19 0 1,1 0 0,35 0-1,-88 0 1,106 0 0,-141 0-16,17 18 15,-17-18-15,17 0 16,35 17-1,1-17 1,-18 18 0,0 0-1,17 52 17,1 19-17,-53-54 1,-18-18-1,0 19 17,0 34-1,0-17-15,-124 18-1,89-18 1,-142 17 15,36-52-15,-123-18 15,176 0-15,-124 0 15,177 0-16,-36-18-15,36 18 16,-18 0 0,0-17-16,-53-19 31,88 19-15,-87-1-1,52-35 1,17 53-1,-16-35 1,34 17 0,0-17-1,18-18 1,0 0 0,0 0-1,36 18 1,-1-18-1,0 18 1,36-1-16,-18-17 16,35 36-1,-53-18-15,-17 35 16,70-36 0,0 19-1,0 17 1,-52 0-16</inkml:trace>
  <inkml:trace contextRef="#ctx0" brushRef="#br0" timeOffset="20217.9">20338 12524 0,'0'0'0,"105"-53"16,142 17 0,-35 1-1,-36 35 1,-87 0-1,-1 18 1,0 17 0,-17 0-1,-1 1 1,-52-19 0,17 19-1,-35-1 16,-88 88-15,17-52 0,-17 17-1,18-17-15,70-54 16,-36 19 0,19-19-1,-36 18 1,-35 1-1,-1-36 1,-16 0 0,16 0-1,-34 0 1,35-71 0,17 54-1,36-19 1,0 1-1,-18-18 1,17-18 0,36 54-16,-17-1 15,-1 18-15,18-17 32</inkml:trace>
  <inkml:trace contextRef="#ctx0" brushRef="#br0" timeOffset="21329.16">19950 13688 0,'0'0'0,"123"-36"16,-35 36-1,-35-17 1,53 17 0,-35 0-16,-19 0 15,90 0 1,-72 0-1,107 35 1,-1-17 0,-17 35-1,-71-18 1,71 53 0,-106-17-1,-18-36 1,-35 18 15,-18 17-15,-17-34-1,-53 17 1,52-36-16,-17 19 16,-35-19-1,-35 36 1,-1-53-1,1 0 1,-36-35 0,0-36-1,36 1 1,-18-1 0,53 1-1,52 34 1,36-69-1,0 52 1,89-89 0,-72 90-1,1 34 1,-1 0-16</inkml:trace>
  <inkml:trace contextRef="#ctx0" brushRef="#br0" timeOffset="30382.22">19614 7391 0,'36'0'62,"140"0"-46,71 17-1,-35 1 1,17 17 0,-35-35-1,-88 0 1,-88 0 0,-1 0-1</inkml:trace>
  <inkml:trace contextRef="#ctx0" brushRef="#br0" timeOffset="31415.28">21872 10019 0,'71'0'62,"493"-35"-31,-264 35-15,18 0 15,-301 0-15,36 0-1,-18 0 1,-17 0 15</inkml:trace>
  <inkml:trace contextRef="#ctx0" brushRef="#br0" timeOffset="35095.57">19950 9102 0,'0'53'79,"0"-18"-64,0 194 1,0-105-1,0 370 1,0-106 0,-36 388 15,-52-53 0,53-511-15,17 87 15,18-228-15,-35 17-1,35-53 1,0 1 0,0-19-1,0 1-15,0 0 16,0-1-1,0 19 79,141-1-78,194-18-1,194 19 1,195-36 0,-142 0-1,-335 0 1,105 0 0,-193 0-16,0 0 15,158 0 1,-193 0-1,-89 0 1,0 0 0,1-247 171,17-53-171,-18 18-1,35-159 1,-52-53 0,-18 141-1,0 141 1,-35-17 0,-71 0-1,53 35 1,35 106-1,1 52 1,-1 1 0,-17 17-1,17 1-15,-17-36 16,17 18 0,1 35-16,17-18 15,-18 18 1,-17-35 15,-18-36-15,18 18-1,17 36 1,0 17 62,1 0-62,-89 0-1,18 0 1,-18 0-16,-71 0 16,-264 0-1,212 0-15,-106-18 16,-159-70-1,18 0 1,211 35 0,142 53-1,35-18 1,70 18 0</inkml:trace>
  <inkml:trace contextRef="#ctx0" brushRef="#br0" timeOffset="38941.16">26053 14834 0,'53'0'47,"88"0"-31,-18 0 0,36 0-1,88 0 1,35-17-1,-211-1 1,-1 0 0,-70 1-1,35 17 48,-17-53-1,-194-71-46,17 1 0,0 17-1,36 0 1,105 106-1,0 0 1,18 18 31,212 105-31,-88-17-16,-89-71 15,141 36 1,-52 0-1,17-1 1,-106-52 0,-35-1 15,-106 54-15,-229 88-1,-35-1 1,52-52-1,142-35 1,158-54 0</inkml:trace>
  <inkml:trace contextRef="#ctx0" brushRef="#br0" timeOffset="170385.82">12647 8590 0</inkml:trace>
</inkml:ink>
</file>

<file path=ppt/ink/ink19.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51:55.992"/>
    </inkml:context>
    <inkml:brush xml:id="br0">
      <inkml:brushProperty name="width" value="0.05292" units="cm"/>
      <inkml:brushProperty name="height" value="0.05292" units="cm"/>
      <inkml:brushProperty name="color" value="#FF0000"/>
    </inkml:brush>
  </inkml:definitions>
  <inkml:trace contextRef="#ctx0" brushRef="#br0">19103 2011 0,'53'35'63,"353"0"-48,475-35 1,548 0-1,106 0 1,-54 0 0,-704 0-1,422 0 1,-776 0-16,-88 0 16,18 0-1,-247 0 1</inkml:trace>
  <inkml:trace contextRef="#ctx0" brushRef="#br0" timeOffset="2688.19">8467 12347 0,'0'0'0,"-36"35"31,-34 107-15,-71 87-1,88-123 1,-18 53-16,18-18 16,0 158-1,1-140-15,16 317 31,36-52-15,53-19 0,71-52-1,34-88 1,-34-53 0,35-18-1,88 17 1,176-17-1,265 18 1,-247-89 0,17-70-1,-193-17 1,264 34 0,-264-70-16,-18 0 15,458 124 1,-35-54-1,107 54 1,-142-19 0,-247-87-1,-71-18 1,1 0 0,-54-70-1,-52-1 1,158-35-1,36 0 1,-53-52 0,-212 69-1,-106 36-15,36 1 16,-1-54 0,-34 0-1,-19-123 1,1-54-1,-18 1 1,0-18 0,0-17-1,0 87 1,0 36 0,0-17-1,-124-54 1,-105-88-1,53 106 1,87 159 0,-281-106-1,247 141 1,-142-70 0,-88-1-1,36-34 1,-1 52-1,1 35 1,-54 36 0,-17-36-1,-70 1 1,52 70 0,18 0-1,17 0 1,19-18-1,-248 18 1,353 0-16,-317 0 31,246 0-15,-105 0 0,17 0-1,230 0 1,-283 0-1,53 18 17,230-1-17,52 1 1,36 35 0,-194 18 15,212-54-16</inkml:trace>
  <inkml:trace contextRef="#ctx0" brushRef="#br0" timeOffset="11200.43">15752 9984 0,'17'17'15,"-17"19"1,-88-1 0,-265 124-1,230-107 1,-442 195-1,71-141 1,53 0 0,-17-53-1,-36 35 1,-53-70 0,124-1-1,-36-17 1,89 0-1,-1 0 1,36 0 0,176-35-1,-88-35 1,-17-36 0,35 0-1,-18 0 1,53-17-1,53 34 1,-1-52 0,19-53-1,-18-17 1,123 158 0,-70-106-1,35 53-15,18 36 16,-18-71-1,18 17 1,35 36 0,0-36-1,0 36 1,0 0 0,53 0-1,35 0 1,18-18-1,88-71 1,17 19 0,-87 69-1,-36 54 1,35 18 0,-52-1-16,35-17 15,123-1 1,-88 19-1,53-36 1,18 53 0,35-18-1,35 0 1,-17-17 0,-1 35-1,18 0 1,71 0-1,88 0 1,-212 0 0,177 0-1,-212 0-15,-35 0 16,106 0 0,34 53-1,1 71 1,53 70-1,-18-53 1,-106-71 0,71 18-1,-88 54 17,-88 16-1,-89 1 0,0-88-15,-17 34-1,-18-87 1,0 70 0,-18-52-1,-52 193 1,52 0 15,-35-176 0,35-35-15,-105 105 0,17-17 15,-17-18 0,-1-17 0,71-36-15,-53 0 0,0 36-1,36-53 1,35 17-1,17-18 1,0 1 0</inkml:trace>
  <inkml:trace contextRef="#ctx0" brushRef="#br0" timeOffset="13433.23">7796 8802 0,'-141'0'78,"-106"0"-62,18-53 0,35 53-1,106 0 1,-36 0-1,71 0-15,36 0 16,-107 0 0,-87 0-1,-1 0 1,0 0 0,106-18-1,54 18 1,16 0-1</inkml:trace>
  <inkml:trace contextRef="#ctx0" brushRef="#br0" timeOffset="14014.9">6668 8237 0,'0'0'16,"-36"0"15,-52 0-15,-35 18 0,-89 17-1,53 18 1,-123 88-1,-53 36 1,35 34 0,247-158-1,35 53 1,18-53-16,36 18 16,140-1-1,53 18 1,-35-52-1,-105-1 1,-54-17 0,-18-18-1,-17 35 17,-52 53-17,-125 0 1,54-70-16</inkml:trace>
  <inkml:trace contextRef="#ctx0" brushRef="#br0" timeOffset="15016.56">3069 8643 0,'0'-18'172,"53"71"-94,-53 424-47,0-283-15,0-89-1,18 37 1,-18-90 15</inkml:trace>
  <inkml:trace contextRef="#ctx0" brushRef="#br0" timeOffset="15825.35">3016 8731 0,'0'-35'32,"177"0"-1,-19 35-15,36 17-1,-35 36 1,18 35-1,-72-52 1,-34 17 0,-18-36-1,-18 1 1,18 0-16,18-1 16,176 1-1,-142-1 16,-105 1 1,-53 0-1,-158-18-15,-18 35-1,-1-35 1,19 0-1,-54 0 1,89 0 0,105 0-1,18 0 1,35 0 0,-34 0-1,16 0 1,1-35-1,35 17 32,88 18-31,18 0 0</inkml:trace>
  <inkml:trace contextRef="#ctx0" brushRef="#br0" timeOffset="16276.82">4269 8749 0,'35'18'32,"-17"17"-17,-1 53 1,-17-53-1,0 159 1,0-17 0,-17-107-1,-54 177 17,53-176-17,1-54-15,17 1 31</inkml:trace>
  <inkml:trace contextRef="#ctx0" brushRef="#br0" timeOffset="16545.27">4198 9666 0,'-106'0'62,"-105"35"-46,-72-17 0,19-18-1,123 0 1,-53 0-1,123 0-15,1 0 16,34 0 0,36-18-1</inkml:trace>
  <inkml:trace contextRef="#ctx0" brushRef="#br0" timeOffset="18001.31">3933 10283 0,'0'71'47,"0"17"-31,0 18-1,53 0 1,53 0-1,71 35 1,34 0 0,71 18-1,230 52 1,123 72 0,-476-213-1,105 71 1,-211-123-16,-35 17 15,35-17 1,17 17 0,-17-17-1,0-1 1,-17-17 0,-19 18-1,36 17 1,-35-35-1,105 53 1,-88-35 0,1-1-1,-19 1 17,1-71 77,-53-70-93,-1 35-1,-52-106 1,0 35-1,70 123 1,71 72 62,88 52-62,1 0-1,-1 36 1,-106-71 0,35 52-1,-34-34-15,17-18 16,35 70 0,-70-87-1,-18-19 1,-36 18-1,-87 1 1,52-19 0,36 1-1,0-18 1,17 0 0,0 0-1,1 0 1,-1 18-1</inkml:trace>
  <inkml:trace contextRef="#ctx0" brushRef="#br0" timeOffset="19592.86">17462 10301 0,'36'159'78,"34"53"-63,1 334 17,-71-193-1,-35-88-16,-71 52 1,-88-17 0,-18-35-1,18-36 1,35-88 0,106-70-1,18-18 1,35-124 109,88-229-110,-17 36 1,-1 69 0,1 90-1,-71 16 1,0 107 46,0 194-46,-53 52 0,35-70-1,18-35 1,18 18 0,88-72-1,0-87 1,141-18-1,35-35 1,-123-36 0,-89 54-1,-52-1 1,-1 18 0</inkml:trace>
</inkml:ink>
</file>

<file path=ppt/ink/ink20.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6:52:55.982"/>
    </inkml:context>
    <inkml:brush xml:id="br0">
      <inkml:brushProperty name="width" value="0.05292" units="cm"/>
      <inkml:brushProperty name="height" value="0.05292" units="cm"/>
      <inkml:brushProperty name="color" value="#FF0000"/>
    </inkml:brush>
  </inkml:definitions>
  <inkml:trace contextRef="#ctx0" brushRef="#br0">2417 5468 0,'35'0'47,"282"0"-31,160-18-1,69 1 1,-34-36 0,-195-18-1,-264 71-15</inkml:trace>
  <inkml:trace contextRef="#ctx0" brushRef="#br0" timeOffset="9061.54">11959 5592 0,'18'0'47,"123"0"-31,0 0-16,35 0 15,107 0 1,-36-53 0,-89-36-1</inkml:trace>
  <inkml:trace contextRef="#ctx0" brushRef="#br0" timeOffset="11669.45">19756 5521 0,'176'0'16,"230"0"0,317 0-1,423 0 1,89 0 0,17 0-1,-493-53 1,-477 18-1,-229 35 1</inkml:trace>
  <inkml:trace contextRef="#ctx0" brushRef="#br0" timeOffset="21118.14">723 4198 0,'0'18'31,"0"123"-15,0-35-1,0 105 1,35-87-16,-35-1 16,18 177-1,-18 88 1,88 35 0,71 248-1,17 246 1,-105-106-1,-71-87 1,0 775 15,-71-635-15,-87-299 15,140-424-15,-70 317-1,70-352 1,18 124 0,0-125-1,-35 178 1,35 158 15,-18 105 16,-70-105-31,35 53 15,71-335-15,35 35 15,-36-159-16,36 142 1,-53-160 0,18 89-1,17-71 1,-17 18 0,-1-53-1,1 36 1,70-1-1,53 18 1,600-53 15,494 88 1,-618-17-17,865-71 16,-918-18-15,-352-17 0,88-54-1,-71 72-15,494-1 32,-370 18-17,-106 0 1,-159 0-1,-17 0 1,-36 0 0,-17 0-1,70-18 17,-35 1-17,0-1-15,35-17 16,18-36-1,-71-17 1,0 35 0,-17 0-1,17-17 1,18-107 0,0-105-1,-17-18 1,34 18-1,36-88 1,-36 105 0,-17-52-16,-17 34 15,-1-299 1,-17 371-16,-18 17 16,0 0-16,0-18 15,0-335 1,0-317-1,0-53 1,17 229 0,71-106-1,1 71 1,-54 176 0,53 141-1,-53 71 1,1-18-1,-36 71 1,0 88 0,0 124-1,0-72 1,0-16 0,0-19-1,0 54 1,0 35-1,0 35 1,0-36 0,0 72-1,-18-18 1,0 17 31,1 18-32,-19 0 1,-105-35 0,-53-54-1,-70-16 1,123 52 0,-389-88-1,336 123 1,-211-70-1,246 70-15,-35 0 16,-124-34 0,36 34-1,0 18 1,123 0 0,-158 0-1,-71 0 1,53 0-1,17 18 1,36-1 0,-18 18-1,-18 1 1,89-1 0,0-17-1,88 17 1,-124 0-1,159 18-15,-17-35 16,-106 17 0,17 0-1,-123-17 1,88 0 0,-18-18-1,71 0 16,177 0 1,-1 0 15</inkml:trace>
  <inkml:trace contextRef="#ctx0" brushRef="#br0" timeOffset="23158.86">4674 2381 0,'18'-17'141,"70"17"-126,106 123 1,0 71 0,-17 159-1,-1 35 1,-88-35-1,-70-177 1,-18-52 0,0-36-1,0-35 1,0 0 0,-18-36 15,18-34 78,-17-124-93,-72-36-1,-34-17 1,88 141 0,-1 36-1,19 69 32,17 19-31,0 0-16,0-36 15,0 88 1,0-70-16,17 0 16,54 53-1,-36-53 1,-17-35 46,52-18-46,124-177 0,-17 1-1,-89 123 1,-53 18 0,0 35 15</inkml:trace>
  <inkml:trace contextRef="#ctx0" brushRef="#br0" timeOffset="26354.37">11130 9860 0,'-141'0'16,"-353"265"15,-264 35 1,370-159-17,17 35 1,107-70-1,158-53 1,-229-18 0,0 18 15,282-53-15,-18 18-16,0-18 31,54 17-16,-1 1 1,-88 35 15,-35-36-15,18 36 0,35-35-1,70-18 1,-17 18-1,352-248 64,-52 19-64,-89 34 1,-70 72-1,-88 69 1,-36 72 31,-141 158-31,-70 70-1,53-123 1,140-106-1,-34 18 1,52-17 0,212-1 31,71 0-32,-54 1 1,-140-19-1,-36 1 1,0 52 0,-17-34-1,-18-19 1,0 1-16</inkml:trace>
  <inkml:trace contextRef="#ctx0" brushRef="#br0" timeOffset="-56123.69">10901 5874 0,'0'0'0,"70"0"16,19 0-1,-37 0-15,19 0 16,123 0-1,-88 0-15,0 0 16,-18 0 0,-53 0-1,-17 0 1</inkml:trace>
</inkml:ink>
</file>

<file path=ppt/ink/ink21.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7:00:58.045"/>
    </inkml:context>
    <inkml:brush xml:id="br0">
      <inkml:brushProperty name="width" value="0.05292" units="cm"/>
      <inkml:brushProperty name="height" value="0.05292" units="cm"/>
      <inkml:brushProperty name="color" value="#FF0000"/>
    </inkml:brush>
  </inkml:definitions>
  <inkml:trace contextRef="#ctx0" brushRef="#br0">14235 13370 0,'70'18'47,"89"35"-32,-124-18 1,36-17 0,-54-18-16,1 0 15,0 17 32,-18 19-47</inkml:trace>
  <inkml:trace contextRef="#ctx0" brushRef="#br0" timeOffset="417.99">14288 13970 0,'0'35'47,"0"18"-32,123 35 1,-17 1-1,-36-19 1,1 1 0</inkml:trace>
  <inkml:trace contextRef="#ctx0" brushRef="#br0" timeOffset="873.32">14393 14993 0,'0'0'0,"0"35"15,0 1 1,0 17 0,36-1-1,52 1 1,-53-17 0,0-1-1,18 35 1,-17 54-1,-36-106 1,0 35 0</inkml:trace>
  <inkml:trace contextRef="#ctx0" brushRef="#br0" timeOffset="1250.08">14217 16316 0,'0'18'16,"18"17"-1,17-17 1,0-18 0,18 17-16,0 18 31,-18-17-16,-17 0 17</inkml:trace>
  <inkml:trace contextRef="#ctx0" brushRef="#br0" timeOffset="1578.76">14129 17286 0,'0'18'16,"17"-1"-1,54-17 1,-36 0 0,1 18-1,-19-18 1,1 18 0,-1-1-16</inkml:trace>
  <inkml:trace contextRef="#ctx0" brushRef="#br0" timeOffset="1858">13970 18344 0,'0'18'15,"53"0"1,0-18 0,-18 0-1</inkml:trace>
</inkml:ink>
</file>

<file path=ppt/ink/ink22.xml><?xml version="1.0" encoding="utf-8"?>
<inkml:ink xmlns:inkml="http://www.w3.org/2003/InkML">
  <inkml:definitions>
    <inkml:context xml:id="ctx0">
      <inkml:inkSource xml:id="inkSrc0">
        <inkml:traceFormat>
          <inkml:channel name="X" type="integer" max="3846" units="cm"/>
          <inkml:channel name="Y" type="integer" min="-1080" max="1080" units="cm"/>
          <inkml:channel name="T" type="integer" max="2.14748E9" units="dev"/>
        </inkml:traceFormat>
        <inkml:channelProperties>
          <inkml:channelProperty channel="X" name="resolution" value="64.31438" units="1/cm"/>
          <inkml:channelProperty channel="Y" name="resolution" value="64.28571" units="1/cm"/>
          <inkml:channelProperty channel="T" name="resolution" value="1" units="1/dev"/>
        </inkml:channelProperties>
      </inkml:inkSource>
      <inkml:timestamp xml:id="ts0" timeString="2026-07-25T17:00:18.117"/>
    </inkml:context>
    <inkml:brush xml:id="br0">
      <inkml:brushProperty name="width" value="0.05292" units="cm"/>
      <inkml:brushProperty name="height" value="0.05292" units="cm"/>
      <inkml:brushProperty name="color" value="#FF0000"/>
    </inkml:brush>
  </inkml:definitions>
  <inkml:trace contextRef="#ctx0" brushRef="#br0">7461 4304 0,'71'35'63,"299"-35"-48,159 0 1,142 0 0,-160 0-1,-70 53 1,-317-53 0,-1 0-1,-105 0 1</inkml:trace>
  <inkml:trace contextRef="#ctx0" brushRef="#br0" timeOffset="3296.2">17498 5874 0,'159'158'47,"158"89"-32,-158-123 1,-89-71 0,-52-53-1,17 17 1</inkml:trace>
  <inkml:trace contextRef="#ctx0" brushRef="#br0" timeOffset="4976.47">12206 7179 0,'35'-35'31,"54"-18"-15,16 53-1,37 0 1,-72 0-1,142 123 1,70 318 15,177 300-15,299 18 15,-317-354-15,459 142 15,-424-388 0,-229-159-15,106-53 15,-177-88 0,-123 88-15,123-159 0,-123 159-1,-35 0 1,-1 36 0,36-1-1,-35 0 1,-36-34 187,-17 34-187,-106-17-1,53 17 1,17 18-16,-105 0 31,141 0-15,17 0-1,53-18 17,283-52-17,123-54 16,-388 107-15,-36 17 0,1 35 15,-36 141-15,-70 89-1,53-89 1,-18-70-16,-35 88 31</inkml:trace>
  <inkml:trace contextRef="#ctx0" brushRef="#br0" timeOffset="8984.34">17692 5821 0,'0'141'63,"0"35"-48,-53 107 1,-18 69 0,36 125-1,-18-54 1,53 71-1,0 53 1,18-124 0,17 88-1,53 19 1,-17 34 0,-36-35-1,36-158 1,-54-195-1,36 89 1,-53-142-16,0-17 16,0 159-1,0-54 1,18-17 0,-1-70-1,-17-71 1,0 52-1,0 37 1,0-19 0,0 89-1,0-36 1,0 106 0,36-123-16,-19-53 15,19 158 1,52 424-1,-35 18 17,-53-142-1,0-211 0,0-176 0,0-89-15,0-53-16,0 53 31,0-70-15,17-18 15,19 0-15,87 0-1,-35 0 1,-17 0 0,-1 35-1,1-35 1,-36 0 0,1 0-1,34 18 1,18-1-1,36 19 1,-71-36 0,17 0-1,-52 0-15,17 0 16,0 0 0,1 0-1,-19 0 1,1-36 78,17 1-79,18-71 1,35-123-1,-35 70 1,106-1181 0,-124-636-1,-35 1077 1,0 122-16,0 107 16,0-88-1,0 158 1,0 53-1,0 265-15,-70-829 32,-1 687-17,54 89 1,17 159 0,0 88-1,-53-177 1,0 53-1,18 54 1,35 87 0,-18-35-1,18-141 1,0-17 0,0 158-1,-18 0 1,18 88-16,-17-34 15,17 16 1,0-34 0,0-1-1,0 18 1,0 36 0,0-1-1,-36-17 1,-87 35-1,-212-53 1,17 0 0,54 35-1,-19 18 1,1 0 0,212 0-1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C74AD-02B9-285D-5305-F527E7DEA5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EA969308-83F4-12D3-C7E0-B2AF8F6056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4727BF9-DB42-224B-6F0B-88BB7C611EBE}"/>
              </a:ext>
            </a:extLst>
          </p:cNvPr>
          <p:cNvSpPr>
            <a:spLocks noGrp="1"/>
          </p:cNvSpPr>
          <p:nvPr>
            <p:ph type="dt" sz="half" idx="10"/>
          </p:nvPr>
        </p:nvSpPr>
        <p:spPr/>
        <p:txBody>
          <a:bodyPr/>
          <a:lstStyle/>
          <a:p>
            <a:fld id="{3B47751D-B32E-46F3-84C8-FD5FCAB46A48}" type="datetimeFigureOut">
              <a:rPr lang="en-CA" smtClean="0"/>
              <a:t>2026-07-25</a:t>
            </a:fld>
            <a:endParaRPr lang="en-CA"/>
          </a:p>
        </p:txBody>
      </p:sp>
      <p:sp>
        <p:nvSpPr>
          <p:cNvPr id="5" name="Footer Placeholder 4">
            <a:extLst>
              <a:ext uri="{FF2B5EF4-FFF2-40B4-BE49-F238E27FC236}">
                <a16:creationId xmlns:a16="http://schemas.microsoft.com/office/drawing/2014/main" id="{A256144E-FF4B-D107-0E6B-939B3B0571D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A92086D-62BA-6493-4C7D-62A3F4BB3C8D}"/>
              </a:ext>
            </a:extLst>
          </p:cNvPr>
          <p:cNvSpPr>
            <a:spLocks noGrp="1"/>
          </p:cNvSpPr>
          <p:nvPr>
            <p:ph type="sldNum" sz="quarter" idx="12"/>
          </p:nvPr>
        </p:nvSpPr>
        <p:spPr/>
        <p:txBody>
          <a:bodyPr/>
          <a:lstStyle/>
          <a:p>
            <a:fld id="{A22EF611-41F1-440C-9638-C6D367408855}" type="slidenum">
              <a:rPr lang="en-CA" smtClean="0"/>
              <a:t>‹#›</a:t>
            </a:fld>
            <a:endParaRPr lang="en-CA"/>
          </a:p>
        </p:txBody>
      </p:sp>
    </p:spTree>
    <p:extLst>
      <p:ext uri="{BB962C8B-B14F-4D97-AF65-F5344CB8AC3E}">
        <p14:creationId xmlns:p14="http://schemas.microsoft.com/office/powerpoint/2010/main" val="3476989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B515D-9414-02BE-E08C-63F715F2D54D}"/>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D7FD65D-8066-F45B-7D33-8BB7B2FBA1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47E0F18-2E65-C9A6-1EC5-340ED6DF4631}"/>
              </a:ext>
            </a:extLst>
          </p:cNvPr>
          <p:cNvSpPr>
            <a:spLocks noGrp="1"/>
          </p:cNvSpPr>
          <p:nvPr>
            <p:ph type="dt" sz="half" idx="10"/>
          </p:nvPr>
        </p:nvSpPr>
        <p:spPr/>
        <p:txBody>
          <a:bodyPr/>
          <a:lstStyle/>
          <a:p>
            <a:fld id="{3B47751D-B32E-46F3-84C8-FD5FCAB46A48}" type="datetimeFigureOut">
              <a:rPr lang="en-CA" smtClean="0"/>
              <a:t>2026-07-25</a:t>
            </a:fld>
            <a:endParaRPr lang="en-CA"/>
          </a:p>
        </p:txBody>
      </p:sp>
      <p:sp>
        <p:nvSpPr>
          <p:cNvPr id="5" name="Footer Placeholder 4">
            <a:extLst>
              <a:ext uri="{FF2B5EF4-FFF2-40B4-BE49-F238E27FC236}">
                <a16:creationId xmlns:a16="http://schemas.microsoft.com/office/drawing/2014/main" id="{645267B2-2094-E1CA-E05F-D2A2F0A0CD3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2972CB8-5252-B9B8-0EAE-0D1FFA8549E1}"/>
              </a:ext>
            </a:extLst>
          </p:cNvPr>
          <p:cNvSpPr>
            <a:spLocks noGrp="1"/>
          </p:cNvSpPr>
          <p:nvPr>
            <p:ph type="sldNum" sz="quarter" idx="12"/>
          </p:nvPr>
        </p:nvSpPr>
        <p:spPr/>
        <p:txBody>
          <a:bodyPr/>
          <a:lstStyle/>
          <a:p>
            <a:fld id="{A22EF611-41F1-440C-9638-C6D367408855}" type="slidenum">
              <a:rPr lang="en-CA" smtClean="0"/>
              <a:t>‹#›</a:t>
            </a:fld>
            <a:endParaRPr lang="en-CA"/>
          </a:p>
        </p:txBody>
      </p:sp>
    </p:spTree>
    <p:extLst>
      <p:ext uri="{BB962C8B-B14F-4D97-AF65-F5344CB8AC3E}">
        <p14:creationId xmlns:p14="http://schemas.microsoft.com/office/powerpoint/2010/main" val="2130869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2A7EF-4A8B-B0B7-B8C1-AADEA58BD3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E7B1EB39-9DA1-5561-F1B0-0969DB094E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B1A39A-44C4-FDC2-60CE-DD9484CCB273}"/>
              </a:ext>
            </a:extLst>
          </p:cNvPr>
          <p:cNvSpPr>
            <a:spLocks noGrp="1"/>
          </p:cNvSpPr>
          <p:nvPr>
            <p:ph type="dt" sz="half" idx="10"/>
          </p:nvPr>
        </p:nvSpPr>
        <p:spPr/>
        <p:txBody>
          <a:bodyPr/>
          <a:lstStyle/>
          <a:p>
            <a:fld id="{3B47751D-B32E-46F3-84C8-FD5FCAB46A48}" type="datetimeFigureOut">
              <a:rPr lang="en-CA" smtClean="0"/>
              <a:t>2026-07-25</a:t>
            </a:fld>
            <a:endParaRPr lang="en-CA"/>
          </a:p>
        </p:txBody>
      </p:sp>
      <p:sp>
        <p:nvSpPr>
          <p:cNvPr id="5" name="Footer Placeholder 4">
            <a:extLst>
              <a:ext uri="{FF2B5EF4-FFF2-40B4-BE49-F238E27FC236}">
                <a16:creationId xmlns:a16="http://schemas.microsoft.com/office/drawing/2014/main" id="{4E209032-C93D-F833-DB47-D50AED3AA4E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0929915-4414-9266-15C1-97E3FAED96E1}"/>
              </a:ext>
            </a:extLst>
          </p:cNvPr>
          <p:cNvSpPr>
            <a:spLocks noGrp="1"/>
          </p:cNvSpPr>
          <p:nvPr>
            <p:ph type="sldNum" sz="quarter" idx="12"/>
          </p:nvPr>
        </p:nvSpPr>
        <p:spPr/>
        <p:txBody>
          <a:bodyPr/>
          <a:lstStyle/>
          <a:p>
            <a:fld id="{A22EF611-41F1-440C-9638-C6D367408855}" type="slidenum">
              <a:rPr lang="en-CA" smtClean="0"/>
              <a:t>‹#›</a:t>
            </a:fld>
            <a:endParaRPr lang="en-CA"/>
          </a:p>
        </p:txBody>
      </p:sp>
    </p:spTree>
    <p:extLst>
      <p:ext uri="{BB962C8B-B14F-4D97-AF65-F5344CB8AC3E}">
        <p14:creationId xmlns:p14="http://schemas.microsoft.com/office/powerpoint/2010/main" val="2352973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E0B6B-23DB-5BA5-8C8A-BC8C2AC63C1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B362C4D-CB77-C1F9-557B-CAEF66198B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78E40CDF-415E-C65A-1AE9-BE5AD0DBCF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69444DD5-616C-8824-CE76-8B140910EE6B}"/>
              </a:ext>
            </a:extLst>
          </p:cNvPr>
          <p:cNvSpPr>
            <a:spLocks noGrp="1"/>
          </p:cNvSpPr>
          <p:nvPr>
            <p:ph type="dt" sz="half" idx="10"/>
          </p:nvPr>
        </p:nvSpPr>
        <p:spPr/>
        <p:txBody>
          <a:bodyPr/>
          <a:lstStyle/>
          <a:p>
            <a:fld id="{3B47751D-B32E-46F3-84C8-FD5FCAB46A48}" type="datetimeFigureOut">
              <a:rPr lang="en-CA" smtClean="0"/>
              <a:t>2026-07-25</a:t>
            </a:fld>
            <a:endParaRPr lang="en-CA"/>
          </a:p>
        </p:txBody>
      </p:sp>
      <p:sp>
        <p:nvSpPr>
          <p:cNvPr id="6" name="Footer Placeholder 5">
            <a:extLst>
              <a:ext uri="{FF2B5EF4-FFF2-40B4-BE49-F238E27FC236}">
                <a16:creationId xmlns:a16="http://schemas.microsoft.com/office/drawing/2014/main" id="{0A8157C8-8C85-811D-08DB-6CEAC819D50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805D283-8F50-3A3A-0877-A0A91F01AD8B}"/>
              </a:ext>
            </a:extLst>
          </p:cNvPr>
          <p:cNvSpPr>
            <a:spLocks noGrp="1"/>
          </p:cNvSpPr>
          <p:nvPr>
            <p:ph type="sldNum" sz="quarter" idx="12"/>
          </p:nvPr>
        </p:nvSpPr>
        <p:spPr/>
        <p:txBody>
          <a:bodyPr/>
          <a:lstStyle/>
          <a:p>
            <a:fld id="{A22EF611-41F1-440C-9638-C6D367408855}" type="slidenum">
              <a:rPr lang="en-CA" smtClean="0"/>
              <a:t>‹#›</a:t>
            </a:fld>
            <a:endParaRPr lang="en-CA"/>
          </a:p>
        </p:txBody>
      </p:sp>
    </p:spTree>
    <p:extLst>
      <p:ext uri="{BB962C8B-B14F-4D97-AF65-F5344CB8AC3E}">
        <p14:creationId xmlns:p14="http://schemas.microsoft.com/office/powerpoint/2010/main" val="3276781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04353-9621-5531-586B-8E450951080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D566BA0-DF73-623A-86EF-CF30EAB48E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61EFAA-7616-FAC7-5E8E-E543CCE221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E58B68E7-F067-08EE-E459-D0624BA592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63B323-667A-38AE-109C-BC0C682BDE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BDC060B-0B04-D03E-713E-AD1523C81B6F}"/>
              </a:ext>
            </a:extLst>
          </p:cNvPr>
          <p:cNvSpPr>
            <a:spLocks noGrp="1"/>
          </p:cNvSpPr>
          <p:nvPr>
            <p:ph type="dt" sz="half" idx="10"/>
          </p:nvPr>
        </p:nvSpPr>
        <p:spPr/>
        <p:txBody>
          <a:bodyPr/>
          <a:lstStyle/>
          <a:p>
            <a:fld id="{3B47751D-B32E-46F3-84C8-FD5FCAB46A48}" type="datetimeFigureOut">
              <a:rPr lang="en-CA" smtClean="0"/>
              <a:t>2026-07-25</a:t>
            </a:fld>
            <a:endParaRPr lang="en-CA"/>
          </a:p>
        </p:txBody>
      </p:sp>
      <p:sp>
        <p:nvSpPr>
          <p:cNvPr id="8" name="Footer Placeholder 7">
            <a:extLst>
              <a:ext uri="{FF2B5EF4-FFF2-40B4-BE49-F238E27FC236}">
                <a16:creationId xmlns:a16="http://schemas.microsoft.com/office/drawing/2014/main" id="{0622F2DF-E3D5-147E-FDE1-31C18C3E022F}"/>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284A31DA-934D-1430-4664-777DD17F1073}"/>
              </a:ext>
            </a:extLst>
          </p:cNvPr>
          <p:cNvSpPr>
            <a:spLocks noGrp="1"/>
          </p:cNvSpPr>
          <p:nvPr>
            <p:ph type="sldNum" sz="quarter" idx="12"/>
          </p:nvPr>
        </p:nvSpPr>
        <p:spPr/>
        <p:txBody>
          <a:bodyPr/>
          <a:lstStyle/>
          <a:p>
            <a:fld id="{A22EF611-41F1-440C-9638-C6D367408855}" type="slidenum">
              <a:rPr lang="en-CA" smtClean="0"/>
              <a:t>‹#›</a:t>
            </a:fld>
            <a:endParaRPr lang="en-CA"/>
          </a:p>
        </p:txBody>
      </p:sp>
    </p:spTree>
    <p:extLst>
      <p:ext uri="{BB962C8B-B14F-4D97-AF65-F5344CB8AC3E}">
        <p14:creationId xmlns:p14="http://schemas.microsoft.com/office/powerpoint/2010/main" val="3234984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5804C-0504-B9AF-42EE-AB9DB6FA3BB9}"/>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1EE4395-CDC8-0758-303D-69EDC7C47ED4}"/>
              </a:ext>
            </a:extLst>
          </p:cNvPr>
          <p:cNvSpPr>
            <a:spLocks noGrp="1"/>
          </p:cNvSpPr>
          <p:nvPr>
            <p:ph type="dt" sz="half" idx="10"/>
          </p:nvPr>
        </p:nvSpPr>
        <p:spPr/>
        <p:txBody>
          <a:bodyPr/>
          <a:lstStyle/>
          <a:p>
            <a:fld id="{3B47751D-B32E-46F3-84C8-FD5FCAB46A48}" type="datetimeFigureOut">
              <a:rPr lang="en-CA" smtClean="0"/>
              <a:t>2026-07-25</a:t>
            </a:fld>
            <a:endParaRPr lang="en-CA"/>
          </a:p>
        </p:txBody>
      </p:sp>
      <p:sp>
        <p:nvSpPr>
          <p:cNvPr id="4" name="Footer Placeholder 3">
            <a:extLst>
              <a:ext uri="{FF2B5EF4-FFF2-40B4-BE49-F238E27FC236}">
                <a16:creationId xmlns:a16="http://schemas.microsoft.com/office/drawing/2014/main" id="{D71F5111-10E2-8A52-A436-C4EB3B90636E}"/>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9565BA85-19D8-D3DA-0149-AAF875BF5592}"/>
              </a:ext>
            </a:extLst>
          </p:cNvPr>
          <p:cNvSpPr>
            <a:spLocks noGrp="1"/>
          </p:cNvSpPr>
          <p:nvPr>
            <p:ph type="sldNum" sz="quarter" idx="12"/>
          </p:nvPr>
        </p:nvSpPr>
        <p:spPr/>
        <p:txBody>
          <a:bodyPr/>
          <a:lstStyle/>
          <a:p>
            <a:fld id="{A22EF611-41F1-440C-9638-C6D367408855}" type="slidenum">
              <a:rPr lang="en-CA" smtClean="0"/>
              <a:t>‹#›</a:t>
            </a:fld>
            <a:endParaRPr lang="en-CA"/>
          </a:p>
        </p:txBody>
      </p:sp>
    </p:spTree>
    <p:extLst>
      <p:ext uri="{BB962C8B-B14F-4D97-AF65-F5344CB8AC3E}">
        <p14:creationId xmlns:p14="http://schemas.microsoft.com/office/powerpoint/2010/main" val="1977167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57F63E-8701-1CB6-CE70-E2C3CC20EA9E}"/>
              </a:ext>
            </a:extLst>
          </p:cNvPr>
          <p:cNvSpPr>
            <a:spLocks noGrp="1"/>
          </p:cNvSpPr>
          <p:nvPr>
            <p:ph type="dt" sz="half" idx="10"/>
          </p:nvPr>
        </p:nvSpPr>
        <p:spPr/>
        <p:txBody>
          <a:bodyPr/>
          <a:lstStyle/>
          <a:p>
            <a:fld id="{3B47751D-B32E-46F3-84C8-FD5FCAB46A48}" type="datetimeFigureOut">
              <a:rPr lang="en-CA" smtClean="0"/>
              <a:t>2026-07-25</a:t>
            </a:fld>
            <a:endParaRPr lang="en-CA"/>
          </a:p>
        </p:txBody>
      </p:sp>
      <p:sp>
        <p:nvSpPr>
          <p:cNvPr id="3" name="Footer Placeholder 2">
            <a:extLst>
              <a:ext uri="{FF2B5EF4-FFF2-40B4-BE49-F238E27FC236}">
                <a16:creationId xmlns:a16="http://schemas.microsoft.com/office/drawing/2014/main" id="{8995D9DC-4E69-4A2F-7162-369AF5751E44}"/>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FC6C9A66-F2A8-DAB7-D850-0AC731E6DCF5}"/>
              </a:ext>
            </a:extLst>
          </p:cNvPr>
          <p:cNvSpPr>
            <a:spLocks noGrp="1"/>
          </p:cNvSpPr>
          <p:nvPr>
            <p:ph type="sldNum" sz="quarter" idx="12"/>
          </p:nvPr>
        </p:nvSpPr>
        <p:spPr/>
        <p:txBody>
          <a:bodyPr/>
          <a:lstStyle/>
          <a:p>
            <a:fld id="{A22EF611-41F1-440C-9638-C6D367408855}" type="slidenum">
              <a:rPr lang="en-CA" smtClean="0"/>
              <a:t>‹#›</a:t>
            </a:fld>
            <a:endParaRPr lang="en-CA"/>
          </a:p>
        </p:txBody>
      </p:sp>
    </p:spTree>
    <p:extLst>
      <p:ext uri="{BB962C8B-B14F-4D97-AF65-F5344CB8AC3E}">
        <p14:creationId xmlns:p14="http://schemas.microsoft.com/office/powerpoint/2010/main" val="827069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DC4C-78FD-B6E5-C23A-A09D575879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C36CC6C4-4543-1F35-D2E0-63C049A10E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90BE4334-E0D9-3E16-9909-5FA8EF1982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FE4461-AB47-9052-3AC8-D2B8D34EFAA7}"/>
              </a:ext>
            </a:extLst>
          </p:cNvPr>
          <p:cNvSpPr>
            <a:spLocks noGrp="1"/>
          </p:cNvSpPr>
          <p:nvPr>
            <p:ph type="dt" sz="half" idx="10"/>
          </p:nvPr>
        </p:nvSpPr>
        <p:spPr/>
        <p:txBody>
          <a:bodyPr/>
          <a:lstStyle/>
          <a:p>
            <a:fld id="{3B47751D-B32E-46F3-84C8-FD5FCAB46A48}" type="datetimeFigureOut">
              <a:rPr lang="en-CA" smtClean="0"/>
              <a:t>2026-07-25</a:t>
            </a:fld>
            <a:endParaRPr lang="en-CA"/>
          </a:p>
        </p:txBody>
      </p:sp>
      <p:sp>
        <p:nvSpPr>
          <p:cNvPr id="6" name="Footer Placeholder 5">
            <a:extLst>
              <a:ext uri="{FF2B5EF4-FFF2-40B4-BE49-F238E27FC236}">
                <a16:creationId xmlns:a16="http://schemas.microsoft.com/office/drawing/2014/main" id="{046F687C-3602-06E7-7EBC-3BD0526671C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7EDE14E-4648-936E-A53D-CE24734F22BE}"/>
              </a:ext>
            </a:extLst>
          </p:cNvPr>
          <p:cNvSpPr>
            <a:spLocks noGrp="1"/>
          </p:cNvSpPr>
          <p:nvPr>
            <p:ph type="sldNum" sz="quarter" idx="12"/>
          </p:nvPr>
        </p:nvSpPr>
        <p:spPr/>
        <p:txBody>
          <a:bodyPr/>
          <a:lstStyle/>
          <a:p>
            <a:fld id="{A22EF611-41F1-440C-9638-C6D367408855}" type="slidenum">
              <a:rPr lang="en-CA" smtClean="0"/>
              <a:t>‹#›</a:t>
            </a:fld>
            <a:endParaRPr lang="en-CA"/>
          </a:p>
        </p:txBody>
      </p:sp>
    </p:spTree>
    <p:extLst>
      <p:ext uri="{BB962C8B-B14F-4D97-AF65-F5344CB8AC3E}">
        <p14:creationId xmlns:p14="http://schemas.microsoft.com/office/powerpoint/2010/main" val="154817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7A1F1-5089-0788-280A-B01B351F48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CE5C6E3A-870B-3099-9E72-1A4C3FA8DB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B1684E74-619B-F18D-7F9A-DF179A2927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024719-9BBB-CC57-9992-DE0C265BA413}"/>
              </a:ext>
            </a:extLst>
          </p:cNvPr>
          <p:cNvSpPr>
            <a:spLocks noGrp="1"/>
          </p:cNvSpPr>
          <p:nvPr>
            <p:ph type="dt" sz="half" idx="10"/>
          </p:nvPr>
        </p:nvSpPr>
        <p:spPr/>
        <p:txBody>
          <a:bodyPr/>
          <a:lstStyle/>
          <a:p>
            <a:fld id="{3B47751D-B32E-46F3-84C8-FD5FCAB46A48}" type="datetimeFigureOut">
              <a:rPr lang="en-CA" smtClean="0"/>
              <a:t>2026-07-25</a:t>
            </a:fld>
            <a:endParaRPr lang="en-CA"/>
          </a:p>
        </p:txBody>
      </p:sp>
      <p:sp>
        <p:nvSpPr>
          <p:cNvPr id="6" name="Footer Placeholder 5">
            <a:extLst>
              <a:ext uri="{FF2B5EF4-FFF2-40B4-BE49-F238E27FC236}">
                <a16:creationId xmlns:a16="http://schemas.microsoft.com/office/drawing/2014/main" id="{09B049C8-9D62-1C1E-6990-7CAD12A9B83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2B0A181-4CE7-441C-2A79-E17992E8EB67}"/>
              </a:ext>
            </a:extLst>
          </p:cNvPr>
          <p:cNvSpPr>
            <a:spLocks noGrp="1"/>
          </p:cNvSpPr>
          <p:nvPr>
            <p:ph type="sldNum" sz="quarter" idx="12"/>
          </p:nvPr>
        </p:nvSpPr>
        <p:spPr/>
        <p:txBody>
          <a:bodyPr/>
          <a:lstStyle/>
          <a:p>
            <a:fld id="{A22EF611-41F1-440C-9638-C6D367408855}" type="slidenum">
              <a:rPr lang="en-CA" smtClean="0"/>
              <a:t>‹#›</a:t>
            </a:fld>
            <a:endParaRPr lang="en-CA"/>
          </a:p>
        </p:txBody>
      </p:sp>
    </p:spTree>
    <p:extLst>
      <p:ext uri="{BB962C8B-B14F-4D97-AF65-F5344CB8AC3E}">
        <p14:creationId xmlns:p14="http://schemas.microsoft.com/office/powerpoint/2010/main" val="2168805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BE4F-B44A-2D63-447E-1E01116C3E77}"/>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92826EF-D103-0DAD-E872-C707C741E5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337268F-87E9-5D2A-AC93-A488B37F0D9B}"/>
              </a:ext>
            </a:extLst>
          </p:cNvPr>
          <p:cNvSpPr>
            <a:spLocks noGrp="1"/>
          </p:cNvSpPr>
          <p:nvPr>
            <p:ph type="dt" sz="half" idx="10"/>
          </p:nvPr>
        </p:nvSpPr>
        <p:spPr/>
        <p:txBody>
          <a:bodyPr/>
          <a:lstStyle/>
          <a:p>
            <a:fld id="{3B47751D-B32E-46F3-84C8-FD5FCAB46A48}" type="datetimeFigureOut">
              <a:rPr lang="en-CA" smtClean="0"/>
              <a:t>2026-07-25</a:t>
            </a:fld>
            <a:endParaRPr lang="en-CA"/>
          </a:p>
        </p:txBody>
      </p:sp>
      <p:sp>
        <p:nvSpPr>
          <p:cNvPr id="5" name="Footer Placeholder 4">
            <a:extLst>
              <a:ext uri="{FF2B5EF4-FFF2-40B4-BE49-F238E27FC236}">
                <a16:creationId xmlns:a16="http://schemas.microsoft.com/office/drawing/2014/main" id="{FE9EC92D-2A93-F44E-D8F6-DFF852C1E16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90C17F9-A017-E6BF-4EF6-11853AF37389}"/>
              </a:ext>
            </a:extLst>
          </p:cNvPr>
          <p:cNvSpPr>
            <a:spLocks noGrp="1"/>
          </p:cNvSpPr>
          <p:nvPr>
            <p:ph type="sldNum" sz="quarter" idx="12"/>
          </p:nvPr>
        </p:nvSpPr>
        <p:spPr/>
        <p:txBody>
          <a:bodyPr/>
          <a:lstStyle/>
          <a:p>
            <a:fld id="{A22EF611-41F1-440C-9638-C6D367408855}" type="slidenum">
              <a:rPr lang="en-CA" smtClean="0"/>
              <a:t>‹#›</a:t>
            </a:fld>
            <a:endParaRPr lang="en-CA"/>
          </a:p>
        </p:txBody>
      </p:sp>
    </p:spTree>
    <p:extLst>
      <p:ext uri="{BB962C8B-B14F-4D97-AF65-F5344CB8AC3E}">
        <p14:creationId xmlns:p14="http://schemas.microsoft.com/office/powerpoint/2010/main" val="3264566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1BB448-1CE1-5E6F-0754-5B6B4E47B56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EBFB2CB-C61D-5CA1-3DD1-496F2AEA98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662CCF5-A66C-B7F3-CAFF-57C964A1FD9B}"/>
              </a:ext>
            </a:extLst>
          </p:cNvPr>
          <p:cNvSpPr>
            <a:spLocks noGrp="1"/>
          </p:cNvSpPr>
          <p:nvPr>
            <p:ph type="dt" sz="half" idx="10"/>
          </p:nvPr>
        </p:nvSpPr>
        <p:spPr/>
        <p:txBody>
          <a:bodyPr/>
          <a:lstStyle/>
          <a:p>
            <a:fld id="{3B47751D-B32E-46F3-84C8-FD5FCAB46A48}" type="datetimeFigureOut">
              <a:rPr lang="en-CA" smtClean="0"/>
              <a:t>2026-07-25</a:t>
            </a:fld>
            <a:endParaRPr lang="en-CA"/>
          </a:p>
        </p:txBody>
      </p:sp>
      <p:sp>
        <p:nvSpPr>
          <p:cNvPr id="5" name="Footer Placeholder 4">
            <a:extLst>
              <a:ext uri="{FF2B5EF4-FFF2-40B4-BE49-F238E27FC236}">
                <a16:creationId xmlns:a16="http://schemas.microsoft.com/office/drawing/2014/main" id="{5BB492DC-5870-1269-08A5-A27B5800241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7494963-C4CD-8508-2A35-88965FD3DE38}"/>
              </a:ext>
            </a:extLst>
          </p:cNvPr>
          <p:cNvSpPr>
            <a:spLocks noGrp="1"/>
          </p:cNvSpPr>
          <p:nvPr>
            <p:ph type="sldNum" sz="quarter" idx="12"/>
          </p:nvPr>
        </p:nvSpPr>
        <p:spPr/>
        <p:txBody>
          <a:bodyPr/>
          <a:lstStyle/>
          <a:p>
            <a:fld id="{A22EF611-41F1-440C-9638-C6D367408855}" type="slidenum">
              <a:rPr lang="en-CA" smtClean="0"/>
              <a:t>‹#›</a:t>
            </a:fld>
            <a:endParaRPr lang="en-CA"/>
          </a:p>
        </p:txBody>
      </p:sp>
    </p:spTree>
    <p:extLst>
      <p:ext uri="{BB962C8B-B14F-4D97-AF65-F5344CB8AC3E}">
        <p14:creationId xmlns:p14="http://schemas.microsoft.com/office/powerpoint/2010/main" val="1971788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CBA024-0F2F-4656-85DE-940DED6D59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8A82421-0965-67C2-2895-471BA6955D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D51889B-C4A4-03EE-FC5E-01DE422F42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47751D-B32E-46F3-84C8-FD5FCAB46A48}" type="datetimeFigureOut">
              <a:rPr lang="en-CA" smtClean="0"/>
              <a:t>2026-07-25</a:t>
            </a:fld>
            <a:endParaRPr lang="en-CA"/>
          </a:p>
        </p:txBody>
      </p:sp>
      <p:sp>
        <p:nvSpPr>
          <p:cNvPr id="5" name="Footer Placeholder 4">
            <a:extLst>
              <a:ext uri="{FF2B5EF4-FFF2-40B4-BE49-F238E27FC236}">
                <a16:creationId xmlns:a16="http://schemas.microsoft.com/office/drawing/2014/main" id="{C77D52E3-5E02-FA0A-5AB6-9C0B60AD8C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62120DAA-9367-7D73-A915-7568FF13B8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2EF611-41F1-440C-9638-C6D367408855}" type="slidenum">
              <a:rPr lang="en-CA" smtClean="0"/>
              <a:t>‹#›</a:t>
            </a:fld>
            <a:endParaRPr lang="en-CA"/>
          </a:p>
        </p:txBody>
      </p:sp>
    </p:spTree>
    <p:extLst>
      <p:ext uri="{BB962C8B-B14F-4D97-AF65-F5344CB8AC3E}">
        <p14:creationId xmlns:p14="http://schemas.microsoft.com/office/powerpoint/2010/main" val="2432329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customXml" Target="../ink/ink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customXml" Target="../ink/ink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customXml" Target="../ink/ink7.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33.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customXml" Target="../ink/ink15.xml"/></Relationships>
</file>

<file path=ppt/slides/_rels/slide23.xml.rels><?xml version="1.0" encoding="UTF-8" standalone="yes"?>
<Relationships xmlns="http://schemas.openxmlformats.org/package/2006/relationships"><Relationship Id="rId8" Type="http://schemas.openxmlformats.org/officeDocument/2006/relationships/customXml" Target="../ink/ink18.xml"/><Relationship Id="rId3" Type="http://schemas.openxmlformats.org/officeDocument/2006/relationships/image" Target="../media/image39.png"/><Relationship Id="rId7"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customXml" Target="../ink/ink17.xml"/><Relationship Id="rId5" Type="http://schemas.openxmlformats.org/officeDocument/2006/relationships/image" Target="../media/image40.png"/><Relationship Id="rId4" Type="http://schemas.openxmlformats.org/officeDocument/2006/relationships/customXml" Target="../ink/ink16.xml"/><Relationship Id="rId9"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customXml" Target="../ink/ink19.xml"/></Relationships>
</file>

<file path=ppt/slides/_rels/slide25.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image" Target="../media/image46.png"/><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customXml" Target="../ink/ink21.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customXml" Target="../ink/ink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B4AAB-056D-2838-26EE-3994073C87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0B741F-C97C-A921-EA92-E41314E92BA9}"/>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Week2 Plan –</a:t>
            </a:r>
            <a:r>
              <a:rPr lang="en-CA" sz="4000" b="1" strike="sngStrike" dirty="0">
                <a:solidFill>
                  <a:prstClr val="black"/>
                </a:solidFill>
                <a:latin typeface="Handlee" panose="02000000000000000000" pitchFamily="2" charset="0"/>
              </a:rPr>
              <a:t>Capable</a:t>
            </a:r>
            <a:r>
              <a:rPr lang="en-CA" sz="4000" b="1" dirty="0">
                <a:solidFill>
                  <a:prstClr val="black"/>
                </a:solidFill>
                <a:latin typeface="Handlee" panose="02000000000000000000" pitchFamily="2" charset="0"/>
              </a:rPr>
              <a:t> Observable</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pic>
        <p:nvPicPr>
          <p:cNvPr id="3" name="Picture 2">
            <a:extLst>
              <a:ext uri="{FF2B5EF4-FFF2-40B4-BE49-F238E27FC236}">
                <a16:creationId xmlns:a16="http://schemas.microsoft.com/office/drawing/2014/main" id="{B0FAC120-00B7-63CA-40F4-B897179FB234}"/>
              </a:ext>
            </a:extLst>
          </p:cNvPr>
          <p:cNvPicPr>
            <a:picLocks noChangeAspect="1"/>
          </p:cNvPicPr>
          <p:nvPr/>
        </p:nvPicPr>
        <p:blipFill>
          <a:blip r:embed="rId2"/>
          <a:stretch>
            <a:fillRect/>
          </a:stretch>
        </p:blipFill>
        <p:spPr>
          <a:xfrm>
            <a:off x="5808474" y="1001638"/>
            <a:ext cx="9144000" cy="6858000"/>
          </a:xfrm>
          <a:prstGeom prst="rect">
            <a:avLst/>
          </a:prstGeom>
        </p:spPr>
      </p:pic>
      <p:sp>
        <p:nvSpPr>
          <p:cNvPr id="5" name="TextBox 4">
            <a:extLst>
              <a:ext uri="{FF2B5EF4-FFF2-40B4-BE49-F238E27FC236}">
                <a16:creationId xmlns:a16="http://schemas.microsoft.com/office/drawing/2014/main" id="{222C53B8-BE03-8B29-CE74-88C5DBFA23B7}"/>
              </a:ext>
            </a:extLst>
          </p:cNvPr>
          <p:cNvSpPr txBox="1"/>
          <p:nvPr/>
        </p:nvSpPr>
        <p:spPr>
          <a:xfrm>
            <a:off x="378372" y="1291317"/>
            <a:ext cx="4582511" cy="3139321"/>
          </a:xfrm>
          <a:prstGeom prst="rect">
            <a:avLst/>
          </a:prstGeom>
          <a:noFill/>
        </p:spPr>
        <p:txBody>
          <a:bodyPr wrap="square" rtlCol="0">
            <a:spAutoFit/>
          </a:bodyPr>
          <a:lstStyle/>
          <a:p>
            <a:r>
              <a:rPr lang="en-CA" b="1" dirty="0"/>
              <a:t>Bootcamp Extension</a:t>
            </a:r>
          </a:p>
          <a:p>
            <a:r>
              <a:rPr lang="en-CA" dirty="0"/>
              <a:t>We are extending the bootcamp to have an additional week.</a:t>
            </a:r>
          </a:p>
          <a:p>
            <a:endParaRPr lang="en-CA" dirty="0"/>
          </a:p>
          <a:p>
            <a:r>
              <a:rPr lang="en-CA" dirty="0"/>
              <a:t>We discovered during building out the capable agent, we need an entire week to:</a:t>
            </a:r>
          </a:p>
          <a:p>
            <a:pPr marL="285750" indent="-285750">
              <a:buFont typeface="Arial" panose="020B0604020202020204" pitchFamily="34" charset="0"/>
              <a:buChar char="•"/>
            </a:pPr>
            <a:r>
              <a:rPr lang="en-CA" dirty="0"/>
              <a:t>Improve </a:t>
            </a:r>
            <a:r>
              <a:rPr lang="en-CA" b="1" dirty="0">
                <a:solidFill>
                  <a:srgbClr val="FF0000"/>
                </a:solidFill>
              </a:rPr>
              <a:t>observability</a:t>
            </a:r>
          </a:p>
          <a:p>
            <a:pPr marL="285750" indent="-285750">
              <a:buFont typeface="Arial" panose="020B0604020202020204" pitchFamily="34" charset="0"/>
              <a:buChar char="•"/>
            </a:pPr>
            <a:r>
              <a:rPr lang="en-CA" dirty="0"/>
              <a:t>Solve token efficiency </a:t>
            </a:r>
          </a:p>
          <a:p>
            <a:pPr marL="285750" indent="-285750">
              <a:buFont typeface="Arial" panose="020B0604020202020204" pitchFamily="34" charset="0"/>
              <a:buChar char="•"/>
            </a:pPr>
            <a:r>
              <a:rPr lang="en-CA" dirty="0"/>
              <a:t>Basic memory/knowledge </a:t>
            </a:r>
          </a:p>
          <a:p>
            <a:pPr marL="742950" lvl="1" indent="-285750">
              <a:buFont typeface="Arial" panose="020B0604020202020204" pitchFamily="34" charset="0"/>
              <a:buChar char="•"/>
            </a:pPr>
            <a:r>
              <a:rPr lang="en-CA" dirty="0"/>
              <a:t>(where I’ve been)</a:t>
            </a:r>
          </a:p>
          <a:p>
            <a:pPr marL="742950" lvl="1" indent="-285750">
              <a:buFont typeface="Arial" panose="020B0604020202020204" pitchFamily="34" charset="0"/>
              <a:buChar char="•"/>
            </a:pPr>
            <a:r>
              <a:rPr lang="en-CA" dirty="0"/>
              <a:t>(who am I)</a:t>
            </a:r>
          </a:p>
        </p:txBody>
      </p:sp>
      <p:sp>
        <p:nvSpPr>
          <p:cNvPr id="6" name="TextBox 5">
            <a:extLst>
              <a:ext uri="{FF2B5EF4-FFF2-40B4-BE49-F238E27FC236}">
                <a16:creationId xmlns:a16="http://schemas.microsoft.com/office/drawing/2014/main" id="{B5552556-6C11-5F4B-83FA-86DDAE7918CB}"/>
              </a:ext>
            </a:extLst>
          </p:cNvPr>
          <p:cNvSpPr txBox="1"/>
          <p:nvPr/>
        </p:nvSpPr>
        <p:spPr>
          <a:xfrm>
            <a:off x="147144" y="4706535"/>
            <a:ext cx="6222125" cy="1471511"/>
          </a:xfrm>
          <a:prstGeom prst="rect">
            <a:avLst/>
          </a:prstGeom>
          <a:solidFill>
            <a:schemeClr val="accent2">
              <a:lumMod val="20000"/>
              <a:lumOff val="80000"/>
            </a:schemeClr>
          </a:solidFill>
          <a:ln>
            <a:solidFill>
              <a:schemeClr val="bg1">
                <a:lumMod val="50000"/>
              </a:schemeClr>
            </a:solidFill>
          </a:ln>
          <a:effectLst>
            <a:outerShdw blurRad="50800" dist="38100" dir="2700000" algn="tl" rotWithShape="0">
              <a:prstClr val="black">
                <a:alpha val="40000"/>
              </a:prstClr>
            </a:outerShdw>
          </a:effectLst>
        </p:spPr>
        <p:txBody>
          <a:bodyPr wrap="square" lIns="180000" tIns="180000" rIns="180000" bIns="180000" rtlCol="0">
            <a:spAutoFit/>
          </a:bodyPr>
          <a:lstStyle/>
          <a:p>
            <a:r>
              <a:rPr lang="en-CA" b="1" dirty="0"/>
              <a:t>Goal: </a:t>
            </a:r>
            <a:r>
              <a:rPr lang="en-CA" dirty="0"/>
              <a:t>Find the Bakery and List the Menu</a:t>
            </a:r>
            <a:br>
              <a:rPr lang="en-CA" dirty="0"/>
            </a:br>
            <a:endParaRPr lang="en-CA" dirty="0"/>
          </a:p>
          <a:p>
            <a:r>
              <a:rPr lang="en-CA" i="1" dirty="0">
                <a:solidFill>
                  <a:schemeClr val="tx1">
                    <a:lumMod val="65000"/>
                    <a:lumOff val="35000"/>
                  </a:schemeClr>
                </a:solidFill>
              </a:rPr>
              <a:t>(…but the agent should reason it direction and not randomly navigate, and it should know how to get back </a:t>
            </a:r>
            <a:r>
              <a:rPr lang="en-CA" i="1" dirty="0" err="1">
                <a:solidFill>
                  <a:schemeClr val="tx1">
                    <a:lumMod val="65000"/>
                    <a:lumOff val="35000"/>
                  </a:schemeClr>
                </a:solidFill>
              </a:rPr>
              <a:t>everytime</a:t>
            </a:r>
            <a:r>
              <a:rPr lang="en-CA" i="1" dirty="0">
                <a:solidFill>
                  <a:schemeClr val="tx1">
                    <a:lumMod val="65000"/>
                    <a:lumOff val="35000"/>
                  </a:schemeClr>
                </a:solidFill>
              </a:rPr>
              <a:t>.)</a:t>
            </a:r>
          </a:p>
        </p:txBody>
      </p:sp>
    </p:spTree>
    <p:extLst>
      <p:ext uri="{BB962C8B-B14F-4D97-AF65-F5344CB8AC3E}">
        <p14:creationId xmlns:p14="http://schemas.microsoft.com/office/powerpoint/2010/main" val="3646829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FD39E-F30D-FCAD-19FF-D310C19FF0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3E9C7F-6F6F-7CE1-F622-E55375DD7D24}"/>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Week2 Plan –</a:t>
            </a:r>
            <a:r>
              <a:rPr lang="en-CA" sz="4000" b="1" strike="sngStrike" dirty="0">
                <a:solidFill>
                  <a:prstClr val="black"/>
                </a:solidFill>
                <a:latin typeface="Handlee" panose="02000000000000000000" pitchFamily="2" charset="0"/>
              </a:rPr>
              <a:t>Capable</a:t>
            </a:r>
            <a:r>
              <a:rPr lang="en-CA" sz="4000" b="1" dirty="0">
                <a:solidFill>
                  <a:prstClr val="black"/>
                </a:solidFill>
                <a:latin typeface="Handlee" panose="02000000000000000000" pitchFamily="2" charset="0"/>
              </a:rPr>
              <a:t> Observable</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13" name="TextBox 12">
            <a:extLst>
              <a:ext uri="{FF2B5EF4-FFF2-40B4-BE49-F238E27FC236}">
                <a16:creationId xmlns:a16="http://schemas.microsoft.com/office/drawing/2014/main" id="{8A84F6CA-FE15-6CD5-06F7-D3344D5E7408}"/>
              </a:ext>
            </a:extLst>
          </p:cNvPr>
          <p:cNvSpPr txBox="1"/>
          <p:nvPr/>
        </p:nvSpPr>
        <p:spPr>
          <a:xfrm>
            <a:off x="237646" y="1178328"/>
            <a:ext cx="4964861" cy="1200329"/>
          </a:xfrm>
          <a:prstGeom prst="rect">
            <a:avLst/>
          </a:prstGeom>
          <a:noFill/>
        </p:spPr>
        <p:txBody>
          <a:bodyPr wrap="square" rtlCol="0">
            <a:spAutoFit/>
          </a:bodyPr>
          <a:lstStyle/>
          <a:p>
            <a:r>
              <a:rPr lang="en-US" b="1" dirty="0"/>
              <a:t>Technical Problem</a:t>
            </a:r>
          </a:p>
          <a:p>
            <a:r>
              <a:rPr lang="en-US" dirty="0"/>
              <a:t>Before the bootcamp previous attempts to build an </a:t>
            </a:r>
            <a:r>
              <a:rPr lang="en-US" b="1" dirty="0">
                <a:solidFill>
                  <a:srgbClr val="FF0000"/>
                </a:solidFill>
              </a:rPr>
              <a:t>outer agentic loop </a:t>
            </a:r>
            <a:r>
              <a:rPr lang="en-US" dirty="0"/>
              <a:t>and</a:t>
            </a:r>
            <a:r>
              <a:rPr lang="en-US" b="1" dirty="0">
                <a:solidFill>
                  <a:srgbClr val="FF0000"/>
                </a:solidFill>
              </a:rPr>
              <a:t> </a:t>
            </a:r>
            <a:r>
              <a:rPr lang="en-US" b="1" dirty="0">
                <a:highlight>
                  <a:srgbClr val="FFFF00"/>
                </a:highlight>
              </a:rPr>
              <a:t>failed twice.</a:t>
            </a:r>
          </a:p>
          <a:p>
            <a:endParaRPr lang="en-US" dirty="0"/>
          </a:p>
        </p:txBody>
      </p:sp>
      <p:pic>
        <p:nvPicPr>
          <p:cNvPr id="22" name="Picture 21">
            <a:extLst>
              <a:ext uri="{FF2B5EF4-FFF2-40B4-BE49-F238E27FC236}">
                <a16:creationId xmlns:a16="http://schemas.microsoft.com/office/drawing/2014/main" id="{A886CE1E-9547-E6CE-EAB5-DF8DDF330A3D}"/>
              </a:ext>
            </a:extLst>
          </p:cNvPr>
          <p:cNvPicPr>
            <a:picLocks noChangeAspect="1"/>
          </p:cNvPicPr>
          <p:nvPr/>
        </p:nvPicPr>
        <p:blipFill>
          <a:blip r:embed="rId2"/>
          <a:stretch>
            <a:fillRect/>
          </a:stretch>
        </p:blipFill>
        <p:spPr>
          <a:xfrm>
            <a:off x="224280" y="2068028"/>
            <a:ext cx="5307679" cy="4450284"/>
          </a:xfrm>
          <a:prstGeom prst="rect">
            <a:avLst/>
          </a:prstGeom>
        </p:spPr>
      </p:pic>
      <p:pic>
        <p:nvPicPr>
          <p:cNvPr id="29" name="Picture 28">
            <a:extLst>
              <a:ext uri="{FF2B5EF4-FFF2-40B4-BE49-F238E27FC236}">
                <a16:creationId xmlns:a16="http://schemas.microsoft.com/office/drawing/2014/main" id="{61CA97BC-0557-8B64-7E34-F58EA95EFAB7}"/>
              </a:ext>
            </a:extLst>
          </p:cNvPr>
          <p:cNvPicPr>
            <a:picLocks noChangeAspect="1"/>
          </p:cNvPicPr>
          <p:nvPr/>
        </p:nvPicPr>
        <p:blipFill>
          <a:blip r:embed="rId3"/>
          <a:stretch>
            <a:fillRect/>
          </a:stretch>
        </p:blipFill>
        <p:spPr>
          <a:xfrm>
            <a:off x="5987818" y="2233297"/>
            <a:ext cx="2140434" cy="2774638"/>
          </a:xfrm>
          <a:prstGeom prst="rect">
            <a:avLst/>
          </a:prstGeom>
        </p:spPr>
      </p:pic>
      <p:pic>
        <p:nvPicPr>
          <p:cNvPr id="31" name="Picture 30">
            <a:extLst>
              <a:ext uri="{FF2B5EF4-FFF2-40B4-BE49-F238E27FC236}">
                <a16:creationId xmlns:a16="http://schemas.microsoft.com/office/drawing/2014/main" id="{B7AF10E6-3133-9059-3CEC-5FD2FE1CFEC7}"/>
              </a:ext>
            </a:extLst>
          </p:cNvPr>
          <p:cNvPicPr>
            <a:picLocks noChangeAspect="1"/>
          </p:cNvPicPr>
          <p:nvPr/>
        </p:nvPicPr>
        <p:blipFill>
          <a:blip r:embed="rId4"/>
          <a:stretch>
            <a:fillRect/>
          </a:stretch>
        </p:blipFill>
        <p:spPr>
          <a:xfrm>
            <a:off x="10812791" y="1015420"/>
            <a:ext cx="1379209" cy="5842580"/>
          </a:xfrm>
          <a:prstGeom prst="rect">
            <a:avLst/>
          </a:prstGeom>
        </p:spPr>
      </p:pic>
      <p:sp>
        <p:nvSpPr>
          <p:cNvPr id="33" name="TextBox 32">
            <a:extLst>
              <a:ext uri="{FF2B5EF4-FFF2-40B4-BE49-F238E27FC236}">
                <a16:creationId xmlns:a16="http://schemas.microsoft.com/office/drawing/2014/main" id="{482F315B-9FDD-1061-5B59-1A935184CD0C}"/>
              </a:ext>
            </a:extLst>
          </p:cNvPr>
          <p:cNvSpPr txBox="1"/>
          <p:nvPr/>
        </p:nvSpPr>
        <p:spPr>
          <a:xfrm>
            <a:off x="5911338" y="1421697"/>
            <a:ext cx="4572001" cy="646331"/>
          </a:xfrm>
          <a:prstGeom prst="rect">
            <a:avLst/>
          </a:prstGeom>
          <a:noFill/>
        </p:spPr>
        <p:txBody>
          <a:bodyPr wrap="square">
            <a:spAutoFit/>
          </a:bodyPr>
          <a:lstStyle/>
          <a:p>
            <a:r>
              <a:rPr lang="en-US" sz="1800" dirty="0"/>
              <a:t>We created a </a:t>
            </a:r>
            <a:r>
              <a:rPr lang="en-US" sz="1800" b="1" dirty="0">
                <a:solidFill>
                  <a:srgbClr val="FF0000"/>
                </a:solidFill>
              </a:rPr>
              <a:t>series of plans driven by AI, </a:t>
            </a:r>
            <a:r>
              <a:rPr lang="en-US" sz="1800" dirty="0"/>
              <a:t>step by step to complete a complex loop.</a:t>
            </a:r>
          </a:p>
        </p:txBody>
      </p:sp>
      <mc:AlternateContent xmlns:mc="http://schemas.openxmlformats.org/markup-compatibility/2006">
        <mc:Choice xmlns:p14="http://schemas.microsoft.com/office/powerpoint/2010/main" Requires="p14">
          <p:contentPart p14:bwMode="auto" r:id="rId5">
            <p14:nvContentPartPr>
              <p14:cNvPr id="34" name="Ink 33">
                <a:extLst>
                  <a:ext uri="{FF2B5EF4-FFF2-40B4-BE49-F238E27FC236}">
                    <a16:creationId xmlns:a16="http://schemas.microsoft.com/office/drawing/2014/main" id="{674BA539-3F96-FAA7-13F8-99D3B05A1F7B}"/>
                  </a:ext>
                </a:extLst>
              </p14:cNvPr>
              <p14:cNvContentPartPr/>
              <p14:nvPr/>
            </p14:nvContentPartPr>
            <p14:xfrm>
              <a:off x="4473661" y="1892528"/>
              <a:ext cx="390600" cy="936720"/>
            </p14:xfrm>
          </p:contentPart>
        </mc:Choice>
        <mc:Fallback>
          <p:pic>
            <p:nvPicPr>
              <p:cNvPr id="34" name="Ink 33">
                <a:extLst>
                  <a:ext uri="{FF2B5EF4-FFF2-40B4-BE49-F238E27FC236}">
                    <a16:creationId xmlns:a16="http://schemas.microsoft.com/office/drawing/2014/main" id="{674BA539-3F96-FAA7-13F8-99D3B05A1F7B}"/>
                  </a:ext>
                </a:extLst>
              </p:cNvPr>
              <p:cNvPicPr/>
              <p:nvPr/>
            </p:nvPicPr>
            <p:blipFill>
              <a:blip r:embed="rId6"/>
              <a:stretch>
                <a:fillRect/>
              </a:stretch>
            </p:blipFill>
            <p:spPr>
              <a:xfrm>
                <a:off x="4465021" y="1883888"/>
                <a:ext cx="408240" cy="954360"/>
              </a:xfrm>
              <a:prstGeom prst="rect">
                <a:avLst/>
              </a:prstGeom>
            </p:spPr>
          </p:pic>
        </mc:Fallback>
      </mc:AlternateContent>
      <p:pic>
        <p:nvPicPr>
          <p:cNvPr id="36" name="Picture 35">
            <a:extLst>
              <a:ext uri="{FF2B5EF4-FFF2-40B4-BE49-F238E27FC236}">
                <a16:creationId xmlns:a16="http://schemas.microsoft.com/office/drawing/2014/main" id="{76731857-0657-B045-46EB-8072AB5F8C51}"/>
              </a:ext>
            </a:extLst>
          </p:cNvPr>
          <p:cNvPicPr>
            <a:picLocks noChangeAspect="1"/>
          </p:cNvPicPr>
          <p:nvPr/>
        </p:nvPicPr>
        <p:blipFill>
          <a:blip r:embed="rId7"/>
          <a:stretch>
            <a:fillRect/>
          </a:stretch>
        </p:blipFill>
        <p:spPr>
          <a:xfrm>
            <a:off x="8292978" y="2233297"/>
            <a:ext cx="1219370" cy="2705478"/>
          </a:xfrm>
          <a:prstGeom prst="rect">
            <a:avLst/>
          </a:prstGeom>
        </p:spPr>
      </p:pic>
    </p:spTree>
    <p:extLst>
      <p:ext uri="{BB962C8B-B14F-4D97-AF65-F5344CB8AC3E}">
        <p14:creationId xmlns:p14="http://schemas.microsoft.com/office/powerpoint/2010/main" val="310475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1C65C-3416-6B03-B1E3-388F197E83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07E1B8-2AE7-A5D6-5244-330DC6675645}"/>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Week2 Plan –</a:t>
            </a:r>
            <a:r>
              <a:rPr lang="en-CA" sz="4000" b="1" strike="sngStrike" dirty="0">
                <a:solidFill>
                  <a:prstClr val="black"/>
                </a:solidFill>
                <a:latin typeface="Handlee" panose="02000000000000000000" pitchFamily="2" charset="0"/>
              </a:rPr>
              <a:t>Capable</a:t>
            </a:r>
            <a:r>
              <a:rPr lang="en-CA" sz="4000" b="1" dirty="0">
                <a:solidFill>
                  <a:prstClr val="black"/>
                </a:solidFill>
                <a:latin typeface="Handlee" panose="02000000000000000000" pitchFamily="2" charset="0"/>
              </a:rPr>
              <a:t> Observable</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13" name="TextBox 12">
            <a:extLst>
              <a:ext uri="{FF2B5EF4-FFF2-40B4-BE49-F238E27FC236}">
                <a16:creationId xmlns:a16="http://schemas.microsoft.com/office/drawing/2014/main" id="{A647C2EB-BE08-BD95-3C51-FC3518539400}"/>
              </a:ext>
            </a:extLst>
          </p:cNvPr>
          <p:cNvSpPr txBox="1"/>
          <p:nvPr/>
        </p:nvSpPr>
        <p:spPr>
          <a:xfrm>
            <a:off x="684213" y="1274021"/>
            <a:ext cx="10607563" cy="5216813"/>
          </a:xfrm>
          <a:prstGeom prst="rect">
            <a:avLst/>
          </a:prstGeom>
          <a:noFill/>
        </p:spPr>
        <p:txBody>
          <a:bodyPr wrap="square" rtlCol="0">
            <a:spAutoFit/>
          </a:bodyPr>
          <a:lstStyle/>
          <a:p>
            <a:r>
              <a:rPr lang="en-CA" dirty="0"/>
              <a:t>We had to complete the entire agent loop before we could meaningfully evaluate whether it worked.</a:t>
            </a:r>
          </a:p>
          <a:p>
            <a:r>
              <a:rPr lang="en-CA" dirty="0"/>
              <a:t>Once the full loop was running, we discovered several foundational problems:</a:t>
            </a:r>
          </a:p>
          <a:p>
            <a:pPr marL="285750" indent="-285750">
              <a:lnSpc>
                <a:spcPct val="150000"/>
              </a:lnSpc>
              <a:buFont typeface="Arial" panose="020B0604020202020204" pitchFamily="34" charset="0"/>
              <a:buChar char="•"/>
            </a:pPr>
            <a:r>
              <a:rPr lang="en-CA" dirty="0"/>
              <a:t>It was highly token-inefficient.</a:t>
            </a:r>
          </a:p>
          <a:p>
            <a:pPr marL="285750" indent="-285750">
              <a:lnSpc>
                <a:spcPct val="150000"/>
              </a:lnSpc>
              <a:buFont typeface="Arial" panose="020B0604020202020204" pitchFamily="34" charset="0"/>
              <a:buChar char="•"/>
            </a:pPr>
            <a:r>
              <a:rPr lang="en-CA" dirty="0"/>
              <a:t>It struggled to decompose complex tasks into useful steps.</a:t>
            </a:r>
          </a:p>
          <a:p>
            <a:pPr marL="285750" indent="-285750">
              <a:lnSpc>
                <a:spcPct val="150000"/>
              </a:lnSpc>
              <a:buFont typeface="Arial" panose="020B0604020202020204" pitchFamily="34" charset="0"/>
              <a:buChar char="•"/>
            </a:pPr>
            <a:r>
              <a:rPr lang="en-CA" dirty="0"/>
              <a:t>It provided almost no observability into why the agent made particular decisions.</a:t>
            </a:r>
          </a:p>
          <a:p>
            <a:pPr marL="285750" indent="-285750">
              <a:lnSpc>
                <a:spcPct val="150000"/>
              </a:lnSpc>
              <a:buFont typeface="Arial" panose="020B0604020202020204" pitchFamily="34" charset="0"/>
              <a:buChar char="•"/>
            </a:pPr>
            <a:r>
              <a:rPr lang="en-CA" dirty="0"/>
              <a:t>Although the system was built incrementally and each component had tests, the implementation was not grounded in an actual player journey.</a:t>
            </a:r>
          </a:p>
          <a:p>
            <a:pPr marL="285750" indent="-285750">
              <a:buFont typeface="Arial" panose="020B0604020202020204" pitchFamily="34" charset="0"/>
              <a:buChar char="•"/>
            </a:pPr>
            <a:endParaRPr lang="en-CA" dirty="0"/>
          </a:p>
          <a:p>
            <a:r>
              <a:rPr lang="en-CA" dirty="0"/>
              <a:t>As a result, important engineering concerns such as minimizing token usage, preserving state efficiently, and validating the agent’s behavior against real gameplay were not addressed early enough.</a:t>
            </a:r>
          </a:p>
          <a:p>
            <a:endParaRPr lang="en-CA" dirty="0"/>
          </a:p>
          <a:p>
            <a:r>
              <a:rPr lang="en-CA" dirty="0"/>
              <a:t>By the time these problems became visible, they were embedded throughout the completed architecture and were difficult to correct without redesigning the loop.</a:t>
            </a:r>
          </a:p>
          <a:p>
            <a:endParaRPr lang="en-CA" dirty="0"/>
          </a:p>
          <a:p>
            <a:r>
              <a:rPr lang="en-CA" dirty="0"/>
              <a:t>Even Fable 5 was unable to reliably reason through or repair the complexity of the completed implementation.</a:t>
            </a:r>
          </a:p>
        </p:txBody>
      </p:sp>
    </p:spTree>
    <p:extLst>
      <p:ext uri="{BB962C8B-B14F-4D97-AF65-F5344CB8AC3E}">
        <p14:creationId xmlns:p14="http://schemas.microsoft.com/office/powerpoint/2010/main" val="2481023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F5C15-54D8-D2E7-A4CC-80FAD29333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6D6E917-EB46-9077-A2EB-6B7362E526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3737" y="1015420"/>
            <a:ext cx="3687682" cy="4607959"/>
          </a:xfrm>
          <a:prstGeom prst="rect">
            <a:avLst/>
          </a:prstGeom>
        </p:spPr>
      </p:pic>
      <p:sp>
        <p:nvSpPr>
          <p:cNvPr id="4" name="TextBox 3">
            <a:extLst>
              <a:ext uri="{FF2B5EF4-FFF2-40B4-BE49-F238E27FC236}">
                <a16:creationId xmlns:a16="http://schemas.microsoft.com/office/drawing/2014/main" id="{5B91A257-2C18-61C9-042C-A97C398FA1B2}"/>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Week2 Plan –</a:t>
            </a:r>
            <a:r>
              <a:rPr lang="en-CA" sz="4000" b="1" strike="sngStrike" dirty="0">
                <a:solidFill>
                  <a:prstClr val="black"/>
                </a:solidFill>
                <a:latin typeface="Handlee" panose="02000000000000000000" pitchFamily="2" charset="0"/>
              </a:rPr>
              <a:t>Capable</a:t>
            </a:r>
            <a:r>
              <a:rPr lang="en-CA" sz="4000" b="1" dirty="0">
                <a:solidFill>
                  <a:prstClr val="black"/>
                </a:solidFill>
                <a:latin typeface="Handlee" panose="02000000000000000000" pitchFamily="2" charset="0"/>
              </a:rPr>
              <a:t> Observable</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13" name="TextBox 12">
            <a:extLst>
              <a:ext uri="{FF2B5EF4-FFF2-40B4-BE49-F238E27FC236}">
                <a16:creationId xmlns:a16="http://schemas.microsoft.com/office/drawing/2014/main" id="{C2028C53-392E-5D12-BFDF-8F65AE9D7112}"/>
              </a:ext>
            </a:extLst>
          </p:cNvPr>
          <p:cNvSpPr txBox="1"/>
          <p:nvPr/>
        </p:nvSpPr>
        <p:spPr>
          <a:xfrm>
            <a:off x="324203" y="2068953"/>
            <a:ext cx="3569703" cy="1785104"/>
          </a:xfrm>
          <a:prstGeom prst="rect">
            <a:avLst/>
          </a:prstGeom>
          <a:noFill/>
        </p:spPr>
        <p:txBody>
          <a:bodyPr wrap="square" rtlCol="0">
            <a:spAutoFit/>
          </a:bodyPr>
          <a:lstStyle/>
          <a:p>
            <a:r>
              <a:rPr lang="en-CA" sz="2200" b="1" dirty="0"/>
              <a:t>Journey-first trap:</a:t>
            </a:r>
          </a:p>
          <a:p>
            <a:r>
              <a:rPr lang="en-CA" sz="2200" dirty="0"/>
              <a:t>“If we optimize around one player journey, we may build a special-case system instead of a general engine.”</a:t>
            </a:r>
          </a:p>
        </p:txBody>
      </p:sp>
      <p:sp>
        <p:nvSpPr>
          <p:cNvPr id="2" name="TextBox 1">
            <a:extLst>
              <a:ext uri="{FF2B5EF4-FFF2-40B4-BE49-F238E27FC236}">
                <a16:creationId xmlns:a16="http://schemas.microsoft.com/office/drawing/2014/main" id="{B8A79355-ADE5-5643-15AC-B57FB7EFD3C0}"/>
              </a:ext>
            </a:extLst>
          </p:cNvPr>
          <p:cNvSpPr txBox="1"/>
          <p:nvPr/>
        </p:nvSpPr>
        <p:spPr>
          <a:xfrm>
            <a:off x="7550694" y="2068953"/>
            <a:ext cx="4641306" cy="1785104"/>
          </a:xfrm>
          <a:prstGeom prst="rect">
            <a:avLst/>
          </a:prstGeom>
          <a:noFill/>
        </p:spPr>
        <p:txBody>
          <a:bodyPr wrap="square" rtlCol="0">
            <a:spAutoFit/>
          </a:bodyPr>
          <a:lstStyle/>
          <a:p>
            <a:r>
              <a:rPr lang="en-CA" sz="2200" b="1" dirty="0"/>
              <a:t>Architecture-first trap:</a:t>
            </a:r>
            <a:r>
              <a:rPr lang="en-CA" sz="2200" dirty="0"/>
              <a:t> </a:t>
            </a:r>
          </a:p>
          <a:p>
            <a:r>
              <a:rPr lang="en-CA" sz="2200" dirty="0"/>
              <a:t>“If we optimize around a general engine before proving a player journey, we may build elegant abstractions for the wrong problem.”</a:t>
            </a:r>
          </a:p>
        </p:txBody>
      </p:sp>
    </p:spTree>
    <p:extLst>
      <p:ext uri="{BB962C8B-B14F-4D97-AF65-F5344CB8AC3E}">
        <p14:creationId xmlns:p14="http://schemas.microsoft.com/office/powerpoint/2010/main" val="591416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479C1-8BCC-D9EE-2C55-4CC3A55C7CF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4B6302B-DE9B-D135-C259-788B27D9F426}"/>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Week2 – What I Did, And What You Might Want to Do</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10" name="TextBox 9">
            <a:extLst>
              <a:ext uri="{FF2B5EF4-FFF2-40B4-BE49-F238E27FC236}">
                <a16:creationId xmlns:a16="http://schemas.microsoft.com/office/drawing/2014/main" id="{CFFFA1EC-4DF5-4D7D-3A22-CE1A52407F34}"/>
              </a:ext>
            </a:extLst>
          </p:cNvPr>
          <p:cNvSpPr txBox="1"/>
          <p:nvPr/>
        </p:nvSpPr>
        <p:spPr>
          <a:xfrm>
            <a:off x="254411" y="2876385"/>
            <a:ext cx="8835080" cy="2585323"/>
          </a:xfrm>
          <a:prstGeom prst="rect">
            <a:avLst/>
          </a:prstGeom>
          <a:noFill/>
        </p:spPr>
        <p:txBody>
          <a:bodyPr wrap="square" rtlCol="0">
            <a:spAutoFit/>
          </a:bodyPr>
          <a:lstStyle/>
          <a:p>
            <a:r>
              <a:rPr lang="en-US" b="1" dirty="0"/>
              <a:t>Observabilities</a:t>
            </a:r>
          </a:p>
          <a:p>
            <a:pPr marL="285750" indent="-285750">
              <a:buFont typeface="Arial" panose="020B0604020202020204" pitchFamily="34" charset="0"/>
              <a:buChar char="•"/>
            </a:pPr>
            <a:r>
              <a:rPr lang="en-US" dirty="0"/>
              <a:t>Change Capture Data (CDC)</a:t>
            </a:r>
          </a:p>
          <a:p>
            <a:pPr marL="285750" indent="-285750">
              <a:buFont typeface="Arial" panose="020B0604020202020204" pitchFamily="34" charset="0"/>
              <a:buChar char="•"/>
            </a:pPr>
            <a:r>
              <a:rPr lang="en-US" dirty="0"/>
              <a:t>Observing Payload For LLM Requests</a:t>
            </a:r>
          </a:p>
          <a:p>
            <a:pPr marL="742950" lvl="1" indent="-285750">
              <a:buFont typeface="Arial" panose="020B0604020202020204" pitchFamily="34" charset="0"/>
              <a:buChar char="•"/>
            </a:pPr>
            <a:r>
              <a:rPr lang="en-US" dirty="0"/>
              <a:t>Observing Granular Token Usage</a:t>
            </a:r>
          </a:p>
          <a:p>
            <a:pPr marL="285750" indent="-285750">
              <a:buFont typeface="Arial" panose="020B0604020202020204" pitchFamily="34" charset="0"/>
              <a:buChar char="•"/>
            </a:pPr>
            <a:r>
              <a:rPr lang="en-US" dirty="0"/>
              <a:t>Telnet Raw logging</a:t>
            </a:r>
          </a:p>
          <a:p>
            <a:pPr marL="285750" indent="-285750">
              <a:buFont typeface="Arial" panose="020B0604020202020204" pitchFamily="34" charset="0"/>
              <a:buChar char="•"/>
            </a:pPr>
            <a:r>
              <a:rPr lang="en-US" dirty="0"/>
              <a:t>Update sessions to capture durations</a:t>
            </a:r>
          </a:p>
          <a:p>
            <a:pPr marL="285750" indent="-285750">
              <a:buFont typeface="Arial" panose="020B0604020202020204" pitchFamily="34" charset="0"/>
              <a:buChar char="•"/>
            </a:pPr>
            <a:r>
              <a:rPr lang="en-US" dirty="0" err="1"/>
              <a:t>MudManager</a:t>
            </a:r>
            <a:r>
              <a:rPr lang="en-US" dirty="0"/>
              <a:t> Command Calls Logging</a:t>
            </a:r>
          </a:p>
          <a:p>
            <a:pPr marL="285750" indent="-285750">
              <a:buFont typeface="Arial" panose="020B0604020202020204" pitchFamily="34" charset="0"/>
              <a:buChar char="•"/>
            </a:pPr>
            <a:r>
              <a:rPr lang="en-US" dirty="0"/>
              <a:t>Unified Observability Interface e.g. Mud Monitor</a:t>
            </a:r>
          </a:p>
          <a:p>
            <a:pPr marL="285750" indent="-285750">
              <a:buFont typeface="Arial" panose="020B0604020202020204" pitchFamily="34" charset="0"/>
              <a:buChar char="•"/>
            </a:pPr>
            <a:r>
              <a:rPr lang="en-US" dirty="0"/>
              <a:t>Mud Observer aka MUD Cockpit</a:t>
            </a:r>
          </a:p>
        </p:txBody>
      </p:sp>
      <p:sp>
        <p:nvSpPr>
          <p:cNvPr id="13" name="TextBox 12">
            <a:extLst>
              <a:ext uri="{FF2B5EF4-FFF2-40B4-BE49-F238E27FC236}">
                <a16:creationId xmlns:a16="http://schemas.microsoft.com/office/drawing/2014/main" id="{EE7BF980-65D8-5B3A-A85A-C9D12E92C1F2}"/>
              </a:ext>
            </a:extLst>
          </p:cNvPr>
          <p:cNvSpPr txBox="1"/>
          <p:nvPr/>
        </p:nvSpPr>
        <p:spPr>
          <a:xfrm>
            <a:off x="148086" y="1122059"/>
            <a:ext cx="7693572" cy="1754326"/>
          </a:xfrm>
          <a:prstGeom prst="rect">
            <a:avLst/>
          </a:prstGeom>
          <a:noFill/>
        </p:spPr>
        <p:txBody>
          <a:bodyPr wrap="square" rtlCol="0">
            <a:spAutoFit/>
          </a:bodyPr>
          <a:lstStyle/>
          <a:p>
            <a:r>
              <a:rPr lang="en-US" b="1" dirty="0"/>
              <a:t>Capabilities</a:t>
            </a:r>
          </a:p>
          <a:p>
            <a:pPr marL="285750" indent="-285750">
              <a:buFont typeface="Arial" panose="020B0604020202020204" pitchFamily="34" charset="0"/>
              <a:buChar char="•"/>
            </a:pPr>
            <a:r>
              <a:rPr lang="en-US" dirty="0"/>
              <a:t>Being able to run a subtask (an agent of a subtask)</a:t>
            </a:r>
          </a:p>
          <a:p>
            <a:pPr marL="742950" lvl="1" indent="-285750">
              <a:buFont typeface="Arial" panose="020B0604020202020204" pitchFamily="34" charset="0"/>
              <a:buChar char="•"/>
            </a:pPr>
            <a:r>
              <a:rPr lang="en-US" dirty="0"/>
              <a:t>It should share access to the MUD Sessions</a:t>
            </a:r>
          </a:p>
          <a:p>
            <a:pPr marL="742950" lvl="1" indent="-285750">
              <a:buFont typeface="Arial" panose="020B0604020202020204" pitchFamily="34" charset="0"/>
              <a:buChar char="•"/>
            </a:pPr>
            <a:r>
              <a:rPr lang="en-US" dirty="0"/>
              <a:t>It should have its own access policy</a:t>
            </a:r>
          </a:p>
          <a:p>
            <a:pPr marL="285750" indent="-285750">
              <a:buFont typeface="Arial" panose="020B0604020202020204" pitchFamily="34" charset="0"/>
              <a:buChar char="•"/>
            </a:pPr>
            <a:r>
              <a:rPr lang="en-US" dirty="0"/>
              <a:t>Defining a policy for permissions e.g. allow: look</a:t>
            </a:r>
          </a:p>
          <a:p>
            <a:pPr marL="285750" indent="-285750">
              <a:buFont typeface="Arial" panose="020B0604020202020204" pitchFamily="34" charset="0"/>
              <a:buChar char="•"/>
            </a:pPr>
            <a:r>
              <a:rPr lang="en-US" dirty="0"/>
              <a:t>Creating Lifecycle hooks e.g. </a:t>
            </a:r>
            <a:r>
              <a:rPr lang="en-US" dirty="0" err="1"/>
              <a:t>before_tool</a:t>
            </a:r>
            <a:r>
              <a:rPr lang="en-US" dirty="0"/>
              <a:t>, </a:t>
            </a:r>
            <a:r>
              <a:rPr lang="en-US" dirty="0" err="1"/>
              <a:t>after_model</a:t>
            </a:r>
            <a:r>
              <a:rPr lang="en-US" dirty="0"/>
              <a:t>, </a:t>
            </a:r>
            <a:r>
              <a:rPr lang="en-US" dirty="0" err="1"/>
              <a:t>before_toolcall</a:t>
            </a:r>
            <a:endParaRPr lang="en-US" dirty="0"/>
          </a:p>
        </p:txBody>
      </p:sp>
      <p:sp>
        <p:nvSpPr>
          <p:cNvPr id="16" name="TextBox 15">
            <a:extLst>
              <a:ext uri="{FF2B5EF4-FFF2-40B4-BE49-F238E27FC236}">
                <a16:creationId xmlns:a16="http://schemas.microsoft.com/office/drawing/2014/main" id="{823F7C25-9E1E-5068-0606-152374F6A6E0}"/>
              </a:ext>
            </a:extLst>
          </p:cNvPr>
          <p:cNvSpPr txBox="1"/>
          <p:nvPr/>
        </p:nvSpPr>
        <p:spPr>
          <a:xfrm>
            <a:off x="5572841" y="3160054"/>
            <a:ext cx="5820373" cy="1200329"/>
          </a:xfrm>
          <a:prstGeom prst="rect">
            <a:avLst/>
          </a:prstGeom>
          <a:noFill/>
        </p:spPr>
        <p:txBody>
          <a:bodyPr wrap="square" rtlCol="0">
            <a:spAutoFit/>
          </a:bodyPr>
          <a:lstStyle/>
          <a:p>
            <a:r>
              <a:rPr lang="en-US" b="1" dirty="0"/>
              <a:t>Automation</a:t>
            </a:r>
          </a:p>
          <a:p>
            <a:pPr marL="285750" indent="-285750">
              <a:buFont typeface="Arial" panose="020B0604020202020204" pitchFamily="34" charset="0"/>
              <a:buChar char="•"/>
            </a:pPr>
            <a:r>
              <a:rPr lang="en-US" dirty="0"/>
              <a:t>./bin/</a:t>
            </a:r>
            <a:r>
              <a:rPr lang="en-US" dirty="0" err="1"/>
              <a:t>move_player_to_start_room</a:t>
            </a:r>
            <a:endParaRPr lang="en-US" dirty="0"/>
          </a:p>
          <a:p>
            <a:pPr marL="285750" indent="-285750">
              <a:buFont typeface="Arial" panose="020B0604020202020204" pitchFamily="34" charset="0"/>
              <a:buChar char="•"/>
            </a:pPr>
            <a:r>
              <a:rPr lang="en-US" dirty="0"/>
              <a:t>./bin/rebuild - rebuild both gems</a:t>
            </a:r>
          </a:p>
          <a:p>
            <a:pPr marL="285750" indent="-285750">
              <a:buFont typeface="Arial" panose="020B0604020202020204" pitchFamily="34" charset="0"/>
              <a:buChar char="•"/>
            </a:pPr>
            <a:r>
              <a:rPr lang="en-US" dirty="0"/>
              <a:t>./bin/</a:t>
            </a:r>
            <a:r>
              <a:rPr lang="en-US" dirty="0" err="1"/>
              <a:t>seed_player</a:t>
            </a:r>
            <a:r>
              <a:rPr lang="en-US" dirty="0"/>
              <a:t> - create new player and stuff</a:t>
            </a:r>
          </a:p>
        </p:txBody>
      </p:sp>
      <p:sp>
        <p:nvSpPr>
          <p:cNvPr id="3" name="TextBox 2">
            <a:extLst>
              <a:ext uri="{FF2B5EF4-FFF2-40B4-BE49-F238E27FC236}">
                <a16:creationId xmlns:a16="http://schemas.microsoft.com/office/drawing/2014/main" id="{DB46932E-962A-660D-1F19-39A58F8323C1}"/>
              </a:ext>
            </a:extLst>
          </p:cNvPr>
          <p:cNvSpPr txBox="1"/>
          <p:nvPr/>
        </p:nvSpPr>
        <p:spPr>
          <a:xfrm>
            <a:off x="6557604" y="1224746"/>
            <a:ext cx="5382148" cy="1200329"/>
          </a:xfrm>
          <a:prstGeom prst="rect">
            <a:avLst/>
          </a:prstGeom>
          <a:noFill/>
        </p:spPr>
        <p:txBody>
          <a:bodyPr wrap="square" rtlCol="0">
            <a:spAutoFit/>
          </a:bodyPr>
          <a:lstStyle/>
          <a:p>
            <a:r>
              <a:rPr lang="en-US" b="1" dirty="0"/>
              <a:t>Optimizations</a:t>
            </a:r>
          </a:p>
          <a:p>
            <a:r>
              <a:rPr lang="en-US" dirty="0" err="1"/>
              <a:t>RoomParser</a:t>
            </a:r>
            <a:r>
              <a:rPr lang="en-US" dirty="0"/>
              <a:t> </a:t>
            </a:r>
          </a:p>
          <a:p>
            <a:r>
              <a:rPr lang="en-US" dirty="0"/>
              <a:t>Custom BERT-Medium Model to extract candidates</a:t>
            </a:r>
          </a:p>
          <a:p>
            <a:r>
              <a:rPr lang="en-US" dirty="0"/>
              <a:t>[TODO]Summarize descriptions into features </a:t>
            </a:r>
          </a:p>
        </p:txBody>
      </p:sp>
    </p:spTree>
    <p:extLst>
      <p:ext uri="{BB962C8B-B14F-4D97-AF65-F5344CB8AC3E}">
        <p14:creationId xmlns:p14="http://schemas.microsoft.com/office/powerpoint/2010/main" val="57108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BE22C-E5B3-3B3B-BA90-ABDDA4F312F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7837D7-7B73-BA60-55AE-4F634C83751F}"/>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Week2 Plan –</a:t>
            </a:r>
            <a:r>
              <a:rPr lang="en-CA" sz="4000" b="1" strike="sngStrike" dirty="0">
                <a:solidFill>
                  <a:prstClr val="black"/>
                </a:solidFill>
                <a:latin typeface="Handlee" panose="02000000000000000000" pitchFamily="2" charset="0"/>
              </a:rPr>
              <a:t>Capable</a:t>
            </a:r>
            <a:r>
              <a:rPr lang="en-CA" sz="4000" b="1" dirty="0">
                <a:solidFill>
                  <a:prstClr val="black"/>
                </a:solidFill>
                <a:latin typeface="Handlee" panose="02000000000000000000" pitchFamily="2" charset="0"/>
              </a:rPr>
              <a:t> Observable</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51" name="TextBox 50">
            <a:extLst>
              <a:ext uri="{FF2B5EF4-FFF2-40B4-BE49-F238E27FC236}">
                <a16:creationId xmlns:a16="http://schemas.microsoft.com/office/drawing/2014/main" id="{A97CEE4E-6B0C-99B4-FCD3-C7AA899A90A5}"/>
              </a:ext>
            </a:extLst>
          </p:cNvPr>
          <p:cNvSpPr txBox="1"/>
          <p:nvPr/>
        </p:nvSpPr>
        <p:spPr>
          <a:xfrm>
            <a:off x="885825" y="1560907"/>
            <a:ext cx="5514975" cy="2123658"/>
          </a:xfrm>
          <a:prstGeom prst="rect">
            <a:avLst/>
          </a:prstGeom>
          <a:noFill/>
        </p:spPr>
        <p:txBody>
          <a:bodyPr wrap="square" rtlCol="0">
            <a:spAutoFit/>
          </a:bodyPr>
          <a:lstStyle/>
          <a:p>
            <a:r>
              <a:rPr lang="en-CA" sz="2200" b="1" dirty="0"/>
              <a:t>Provenance</a:t>
            </a:r>
            <a:r>
              <a:rPr lang="en-CA" sz="2200" dirty="0"/>
              <a:t> means the place of origin or the documented history of ownership of an object. </a:t>
            </a:r>
          </a:p>
          <a:p>
            <a:endParaRPr lang="en-CA" sz="2200" dirty="0"/>
          </a:p>
          <a:p>
            <a:r>
              <a:rPr lang="en-CA" sz="2200" dirty="0"/>
              <a:t>It traces where something came from and who has owned it over time.</a:t>
            </a:r>
          </a:p>
        </p:txBody>
      </p:sp>
      <p:pic>
        <p:nvPicPr>
          <p:cNvPr id="55" name="Picture 54">
            <a:extLst>
              <a:ext uri="{FF2B5EF4-FFF2-40B4-BE49-F238E27FC236}">
                <a16:creationId xmlns:a16="http://schemas.microsoft.com/office/drawing/2014/main" id="{AD52D7B1-90BE-E89F-ECB4-126B251B6E32}"/>
              </a:ext>
            </a:extLst>
          </p:cNvPr>
          <p:cNvPicPr>
            <a:picLocks noChangeAspect="1"/>
          </p:cNvPicPr>
          <p:nvPr/>
        </p:nvPicPr>
        <p:blipFill>
          <a:blip r:embed="rId2"/>
          <a:stretch>
            <a:fillRect/>
          </a:stretch>
        </p:blipFill>
        <p:spPr>
          <a:xfrm>
            <a:off x="7581900" y="1351357"/>
            <a:ext cx="4129982" cy="5506643"/>
          </a:xfrm>
          <a:prstGeom prst="rect">
            <a:avLst/>
          </a:prstGeom>
        </p:spPr>
      </p:pic>
    </p:spTree>
    <p:extLst>
      <p:ext uri="{BB962C8B-B14F-4D97-AF65-F5344CB8AC3E}">
        <p14:creationId xmlns:p14="http://schemas.microsoft.com/office/powerpoint/2010/main" val="1612550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35A06-20FE-9BD4-763C-91CA3198C27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3465C4-10CE-D087-E229-0B1C0EC70863}"/>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Expensive Token Cost To Find Bakery</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13" name="TextBox 12">
            <a:extLst>
              <a:ext uri="{FF2B5EF4-FFF2-40B4-BE49-F238E27FC236}">
                <a16:creationId xmlns:a16="http://schemas.microsoft.com/office/drawing/2014/main" id="{372FB405-F569-5357-241F-6DA4A34F2D67}"/>
              </a:ext>
            </a:extLst>
          </p:cNvPr>
          <p:cNvSpPr txBox="1"/>
          <p:nvPr/>
        </p:nvSpPr>
        <p:spPr>
          <a:xfrm>
            <a:off x="619513" y="1218999"/>
            <a:ext cx="6243326" cy="2031325"/>
          </a:xfrm>
          <a:prstGeom prst="rect">
            <a:avLst/>
          </a:prstGeom>
          <a:noFill/>
        </p:spPr>
        <p:txBody>
          <a:bodyPr wrap="square" rtlCol="0">
            <a:spAutoFit/>
          </a:bodyPr>
          <a:lstStyle/>
          <a:p>
            <a:r>
              <a:rPr lang="en-CA" dirty="0"/>
              <a:t>Baseline Agent:</a:t>
            </a:r>
          </a:p>
          <a:p>
            <a:pPr marL="285750" indent="-285750">
              <a:buFont typeface="Arial" panose="020B0604020202020204" pitchFamily="34" charset="0"/>
              <a:buChar char="•"/>
            </a:pPr>
            <a:r>
              <a:rPr lang="en-CA" dirty="0"/>
              <a:t>Goal: Find the Bakery</a:t>
            </a:r>
          </a:p>
          <a:p>
            <a:pPr marL="285750" indent="-285750">
              <a:buFont typeface="Arial" panose="020B0604020202020204" pitchFamily="34" charset="0"/>
              <a:buChar char="•"/>
            </a:pPr>
            <a:r>
              <a:rPr lang="en-CA" dirty="0"/>
              <a:t>Result: </a:t>
            </a:r>
          </a:p>
          <a:p>
            <a:pPr marL="742950" lvl="1" indent="-285750">
              <a:buFont typeface="Arial" panose="020B0604020202020204" pitchFamily="34" charset="0"/>
              <a:buChar char="•"/>
            </a:pPr>
            <a:r>
              <a:rPr lang="en-CA" dirty="0"/>
              <a:t>65K tokens, and it may or may not find the bakery.</a:t>
            </a:r>
          </a:p>
          <a:p>
            <a:pPr marL="742950" lvl="1" indent="-285750">
              <a:buFont typeface="Arial" panose="020B0604020202020204" pitchFamily="34" charset="0"/>
              <a:buChar char="•"/>
            </a:pPr>
            <a:r>
              <a:rPr lang="en-CA" dirty="0"/>
              <a:t>Its consuming full text every time</a:t>
            </a:r>
          </a:p>
          <a:p>
            <a:pPr marL="742950" lvl="1" indent="-285750">
              <a:buFont typeface="Arial" panose="020B0604020202020204" pitchFamily="34" charset="0"/>
              <a:buChar char="•"/>
            </a:pPr>
            <a:r>
              <a:rPr lang="en-CA" dirty="0"/>
              <a:t>It has no memory if it already traversed a room</a:t>
            </a:r>
          </a:p>
          <a:p>
            <a:pPr marL="742950" lvl="1" indent="-285750">
              <a:buFont typeface="Arial" panose="020B0604020202020204" pitchFamily="34" charset="0"/>
              <a:buChar char="•"/>
            </a:pPr>
            <a:r>
              <a:rPr lang="en-CA" dirty="0"/>
              <a:t>It faulty relies on description text of possible exits</a:t>
            </a:r>
          </a:p>
        </p:txBody>
      </p:sp>
      <p:sp>
        <p:nvSpPr>
          <p:cNvPr id="14" name="TextBox 13">
            <a:extLst>
              <a:ext uri="{FF2B5EF4-FFF2-40B4-BE49-F238E27FC236}">
                <a16:creationId xmlns:a16="http://schemas.microsoft.com/office/drawing/2014/main" id="{64273015-7B3D-08EA-4DE1-DC021DB7990A}"/>
              </a:ext>
            </a:extLst>
          </p:cNvPr>
          <p:cNvSpPr txBox="1"/>
          <p:nvPr/>
        </p:nvSpPr>
        <p:spPr>
          <a:xfrm>
            <a:off x="4645573" y="4668101"/>
            <a:ext cx="1555023" cy="567811"/>
          </a:xfrm>
          <a:prstGeom prst="rect">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txBody>
          <a:bodyPr wrap="square" lIns="144000" tIns="144000" rIns="144000" bIns="144000" rtlCol="0">
            <a:spAutoFit/>
          </a:bodyPr>
          <a:lstStyle/>
          <a:p>
            <a:r>
              <a:rPr lang="en-CA" dirty="0" err="1"/>
              <a:t>RoomParser</a:t>
            </a:r>
            <a:endParaRPr lang="en-CA" dirty="0"/>
          </a:p>
        </p:txBody>
      </p:sp>
      <p:sp>
        <p:nvSpPr>
          <p:cNvPr id="16" name="TextBox 15">
            <a:extLst>
              <a:ext uri="{FF2B5EF4-FFF2-40B4-BE49-F238E27FC236}">
                <a16:creationId xmlns:a16="http://schemas.microsoft.com/office/drawing/2014/main" id="{CB3F0694-2913-439D-D8FE-9E88AA550497}"/>
              </a:ext>
            </a:extLst>
          </p:cNvPr>
          <p:cNvSpPr txBox="1"/>
          <p:nvPr/>
        </p:nvSpPr>
        <p:spPr>
          <a:xfrm>
            <a:off x="6862839" y="4668100"/>
            <a:ext cx="1555023" cy="567811"/>
          </a:xfrm>
          <a:prstGeom prst="rect">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txBody>
          <a:bodyPr wrap="square" lIns="144000" tIns="144000" rIns="144000" bIns="144000" rtlCol="0">
            <a:spAutoFit/>
          </a:bodyPr>
          <a:lstStyle/>
          <a:p>
            <a:r>
              <a:rPr lang="en-CA" dirty="0"/>
              <a:t>Agent</a:t>
            </a:r>
          </a:p>
        </p:txBody>
      </p:sp>
      <p:sp>
        <p:nvSpPr>
          <p:cNvPr id="17" name="TextBox 16">
            <a:extLst>
              <a:ext uri="{FF2B5EF4-FFF2-40B4-BE49-F238E27FC236}">
                <a16:creationId xmlns:a16="http://schemas.microsoft.com/office/drawing/2014/main" id="{114A3CCC-E7ED-5A87-5932-2606D063E65C}"/>
              </a:ext>
            </a:extLst>
          </p:cNvPr>
          <p:cNvSpPr txBox="1"/>
          <p:nvPr/>
        </p:nvSpPr>
        <p:spPr>
          <a:xfrm>
            <a:off x="105215" y="4272677"/>
            <a:ext cx="4540358" cy="2585323"/>
          </a:xfrm>
          <a:prstGeom prst="rect">
            <a:avLst/>
          </a:prstGeom>
          <a:noFill/>
        </p:spPr>
        <p:txBody>
          <a:bodyPr wrap="square" rtlCol="0">
            <a:spAutoFit/>
          </a:bodyPr>
          <a:lstStyle/>
          <a:p>
            <a:r>
              <a:rPr lang="en-CA" dirty="0"/>
              <a:t>Main Street</a:t>
            </a:r>
          </a:p>
          <a:p>
            <a:r>
              <a:rPr lang="en-CA" dirty="0"/>
              <a:t>   You are on the main street crossing through town.  To the north is the</a:t>
            </a:r>
          </a:p>
          <a:p>
            <a:r>
              <a:rPr lang="en-CA" dirty="0"/>
              <a:t>general store, and the main street continues east.  To the west you see and</a:t>
            </a:r>
          </a:p>
          <a:p>
            <a:r>
              <a:rPr lang="en-CA" dirty="0"/>
              <a:t>hear the market place, to the south a small door leads into the Pet Shop.</a:t>
            </a:r>
          </a:p>
          <a:p>
            <a:r>
              <a:rPr lang="en-CA" dirty="0"/>
              <a:t>[ Exits: n e s w ]</a:t>
            </a:r>
          </a:p>
          <a:p>
            <a:endParaRPr lang="en-CA" dirty="0"/>
          </a:p>
        </p:txBody>
      </p:sp>
    </p:spTree>
    <p:extLst>
      <p:ext uri="{BB962C8B-B14F-4D97-AF65-F5344CB8AC3E}">
        <p14:creationId xmlns:p14="http://schemas.microsoft.com/office/powerpoint/2010/main" val="3093029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5CEDD-D602-C483-BDE4-EFD7A6DD33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1A230D-371A-63CD-FFAF-BE58FCBAB8F5}"/>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BERT-Medium and Look Candidates</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2" name="TextBox 1">
            <a:extLst>
              <a:ext uri="{FF2B5EF4-FFF2-40B4-BE49-F238E27FC236}">
                <a16:creationId xmlns:a16="http://schemas.microsoft.com/office/drawing/2014/main" id="{852E3C58-931E-4565-39E8-06107C351BC3}"/>
              </a:ext>
            </a:extLst>
          </p:cNvPr>
          <p:cNvSpPr txBox="1"/>
          <p:nvPr/>
        </p:nvSpPr>
        <p:spPr>
          <a:xfrm>
            <a:off x="172099" y="3635810"/>
            <a:ext cx="8283533" cy="2031325"/>
          </a:xfrm>
          <a:prstGeom prst="rect">
            <a:avLst/>
          </a:prstGeom>
          <a:noFill/>
        </p:spPr>
        <p:txBody>
          <a:bodyPr wrap="square" rtlCol="0">
            <a:spAutoFit/>
          </a:bodyPr>
          <a:lstStyle/>
          <a:p>
            <a:pPr marL="285750" indent="-285750">
              <a:buFont typeface="Arial" panose="020B0604020202020204" pitchFamily="34" charset="0"/>
              <a:buChar char="•"/>
            </a:pPr>
            <a:r>
              <a:rPr lang="en-CA" dirty="0"/>
              <a:t>BERT-medium token classifier (</a:t>
            </a:r>
            <a:r>
              <a:rPr lang="en-US" dirty="0"/>
              <a:t>google/bert_uncased_L-8_H-512_A-8</a:t>
            </a:r>
            <a:r>
              <a:rPr lang="en-CA" dirty="0"/>
              <a:t>)</a:t>
            </a:r>
          </a:p>
          <a:p>
            <a:pPr marL="285750" indent="-285750">
              <a:buFont typeface="Arial" panose="020B0604020202020204" pitchFamily="34" charset="0"/>
              <a:buChar char="•"/>
            </a:pPr>
            <a:r>
              <a:rPr lang="en-CA" dirty="0"/>
              <a:t>41-million-parameter model trained on local GPUs.</a:t>
            </a:r>
          </a:p>
          <a:p>
            <a:pPr marL="285750" indent="-285750">
              <a:buFont typeface="Arial" panose="020B0604020202020204" pitchFamily="34" charset="0"/>
              <a:buChar char="•"/>
            </a:pPr>
            <a:r>
              <a:rPr lang="en-US" b="1" dirty="0">
                <a:solidFill>
                  <a:srgbClr val="FF0000"/>
                </a:solidFill>
              </a:rPr>
              <a:t>~34s and  3 LLM calls per room </a:t>
            </a:r>
            <a:r>
              <a:rPr lang="en-US" dirty="0"/>
              <a:t>vs 1 call and ~7ms</a:t>
            </a:r>
          </a:p>
          <a:p>
            <a:pPr marL="285750" indent="-285750">
              <a:buFont typeface="Arial" panose="020B0604020202020204" pitchFamily="34" charset="0"/>
              <a:buChar char="•"/>
            </a:pPr>
            <a:r>
              <a:rPr lang="en-US" dirty="0"/>
              <a:t>Exported to ONNX, quantized to int8 (41MB)</a:t>
            </a:r>
          </a:p>
          <a:p>
            <a:pPr marL="285750" indent="-285750">
              <a:buFont typeface="Arial" panose="020B0604020202020204" pitchFamily="34" charset="0"/>
              <a:buChar char="•"/>
            </a:pPr>
            <a:r>
              <a:rPr lang="en-US" dirty="0"/>
              <a:t>Implemented to run in Ruby</a:t>
            </a:r>
          </a:p>
          <a:p>
            <a:pPr marL="285750" indent="-285750">
              <a:buFont typeface="Arial" panose="020B0604020202020204" pitchFamily="34" charset="0"/>
              <a:buChar char="•"/>
            </a:pPr>
            <a:r>
              <a:rPr lang="en-US" dirty="0"/>
              <a:t>Used subset of world data to provide ground truth</a:t>
            </a:r>
          </a:p>
          <a:p>
            <a:pPr marL="285750" indent="-285750">
              <a:buFont typeface="Arial" panose="020B0604020202020204" pitchFamily="34" charset="0"/>
              <a:buChar char="•"/>
            </a:pPr>
            <a:r>
              <a:rPr lang="en-US" dirty="0"/>
              <a:t>precision **55.6%**, recall **55.2%**, F1 **55.4%**</a:t>
            </a:r>
            <a:endParaRPr lang="en-CA" dirty="0"/>
          </a:p>
        </p:txBody>
      </p:sp>
      <p:pic>
        <p:nvPicPr>
          <p:cNvPr id="5" name="Picture 4">
            <a:extLst>
              <a:ext uri="{FF2B5EF4-FFF2-40B4-BE49-F238E27FC236}">
                <a16:creationId xmlns:a16="http://schemas.microsoft.com/office/drawing/2014/main" id="{B53FB81D-37A9-218E-B14F-309FBCC303B1}"/>
              </a:ext>
            </a:extLst>
          </p:cNvPr>
          <p:cNvPicPr>
            <a:picLocks noChangeAspect="1"/>
          </p:cNvPicPr>
          <p:nvPr/>
        </p:nvPicPr>
        <p:blipFill>
          <a:blip r:embed="rId2"/>
          <a:stretch>
            <a:fillRect/>
          </a:stretch>
        </p:blipFill>
        <p:spPr>
          <a:xfrm>
            <a:off x="172099" y="1104576"/>
            <a:ext cx="7440063" cy="2324424"/>
          </a:xfrm>
          <a:prstGeom prst="rect">
            <a:avLst/>
          </a:prstGeom>
          <a:ln>
            <a:solidFill>
              <a:schemeClr val="tx1">
                <a:lumMod val="65000"/>
                <a:lumOff val="35000"/>
              </a:schemeClr>
            </a:solidFill>
          </a:ln>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306E958A-5745-CC36-0B04-8E13D4906FC2}"/>
              </a:ext>
            </a:extLst>
          </p:cNvPr>
          <p:cNvSpPr txBox="1"/>
          <p:nvPr/>
        </p:nvSpPr>
        <p:spPr>
          <a:xfrm>
            <a:off x="7818634" y="1263721"/>
            <a:ext cx="3770616" cy="923330"/>
          </a:xfrm>
          <a:prstGeom prst="rect">
            <a:avLst/>
          </a:prstGeom>
          <a:noFill/>
        </p:spPr>
        <p:txBody>
          <a:bodyPr wrap="square" rtlCol="0">
            <a:spAutoFit/>
          </a:bodyPr>
          <a:lstStyle/>
          <a:p>
            <a:r>
              <a:rPr lang="en-CA" dirty="0"/>
              <a:t>Extracts out </a:t>
            </a:r>
            <a:r>
              <a:rPr lang="en-CA" b="1" dirty="0">
                <a:solidFill>
                  <a:srgbClr val="FF0000"/>
                </a:solidFill>
              </a:rPr>
              <a:t>look targets</a:t>
            </a:r>
            <a:r>
              <a:rPr lang="en-CA" dirty="0"/>
              <a:t>.</a:t>
            </a:r>
          </a:p>
          <a:p>
            <a:r>
              <a:rPr lang="en-CA" dirty="0"/>
              <a:t>Things that we should know about in our environment.</a:t>
            </a:r>
          </a:p>
        </p:txBody>
      </p:sp>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34F4E995-2FCE-458C-5AD5-E4152A555260}"/>
                  </a:ext>
                </a:extLst>
              </p14:cNvPr>
              <p14:cNvContentPartPr/>
              <p14:nvPr/>
            </p14:nvContentPartPr>
            <p14:xfrm>
              <a:off x="7182162" y="2157253"/>
              <a:ext cx="1109520" cy="425880"/>
            </p14:xfrm>
          </p:contentPart>
        </mc:Choice>
        <mc:Fallback>
          <p:pic>
            <p:nvPicPr>
              <p:cNvPr id="8" name="Ink 7">
                <a:extLst>
                  <a:ext uri="{FF2B5EF4-FFF2-40B4-BE49-F238E27FC236}">
                    <a16:creationId xmlns:a16="http://schemas.microsoft.com/office/drawing/2014/main" id="{34F4E995-2FCE-458C-5AD5-E4152A555260}"/>
                  </a:ext>
                </a:extLst>
              </p:cNvPr>
              <p:cNvPicPr/>
              <p:nvPr/>
            </p:nvPicPr>
            <p:blipFill>
              <a:blip r:embed="rId4"/>
              <a:stretch>
                <a:fillRect/>
              </a:stretch>
            </p:blipFill>
            <p:spPr>
              <a:xfrm>
                <a:off x="7173162" y="2148253"/>
                <a:ext cx="1127160" cy="443520"/>
              </a:xfrm>
              <a:prstGeom prst="rect">
                <a:avLst/>
              </a:prstGeom>
            </p:spPr>
          </p:pic>
        </mc:Fallback>
      </mc:AlternateContent>
      <p:sp>
        <p:nvSpPr>
          <p:cNvPr id="9" name="TextBox 8">
            <a:extLst>
              <a:ext uri="{FF2B5EF4-FFF2-40B4-BE49-F238E27FC236}">
                <a16:creationId xmlns:a16="http://schemas.microsoft.com/office/drawing/2014/main" id="{CCA734CB-8073-901F-6FE1-FB9A77DCA7C7}"/>
              </a:ext>
            </a:extLst>
          </p:cNvPr>
          <p:cNvSpPr txBox="1"/>
          <p:nvPr/>
        </p:nvSpPr>
        <p:spPr>
          <a:xfrm>
            <a:off x="565079" y="5753528"/>
            <a:ext cx="10561833" cy="923330"/>
          </a:xfrm>
          <a:prstGeom prst="rect">
            <a:avLst/>
          </a:prstGeom>
          <a:noFill/>
        </p:spPr>
        <p:txBody>
          <a:bodyPr wrap="square" rtlCol="0">
            <a:spAutoFit/>
          </a:bodyPr>
          <a:lstStyle/>
          <a:p>
            <a:r>
              <a:rPr lang="en-CA" dirty="0"/>
              <a:t>Even if it misses some, we can have an extra reasoning step later if we hit a </a:t>
            </a:r>
            <a:r>
              <a:rPr lang="en-CA" dirty="0" err="1"/>
              <a:t>deadend</a:t>
            </a:r>
            <a:r>
              <a:rPr lang="en-CA" dirty="0"/>
              <a:t>. </a:t>
            </a:r>
            <a:r>
              <a:rPr lang="en-CA" dirty="0" err="1"/>
              <a:t>Eg.</a:t>
            </a:r>
            <a:br>
              <a:rPr lang="en-CA" dirty="0"/>
            </a:br>
            <a:r>
              <a:rPr lang="en-CA" dirty="0"/>
              <a:t>“I didn’t find a key, let me think about all the places it could be and give a deeper read if I missed possible targets, mobs or NPCs.”</a:t>
            </a:r>
          </a:p>
        </p:txBody>
      </p:sp>
    </p:spTree>
    <p:extLst>
      <p:ext uri="{BB962C8B-B14F-4D97-AF65-F5344CB8AC3E}">
        <p14:creationId xmlns:p14="http://schemas.microsoft.com/office/powerpoint/2010/main" val="2048687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D9001-CA51-7BF7-B8A4-6CFB10A2408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ACF9641-D1E5-BD96-99D3-766D8662A7B8}"/>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The TUI Problem</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pic>
        <p:nvPicPr>
          <p:cNvPr id="7" name="Picture 6">
            <a:extLst>
              <a:ext uri="{FF2B5EF4-FFF2-40B4-BE49-F238E27FC236}">
                <a16:creationId xmlns:a16="http://schemas.microsoft.com/office/drawing/2014/main" id="{4BE328E8-4801-BC9F-97D9-FC5CECFC7909}"/>
              </a:ext>
            </a:extLst>
          </p:cNvPr>
          <p:cNvPicPr>
            <a:picLocks noChangeAspect="1"/>
          </p:cNvPicPr>
          <p:nvPr/>
        </p:nvPicPr>
        <p:blipFill>
          <a:blip r:embed="rId2"/>
          <a:stretch>
            <a:fillRect/>
          </a:stretch>
        </p:blipFill>
        <p:spPr>
          <a:xfrm>
            <a:off x="1096724" y="2485498"/>
            <a:ext cx="9793067" cy="2286319"/>
          </a:xfrm>
          <a:prstGeom prst="rect">
            <a:avLst/>
          </a:prstGeom>
          <a:ln>
            <a:solidFill>
              <a:schemeClr val="tx1">
                <a:lumMod val="65000"/>
                <a:lumOff val="35000"/>
              </a:schemeClr>
            </a:solidFill>
          </a:ln>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51DBD755-AE45-188E-B205-5A23348BDD3B}"/>
              </a:ext>
            </a:extLst>
          </p:cNvPr>
          <p:cNvSpPr txBox="1"/>
          <p:nvPr/>
        </p:nvSpPr>
        <p:spPr>
          <a:xfrm>
            <a:off x="1570232" y="1288794"/>
            <a:ext cx="8846049" cy="923330"/>
          </a:xfrm>
          <a:prstGeom prst="rect">
            <a:avLst/>
          </a:prstGeom>
          <a:noFill/>
        </p:spPr>
        <p:txBody>
          <a:bodyPr wrap="square" rtlCol="0">
            <a:spAutoFit/>
          </a:bodyPr>
          <a:lstStyle/>
          <a:p>
            <a:r>
              <a:rPr lang="en-US" dirty="0"/>
              <a:t>The TUI redrew the whole screen on a 60ms tick on the main thread, and Ruby's GVL let that render hold the lock starving the agent's worker thread between events and adding a flat ~0.42s gap per log event. Confirmed by a </a:t>
            </a:r>
            <a:r>
              <a:rPr lang="en-US" b="1" dirty="0">
                <a:solidFill>
                  <a:srgbClr val="FF0000"/>
                </a:solidFill>
              </a:rPr>
              <a:t>--no-tui </a:t>
            </a:r>
            <a:r>
              <a:rPr lang="en-US" dirty="0"/>
              <a:t>run that made it fast.</a:t>
            </a:r>
            <a:endParaRPr lang="en-CA" dirty="0"/>
          </a:p>
        </p:txBody>
      </p:sp>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E1DEFA67-2757-D4A1-B284-E4504DAA1B23}"/>
                  </a:ext>
                </a:extLst>
              </p14:cNvPr>
              <p14:cNvContentPartPr/>
              <p14:nvPr/>
            </p14:nvContentPartPr>
            <p14:xfrm>
              <a:off x="2723922" y="2545693"/>
              <a:ext cx="546120" cy="415800"/>
            </p14:xfrm>
          </p:contentPart>
        </mc:Choice>
        <mc:Fallback>
          <p:pic>
            <p:nvPicPr>
              <p:cNvPr id="11" name="Ink 10">
                <a:extLst>
                  <a:ext uri="{FF2B5EF4-FFF2-40B4-BE49-F238E27FC236}">
                    <a16:creationId xmlns:a16="http://schemas.microsoft.com/office/drawing/2014/main" id="{E1DEFA67-2757-D4A1-B284-E4504DAA1B23}"/>
                  </a:ext>
                </a:extLst>
              </p:cNvPr>
              <p:cNvPicPr/>
              <p:nvPr/>
            </p:nvPicPr>
            <p:blipFill>
              <a:blip r:embed="rId4"/>
              <a:stretch>
                <a:fillRect/>
              </a:stretch>
            </p:blipFill>
            <p:spPr>
              <a:xfrm>
                <a:off x="2715282" y="2537053"/>
                <a:ext cx="563760" cy="4334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2" name="Ink 11">
                <a:extLst>
                  <a:ext uri="{FF2B5EF4-FFF2-40B4-BE49-F238E27FC236}">
                    <a16:creationId xmlns:a16="http://schemas.microsoft.com/office/drawing/2014/main" id="{93B61767-7120-4E40-5C4D-ED1043CD705A}"/>
                  </a:ext>
                </a:extLst>
              </p14:cNvPr>
              <p14:cNvContentPartPr/>
              <p14:nvPr/>
            </p14:nvContentPartPr>
            <p14:xfrm>
              <a:off x="2763522" y="3437773"/>
              <a:ext cx="619200" cy="428040"/>
            </p14:xfrm>
          </p:contentPart>
        </mc:Choice>
        <mc:Fallback>
          <p:pic>
            <p:nvPicPr>
              <p:cNvPr id="12" name="Ink 11">
                <a:extLst>
                  <a:ext uri="{FF2B5EF4-FFF2-40B4-BE49-F238E27FC236}">
                    <a16:creationId xmlns:a16="http://schemas.microsoft.com/office/drawing/2014/main" id="{93B61767-7120-4E40-5C4D-ED1043CD705A}"/>
                  </a:ext>
                </a:extLst>
              </p:cNvPr>
              <p:cNvPicPr/>
              <p:nvPr/>
            </p:nvPicPr>
            <p:blipFill>
              <a:blip r:embed="rId6"/>
              <a:stretch>
                <a:fillRect/>
              </a:stretch>
            </p:blipFill>
            <p:spPr>
              <a:xfrm>
                <a:off x="2754882" y="3428773"/>
                <a:ext cx="636840" cy="445680"/>
              </a:xfrm>
              <a:prstGeom prst="rect">
                <a:avLst/>
              </a:prstGeom>
            </p:spPr>
          </p:pic>
        </mc:Fallback>
      </mc:AlternateContent>
      <p:sp>
        <p:nvSpPr>
          <p:cNvPr id="13" name="TextBox 12">
            <a:extLst>
              <a:ext uri="{FF2B5EF4-FFF2-40B4-BE49-F238E27FC236}">
                <a16:creationId xmlns:a16="http://schemas.microsoft.com/office/drawing/2014/main" id="{7832811B-211E-AB14-5E52-B578E0819445}"/>
              </a:ext>
            </a:extLst>
          </p:cNvPr>
          <p:cNvSpPr txBox="1"/>
          <p:nvPr/>
        </p:nvSpPr>
        <p:spPr>
          <a:xfrm>
            <a:off x="1818526" y="5065160"/>
            <a:ext cx="8054939" cy="646331"/>
          </a:xfrm>
          <a:prstGeom prst="rect">
            <a:avLst/>
          </a:prstGeom>
          <a:noFill/>
        </p:spPr>
        <p:txBody>
          <a:bodyPr wrap="square" rtlCol="0">
            <a:spAutoFit/>
          </a:bodyPr>
          <a:lstStyle/>
          <a:p>
            <a:r>
              <a:rPr lang="en-CA" dirty="0"/>
              <a:t>Could we fix the TUI? Maybe, but the realization that the web-interface is the prefer way to monitor and maybe TUI just doesn’t matter for our use-case.</a:t>
            </a:r>
          </a:p>
        </p:txBody>
      </p:sp>
    </p:spTree>
    <p:extLst>
      <p:ext uri="{BB962C8B-B14F-4D97-AF65-F5344CB8AC3E}">
        <p14:creationId xmlns:p14="http://schemas.microsoft.com/office/powerpoint/2010/main" val="2064131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71101-9878-4018-FC83-87276EA09E2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B1213FC-A901-64C8-677D-A04CDBDC672B}"/>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Week2 Plan –</a:t>
            </a:r>
            <a:r>
              <a:rPr lang="en-CA" sz="4000" b="1" strike="sngStrike" dirty="0">
                <a:solidFill>
                  <a:prstClr val="black"/>
                </a:solidFill>
                <a:latin typeface="Handlee" panose="02000000000000000000" pitchFamily="2" charset="0"/>
              </a:rPr>
              <a:t>Capable</a:t>
            </a:r>
            <a:r>
              <a:rPr lang="en-CA" sz="4000" b="1" dirty="0">
                <a:solidFill>
                  <a:prstClr val="black"/>
                </a:solidFill>
                <a:latin typeface="Handlee" panose="02000000000000000000" pitchFamily="2" charset="0"/>
              </a:rPr>
              <a:t> Observable</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6" name="TextBox 5">
            <a:extLst>
              <a:ext uri="{FF2B5EF4-FFF2-40B4-BE49-F238E27FC236}">
                <a16:creationId xmlns:a16="http://schemas.microsoft.com/office/drawing/2014/main" id="{E96305A3-C768-0426-F45A-D7F947025B16}"/>
              </a:ext>
            </a:extLst>
          </p:cNvPr>
          <p:cNvSpPr txBox="1"/>
          <p:nvPr/>
        </p:nvSpPr>
        <p:spPr>
          <a:xfrm>
            <a:off x="4358171" y="2577472"/>
            <a:ext cx="1692986" cy="369332"/>
          </a:xfrm>
          <a:prstGeom prst="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txBody>
          <a:bodyPr wrap="square" rtlCol="0">
            <a:spAutoFit/>
          </a:bodyPr>
          <a:lstStyle/>
          <a:p>
            <a:r>
              <a:rPr lang="en-CA" dirty="0"/>
              <a:t>Agent</a:t>
            </a:r>
          </a:p>
        </p:txBody>
      </p:sp>
      <p:sp>
        <p:nvSpPr>
          <p:cNvPr id="8" name="TextBox 7">
            <a:extLst>
              <a:ext uri="{FF2B5EF4-FFF2-40B4-BE49-F238E27FC236}">
                <a16:creationId xmlns:a16="http://schemas.microsoft.com/office/drawing/2014/main" id="{3E357F95-303E-8C8E-FD61-D48EBDCC4F13}"/>
              </a:ext>
            </a:extLst>
          </p:cNvPr>
          <p:cNvSpPr txBox="1"/>
          <p:nvPr/>
        </p:nvSpPr>
        <p:spPr>
          <a:xfrm>
            <a:off x="4358169" y="3379546"/>
            <a:ext cx="1692987" cy="369332"/>
          </a:xfrm>
          <a:prstGeom prst="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txBody>
          <a:bodyPr wrap="square" rtlCol="0">
            <a:spAutoFit/>
          </a:bodyPr>
          <a:lstStyle/>
          <a:p>
            <a:r>
              <a:rPr lang="en-CA" dirty="0"/>
              <a:t>Mud Manager</a:t>
            </a:r>
          </a:p>
        </p:txBody>
      </p:sp>
      <p:sp>
        <p:nvSpPr>
          <p:cNvPr id="10" name="TextBox 9">
            <a:extLst>
              <a:ext uri="{FF2B5EF4-FFF2-40B4-BE49-F238E27FC236}">
                <a16:creationId xmlns:a16="http://schemas.microsoft.com/office/drawing/2014/main" id="{2C7B239E-0D4D-E5C0-305D-8D098D8C84D3}"/>
              </a:ext>
            </a:extLst>
          </p:cNvPr>
          <p:cNvSpPr txBox="1"/>
          <p:nvPr/>
        </p:nvSpPr>
        <p:spPr>
          <a:xfrm>
            <a:off x="4358169" y="4394723"/>
            <a:ext cx="1692987" cy="369332"/>
          </a:xfrm>
          <a:prstGeom prst="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txBody>
          <a:bodyPr wrap="square" rtlCol="0">
            <a:spAutoFit/>
          </a:bodyPr>
          <a:lstStyle/>
          <a:p>
            <a:r>
              <a:rPr lang="en-CA" dirty="0"/>
              <a:t>Telnet</a:t>
            </a:r>
          </a:p>
        </p:txBody>
      </p:sp>
      <p:sp>
        <p:nvSpPr>
          <p:cNvPr id="3" name="TextBox 2">
            <a:extLst>
              <a:ext uri="{FF2B5EF4-FFF2-40B4-BE49-F238E27FC236}">
                <a16:creationId xmlns:a16="http://schemas.microsoft.com/office/drawing/2014/main" id="{662CFAF1-032E-F253-C270-4282D57E3294}"/>
              </a:ext>
            </a:extLst>
          </p:cNvPr>
          <p:cNvSpPr txBox="1"/>
          <p:nvPr/>
        </p:nvSpPr>
        <p:spPr>
          <a:xfrm>
            <a:off x="7002853" y="2577472"/>
            <a:ext cx="1692986" cy="369332"/>
          </a:xfrm>
          <a:prstGeom prst="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txBody>
          <a:bodyPr wrap="square" rtlCol="0">
            <a:spAutoFit/>
          </a:bodyPr>
          <a:lstStyle/>
          <a:p>
            <a:r>
              <a:rPr lang="en-CA" dirty="0"/>
              <a:t>API</a:t>
            </a:r>
          </a:p>
        </p:txBody>
      </p:sp>
      <p:cxnSp>
        <p:nvCxnSpPr>
          <p:cNvPr id="9" name="Straight Arrow Connector 8">
            <a:extLst>
              <a:ext uri="{FF2B5EF4-FFF2-40B4-BE49-F238E27FC236}">
                <a16:creationId xmlns:a16="http://schemas.microsoft.com/office/drawing/2014/main" id="{1EAC2696-56FF-4AD9-2D48-7760797B9A37}"/>
              </a:ext>
            </a:extLst>
          </p:cNvPr>
          <p:cNvCxnSpPr>
            <a:stCxn id="6" idx="3"/>
            <a:endCxn id="3" idx="1"/>
          </p:cNvCxnSpPr>
          <p:nvPr/>
        </p:nvCxnSpPr>
        <p:spPr>
          <a:xfrm>
            <a:off x="6051157" y="2762138"/>
            <a:ext cx="9516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BC15C4AC-9F1B-3F2E-5C43-F9AE643FE1DA}"/>
              </a:ext>
            </a:extLst>
          </p:cNvPr>
          <p:cNvCxnSpPr>
            <a:stCxn id="6" idx="2"/>
            <a:endCxn id="8" idx="0"/>
          </p:cNvCxnSpPr>
          <p:nvPr/>
        </p:nvCxnSpPr>
        <p:spPr>
          <a:xfrm flipH="1">
            <a:off x="5204663" y="2946804"/>
            <a:ext cx="1" cy="4327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D3DBAD2B-7AE3-BC53-D124-526BE66FAF5A}"/>
              </a:ext>
            </a:extLst>
          </p:cNvPr>
          <p:cNvCxnSpPr>
            <a:cxnSpLocks/>
            <a:stCxn id="8" idx="2"/>
            <a:endCxn id="10" idx="0"/>
          </p:cNvCxnSpPr>
          <p:nvPr/>
        </p:nvCxnSpPr>
        <p:spPr>
          <a:xfrm>
            <a:off x="5204663" y="3748878"/>
            <a:ext cx="0" cy="6458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1FCF4CC5-535D-C96C-EC38-37993EC40B8F}"/>
              </a:ext>
            </a:extLst>
          </p:cNvPr>
          <p:cNvSpPr txBox="1"/>
          <p:nvPr/>
        </p:nvSpPr>
        <p:spPr>
          <a:xfrm>
            <a:off x="6951369" y="1238537"/>
            <a:ext cx="5018219" cy="1029449"/>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CA" sz="1600" dirty="0"/>
              <a:t>What actual messages, tools and system prompt was passed to the LLM API call?</a:t>
            </a:r>
          </a:p>
          <a:p>
            <a:pPr marL="285750" indent="-285750">
              <a:lnSpc>
                <a:spcPct val="130000"/>
              </a:lnSpc>
              <a:buFont typeface="Arial" panose="020B0604020202020204" pitchFamily="34" charset="0"/>
              <a:buChar char="•"/>
            </a:pPr>
            <a:r>
              <a:rPr lang="en-CA" sz="1600" dirty="0"/>
              <a:t>What’s the token total and granular breakdown?</a:t>
            </a:r>
          </a:p>
        </p:txBody>
      </p:sp>
      <p:sp>
        <p:nvSpPr>
          <p:cNvPr id="23" name="TextBox 22">
            <a:extLst>
              <a:ext uri="{FF2B5EF4-FFF2-40B4-BE49-F238E27FC236}">
                <a16:creationId xmlns:a16="http://schemas.microsoft.com/office/drawing/2014/main" id="{124566EB-A3BF-81A9-1057-D4592C10D882}"/>
              </a:ext>
            </a:extLst>
          </p:cNvPr>
          <p:cNvSpPr txBox="1"/>
          <p:nvPr/>
        </p:nvSpPr>
        <p:spPr>
          <a:xfrm>
            <a:off x="6323047" y="3564212"/>
            <a:ext cx="5018219" cy="709361"/>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CA" sz="1600" dirty="0"/>
              <a:t>What exact commands are being called by our Mud Manager and by which Task (Subagent)? </a:t>
            </a:r>
          </a:p>
        </p:txBody>
      </p:sp>
      <p:sp>
        <p:nvSpPr>
          <p:cNvPr id="25" name="TextBox 24">
            <a:extLst>
              <a:ext uri="{FF2B5EF4-FFF2-40B4-BE49-F238E27FC236}">
                <a16:creationId xmlns:a16="http://schemas.microsoft.com/office/drawing/2014/main" id="{626641F7-B9FB-E0DB-66C7-99F7207A1608}"/>
              </a:ext>
            </a:extLst>
          </p:cNvPr>
          <p:cNvSpPr txBox="1"/>
          <p:nvPr/>
        </p:nvSpPr>
        <p:spPr>
          <a:xfrm>
            <a:off x="6323046" y="4476328"/>
            <a:ext cx="5018219" cy="1029449"/>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CA" sz="1600" dirty="0"/>
              <a:t>What does the actual command call look like and what actually was returned and what could have been dropped missed due </a:t>
            </a:r>
            <a:r>
              <a:rPr lang="en-CA" sz="1600" dirty="0" err="1"/>
              <a:t>misstimed</a:t>
            </a:r>
            <a:r>
              <a:rPr lang="en-CA" sz="1600" dirty="0"/>
              <a:t> polling.</a:t>
            </a:r>
          </a:p>
        </p:txBody>
      </p:sp>
      <p:sp>
        <p:nvSpPr>
          <p:cNvPr id="27" name="TextBox 26">
            <a:extLst>
              <a:ext uri="{FF2B5EF4-FFF2-40B4-BE49-F238E27FC236}">
                <a16:creationId xmlns:a16="http://schemas.microsoft.com/office/drawing/2014/main" id="{DD7A764C-C03E-E697-950D-6CF99F841B8A}"/>
              </a:ext>
            </a:extLst>
          </p:cNvPr>
          <p:cNvSpPr txBox="1"/>
          <p:nvPr/>
        </p:nvSpPr>
        <p:spPr>
          <a:xfrm>
            <a:off x="1031940" y="2577472"/>
            <a:ext cx="2025508" cy="369332"/>
          </a:xfrm>
          <a:prstGeom prst="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txBody>
          <a:bodyPr wrap="square" rtlCol="0">
            <a:spAutoFit/>
          </a:bodyPr>
          <a:lstStyle/>
          <a:p>
            <a:r>
              <a:rPr lang="en-CA" dirty="0"/>
              <a:t>Knowledge</a:t>
            </a:r>
          </a:p>
        </p:txBody>
      </p:sp>
      <p:sp>
        <p:nvSpPr>
          <p:cNvPr id="29" name="TextBox 28">
            <a:extLst>
              <a:ext uri="{FF2B5EF4-FFF2-40B4-BE49-F238E27FC236}">
                <a16:creationId xmlns:a16="http://schemas.microsoft.com/office/drawing/2014/main" id="{CB56F763-A9A5-B142-384E-ABA127545FDF}"/>
              </a:ext>
            </a:extLst>
          </p:cNvPr>
          <p:cNvSpPr txBox="1"/>
          <p:nvPr/>
        </p:nvSpPr>
        <p:spPr>
          <a:xfrm>
            <a:off x="235534" y="3074109"/>
            <a:ext cx="3685548" cy="1349537"/>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CA" sz="1600" dirty="0"/>
              <a:t>What in our database?</a:t>
            </a:r>
          </a:p>
          <a:p>
            <a:pPr marL="285750" indent="-285750">
              <a:lnSpc>
                <a:spcPct val="130000"/>
              </a:lnSpc>
              <a:buFont typeface="Arial" panose="020B0604020202020204" pitchFamily="34" charset="0"/>
              <a:buChar char="•"/>
            </a:pPr>
            <a:r>
              <a:rPr lang="en-CA" sz="1600" dirty="0"/>
              <a:t>What incremental changes are being made in our databases?</a:t>
            </a:r>
          </a:p>
          <a:p>
            <a:pPr marL="285750" indent="-285750">
              <a:lnSpc>
                <a:spcPct val="130000"/>
              </a:lnSpc>
              <a:buFont typeface="Arial" panose="020B0604020202020204" pitchFamily="34" charset="0"/>
              <a:buChar char="•"/>
            </a:pPr>
            <a:r>
              <a:rPr lang="en-CA" sz="1600" dirty="0"/>
              <a:t>How do we see changes over time?</a:t>
            </a:r>
          </a:p>
        </p:txBody>
      </p:sp>
      <p:cxnSp>
        <p:nvCxnSpPr>
          <p:cNvPr id="31" name="Straight Arrow Connector 30">
            <a:extLst>
              <a:ext uri="{FF2B5EF4-FFF2-40B4-BE49-F238E27FC236}">
                <a16:creationId xmlns:a16="http://schemas.microsoft.com/office/drawing/2014/main" id="{3058203D-FB24-2B31-5628-575D42C23FD7}"/>
              </a:ext>
            </a:extLst>
          </p:cNvPr>
          <p:cNvCxnSpPr>
            <a:stCxn id="6" idx="1"/>
            <a:endCxn id="27" idx="3"/>
          </p:cNvCxnSpPr>
          <p:nvPr/>
        </p:nvCxnSpPr>
        <p:spPr>
          <a:xfrm flipH="1">
            <a:off x="3057448" y="2762138"/>
            <a:ext cx="130072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4F87B54F-4D48-DBA3-943B-5A1D8500070E}"/>
              </a:ext>
            </a:extLst>
          </p:cNvPr>
          <p:cNvSpPr txBox="1"/>
          <p:nvPr/>
        </p:nvSpPr>
        <p:spPr>
          <a:xfrm>
            <a:off x="323946" y="2027503"/>
            <a:ext cx="2928415" cy="338554"/>
          </a:xfrm>
          <a:prstGeom prst="rect">
            <a:avLst/>
          </a:prstGeom>
          <a:solidFill>
            <a:schemeClr val="accent2">
              <a:lumMod val="20000"/>
              <a:lumOff val="80000"/>
            </a:schemeClr>
          </a:solidFill>
          <a:ln>
            <a:solidFill>
              <a:schemeClr val="tx1">
                <a:lumMod val="65000"/>
                <a:lumOff val="35000"/>
              </a:schemeClr>
            </a:solidFill>
          </a:ln>
          <a:effectLst/>
        </p:spPr>
        <p:txBody>
          <a:bodyPr wrap="square" rtlCol="0">
            <a:spAutoFit/>
          </a:bodyPr>
          <a:lstStyle/>
          <a:p>
            <a:r>
              <a:rPr lang="en-CA" sz="1600" dirty="0"/>
              <a:t>~/.</a:t>
            </a:r>
            <a:r>
              <a:rPr lang="en-CA" sz="1600" dirty="0" err="1"/>
              <a:t>boukensha</a:t>
            </a:r>
            <a:r>
              <a:rPr lang="en-CA" sz="1600" dirty="0"/>
              <a:t>/</a:t>
            </a:r>
            <a:r>
              <a:rPr lang="en-CA" sz="1600" dirty="0" err="1"/>
              <a:t>knowledge.sql</a:t>
            </a:r>
            <a:endParaRPr lang="en-CA" sz="1600" dirty="0"/>
          </a:p>
        </p:txBody>
      </p:sp>
      <p:sp>
        <p:nvSpPr>
          <p:cNvPr id="38" name="TextBox 37">
            <a:extLst>
              <a:ext uri="{FF2B5EF4-FFF2-40B4-BE49-F238E27FC236}">
                <a16:creationId xmlns:a16="http://schemas.microsoft.com/office/drawing/2014/main" id="{25F33CA8-2139-1D8B-9F76-B38A62A09A2A}"/>
              </a:ext>
            </a:extLst>
          </p:cNvPr>
          <p:cNvSpPr txBox="1"/>
          <p:nvPr/>
        </p:nvSpPr>
        <p:spPr>
          <a:xfrm>
            <a:off x="323946" y="4552435"/>
            <a:ext cx="2928415" cy="338554"/>
          </a:xfrm>
          <a:prstGeom prst="rect">
            <a:avLst/>
          </a:prstGeom>
          <a:solidFill>
            <a:schemeClr val="accent2">
              <a:lumMod val="20000"/>
              <a:lumOff val="80000"/>
            </a:schemeClr>
          </a:solidFill>
          <a:ln>
            <a:solidFill>
              <a:schemeClr val="tx1">
                <a:lumMod val="65000"/>
                <a:lumOff val="35000"/>
              </a:schemeClr>
            </a:solidFill>
          </a:ln>
          <a:effectLst/>
        </p:spPr>
        <p:txBody>
          <a:bodyPr wrap="square" rtlCol="0">
            <a:spAutoFit/>
          </a:bodyPr>
          <a:lstStyle/>
          <a:p>
            <a:r>
              <a:rPr lang="en-CA" sz="1600" dirty="0"/>
              <a:t>~/.</a:t>
            </a:r>
            <a:r>
              <a:rPr lang="en-CA" sz="1600" dirty="0" err="1"/>
              <a:t>boukensha</a:t>
            </a:r>
            <a:r>
              <a:rPr lang="en-CA" sz="1600" dirty="0"/>
              <a:t>/journal/*.</a:t>
            </a:r>
            <a:r>
              <a:rPr lang="en-CA" sz="1600" dirty="0" err="1"/>
              <a:t>jsonl</a:t>
            </a:r>
            <a:endParaRPr lang="en-CA" sz="1600" dirty="0"/>
          </a:p>
        </p:txBody>
      </p:sp>
      <p:sp>
        <p:nvSpPr>
          <p:cNvPr id="40" name="TextBox 39">
            <a:extLst>
              <a:ext uri="{FF2B5EF4-FFF2-40B4-BE49-F238E27FC236}">
                <a16:creationId xmlns:a16="http://schemas.microsoft.com/office/drawing/2014/main" id="{49DD4BF6-3ACD-65F2-9725-F4CD3B8F9ADE}"/>
              </a:ext>
            </a:extLst>
          </p:cNvPr>
          <p:cNvSpPr txBox="1"/>
          <p:nvPr/>
        </p:nvSpPr>
        <p:spPr>
          <a:xfrm>
            <a:off x="6385136" y="3217632"/>
            <a:ext cx="2928415" cy="338554"/>
          </a:xfrm>
          <a:prstGeom prst="rect">
            <a:avLst/>
          </a:prstGeom>
          <a:solidFill>
            <a:schemeClr val="accent2">
              <a:lumMod val="20000"/>
              <a:lumOff val="80000"/>
            </a:schemeClr>
          </a:solidFill>
          <a:ln>
            <a:solidFill>
              <a:schemeClr val="tx1">
                <a:lumMod val="65000"/>
                <a:lumOff val="35000"/>
              </a:schemeClr>
            </a:solidFill>
          </a:ln>
          <a:effectLst/>
        </p:spPr>
        <p:txBody>
          <a:bodyPr wrap="square" rtlCol="0">
            <a:spAutoFit/>
          </a:bodyPr>
          <a:lstStyle/>
          <a:p>
            <a:r>
              <a:rPr lang="en-CA" sz="1600" dirty="0"/>
              <a:t>~/.</a:t>
            </a:r>
            <a:r>
              <a:rPr lang="en-CA" sz="1600" dirty="0" err="1"/>
              <a:t>boukensha</a:t>
            </a:r>
            <a:r>
              <a:rPr lang="en-CA" sz="1600" dirty="0"/>
              <a:t>/manager/*.</a:t>
            </a:r>
            <a:r>
              <a:rPr lang="en-CA" sz="1600" dirty="0" err="1"/>
              <a:t>jsonl</a:t>
            </a:r>
            <a:endParaRPr lang="en-CA" sz="1600" dirty="0"/>
          </a:p>
        </p:txBody>
      </p:sp>
      <p:sp>
        <p:nvSpPr>
          <p:cNvPr id="42" name="TextBox 41">
            <a:extLst>
              <a:ext uri="{FF2B5EF4-FFF2-40B4-BE49-F238E27FC236}">
                <a16:creationId xmlns:a16="http://schemas.microsoft.com/office/drawing/2014/main" id="{7108A49A-821C-E088-1449-75A347401593}"/>
              </a:ext>
            </a:extLst>
          </p:cNvPr>
          <p:cNvSpPr txBox="1"/>
          <p:nvPr/>
        </p:nvSpPr>
        <p:spPr>
          <a:xfrm>
            <a:off x="5903740" y="5539255"/>
            <a:ext cx="2928415" cy="338554"/>
          </a:xfrm>
          <a:prstGeom prst="rect">
            <a:avLst/>
          </a:prstGeom>
          <a:solidFill>
            <a:schemeClr val="accent2">
              <a:lumMod val="20000"/>
              <a:lumOff val="80000"/>
            </a:schemeClr>
          </a:solidFill>
          <a:ln>
            <a:solidFill>
              <a:schemeClr val="tx1">
                <a:lumMod val="65000"/>
                <a:lumOff val="35000"/>
              </a:schemeClr>
            </a:solidFill>
          </a:ln>
          <a:effectLst/>
        </p:spPr>
        <p:txBody>
          <a:bodyPr wrap="square" rtlCol="0">
            <a:spAutoFit/>
          </a:bodyPr>
          <a:lstStyle/>
          <a:p>
            <a:r>
              <a:rPr lang="en-CA" sz="1600" dirty="0"/>
              <a:t>~/.</a:t>
            </a:r>
            <a:r>
              <a:rPr lang="en-CA" sz="1600" dirty="0" err="1"/>
              <a:t>boukensha</a:t>
            </a:r>
            <a:r>
              <a:rPr lang="en-CA" sz="1600" dirty="0"/>
              <a:t>/telnet/*.</a:t>
            </a:r>
            <a:r>
              <a:rPr lang="en-CA" sz="1600" dirty="0" err="1"/>
              <a:t>jsonl</a:t>
            </a:r>
            <a:endParaRPr lang="en-CA" sz="1600" dirty="0"/>
          </a:p>
        </p:txBody>
      </p:sp>
      <p:sp>
        <p:nvSpPr>
          <p:cNvPr id="44" name="TextBox 43">
            <a:extLst>
              <a:ext uri="{FF2B5EF4-FFF2-40B4-BE49-F238E27FC236}">
                <a16:creationId xmlns:a16="http://schemas.microsoft.com/office/drawing/2014/main" id="{79A329DB-DEFD-ECC5-08C1-5884630DE9E0}"/>
              </a:ext>
            </a:extLst>
          </p:cNvPr>
          <p:cNvSpPr txBox="1"/>
          <p:nvPr/>
        </p:nvSpPr>
        <p:spPr>
          <a:xfrm>
            <a:off x="3323779" y="2577472"/>
            <a:ext cx="719672" cy="369332"/>
          </a:xfrm>
          <a:prstGeom prst="rect">
            <a:avLst/>
          </a:prstGeom>
          <a:solidFill>
            <a:schemeClr val="accent1">
              <a:lumMod val="20000"/>
              <a:lumOff val="80000"/>
            </a:schemeClr>
          </a:solidFill>
          <a:ln>
            <a:solidFill>
              <a:schemeClr val="bg1">
                <a:lumMod val="50000"/>
              </a:schemeClr>
            </a:solidFill>
          </a:ln>
          <a:effectLst>
            <a:outerShdw blurRad="50800" dist="38100" dir="2700000" algn="tl" rotWithShape="0">
              <a:prstClr val="black">
                <a:alpha val="40000"/>
              </a:prstClr>
            </a:outerShdw>
          </a:effectLst>
        </p:spPr>
        <p:txBody>
          <a:bodyPr wrap="square" rtlCol="0">
            <a:spAutoFit/>
          </a:bodyPr>
          <a:lstStyle/>
          <a:p>
            <a:r>
              <a:rPr lang="en-CA" dirty="0"/>
              <a:t>CDC</a:t>
            </a:r>
          </a:p>
        </p:txBody>
      </p:sp>
      <p:sp>
        <p:nvSpPr>
          <p:cNvPr id="47" name="TextBox 46">
            <a:extLst>
              <a:ext uri="{FF2B5EF4-FFF2-40B4-BE49-F238E27FC236}">
                <a16:creationId xmlns:a16="http://schemas.microsoft.com/office/drawing/2014/main" id="{106866D9-84FC-8162-BD1F-9AE972C2A5BC}"/>
              </a:ext>
            </a:extLst>
          </p:cNvPr>
          <p:cNvSpPr txBox="1"/>
          <p:nvPr/>
        </p:nvSpPr>
        <p:spPr>
          <a:xfrm>
            <a:off x="3683615" y="1982604"/>
            <a:ext cx="2928415" cy="338554"/>
          </a:xfrm>
          <a:prstGeom prst="rect">
            <a:avLst/>
          </a:prstGeom>
          <a:solidFill>
            <a:schemeClr val="accent2">
              <a:lumMod val="20000"/>
              <a:lumOff val="80000"/>
            </a:schemeClr>
          </a:solidFill>
          <a:ln>
            <a:solidFill>
              <a:schemeClr val="tx1">
                <a:lumMod val="65000"/>
                <a:lumOff val="35000"/>
              </a:schemeClr>
            </a:solidFill>
          </a:ln>
          <a:effectLst/>
        </p:spPr>
        <p:txBody>
          <a:bodyPr wrap="square" rtlCol="0">
            <a:spAutoFit/>
          </a:bodyPr>
          <a:lstStyle/>
          <a:p>
            <a:r>
              <a:rPr lang="en-CA" sz="1600" dirty="0"/>
              <a:t>~/.</a:t>
            </a:r>
            <a:r>
              <a:rPr lang="en-CA" sz="1600" dirty="0" err="1"/>
              <a:t>boukensha</a:t>
            </a:r>
            <a:r>
              <a:rPr lang="en-CA" sz="1600" dirty="0"/>
              <a:t>/sessions/*.</a:t>
            </a:r>
            <a:r>
              <a:rPr lang="en-CA" sz="1600" dirty="0" err="1"/>
              <a:t>jsonl</a:t>
            </a:r>
            <a:endParaRPr lang="en-CA" sz="1600" dirty="0"/>
          </a:p>
        </p:txBody>
      </p:sp>
      <p:sp>
        <p:nvSpPr>
          <p:cNvPr id="49" name="TextBox 48">
            <a:extLst>
              <a:ext uri="{FF2B5EF4-FFF2-40B4-BE49-F238E27FC236}">
                <a16:creationId xmlns:a16="http://schemas.microsoft.com/office/drawing/2014/main" id="{73DF145D-C23B-EACB-D281-3DF7612058EE}"/>
              </a:ext>
            </a:extLst>
          </p:cNvPr>
          <p:cNvSpPr txBox="1"/>
          <p:nvPr/>
        </p:nvSpPr>
        <p:spPr>
          <a:xfrm>
            <a:off x="3252361" y="1117258"/>
            <a:ext cx="3685548" cy="709361"/>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CA" sz="1600" dirty="0"/>
              <a:t>how long does each unit of work take? Where’s our bottlenecks?</a:t>
            </a:r>
          </a:p>
        </p:txBody>
      </p:sp>
      <p:sp>
        <p:nvSpPr>
          <p:cNvPr id="50" name="TextBox 49">
            <a:extLst>
              <a:ext uri="{FF2B5EF4-FFF2-40B4-BE49-F238E27FC236}">
                <a16:creationId xmlns:a16="http://schemas.microsoft.com/office/drawing/2014/main" id="{9C840F35-E546-B838-0864-DF8B075543BC}"/>
              </a:ext>
            </a:extLst>
          </p:cNvPr>
          <p:cNvSpPr txBox="1"/>
          <p:nvPr/>
        </p:nvSpPr>
        <p:spPr>
          <a:xfrm>
            <a:off x="2681555" y="6185100"/>
            <a:ext cx="5779823" cy="369332"/>
          </a:xfrm>
          <a:prstGeom prst="rect">
            <a:avLst/>
          </a:prstGeom>
          <a:noFill/>
        </p:spPr>
        <p:txBody>
          <a:bodyPr wrap="square" rtlCol="0">
            <a:spAutoFit/>
          </a:bodyPr>
          <a:lstStyle/>
          <a:p>
            <a:r>
              <a:rPr lang="en-CA" dirty="0"/>
              <a:t>How can see </a:t>
            </a:r>
            <a:r>
              <a:rPr lang="en-CA" dirty="0" err="1"/>
              <a:t>whats</a:t>
            </a:r>
            <a:r>
              <a:rPr lang="en-CA" dirty="0"/>
              <a:t> going on in </a:t>
            </a:r>
            <a:r>
              <a:rPr lang="en-CA" dirty="0" err="1"/>
              <a:t>realtime</a:t>
            </a:r>
            <a:r>
              <a:rPr lang="en-CA" dirty="0"/>
              <a:t>? (Cockpit View)</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45955B99-DA11-4216-2B8F-D58734B5C1EF}"/>
                  </a:ext>
                </a:extLst>
              </p14:cNvPr>
              <p14:cNvContentPartPr/>
              <p14:nvPr/>
            </p14:nvContentPartPr>
            <p14:xfrm>
              <a:off x="1631880" y="1460520"/>
              <a:ext cx="9436680" cy="5226480"/>
            </p14:xfrm>
          </p:contentPart>
        </mc:Choice>
        <mc:Fallback>
          <p:pic>
            <p:nvPicPr>
              <p:cNvPr id="2" name="Ink 1">
                <a:extLst>
                  <a:ext uri="{FF2B5EF4-FFF2-40B4-BE49-F238E27FC236}">
                    <a16:creationId xmlns:a16="http://schemas.microsoft.com/office/drawing/2014/main" id="{45955B99-DA11-4216-2B8F-D58734B5C1EF}"/>
                  </a:ext>
                </a:extLst>
              </p:cNvPr>
              <p:cNvPicPr/>
              <p:nvPr/>
            </p:nvPicPr>
            <p:blipFill>
              <a:blip r:embed="rId3"/>
              <a:stretch>
                <a:fillRect/>
              </a:stretch>
            </p:blipFill>
            <p:spPr>
              <a:xfrm>
                <a:off x="1622520" y="1451160"/>
                <a:ext cx="9455400" cy="5245200"/>
              </a:xfrm>
              <a:prstGeom prst="rect">
                <a:avLst/>
              </a:prstGeom>
            </p:spPr>
          </p:pic>
        </mc:Fallback>
      </mc:AlternateContent>
    </p:spTree>
    <p:extLst>
      <p:ext uri="{BB962C8B-B14F-4D97-AF65-F5344CB8AC3E}">
        <p14:creationId xmlns:p14="http://schemas.microsoft.com/office/powerpoint/2010/main" val="3218436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A09B0-2AA1-3831-2BEF-CAFD72CDF2D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D03F952-AC65-FC5D-9EA8-C224AF8927A6}"/>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Sessions Logging</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5" name="TextBox 4">
            <a:extLst>
              <a:ext uri="{FF2B5EF4-FFF2-40B4-BE49-F238E27FC236}">
                <a16:creationId xmlns:a16="http://schemas.microsoft.com/office/drawing/2014/main" id="{A0C998F8-41D7-AA92-B363-3902C408881E}"/>
              </a:ext>
            </a:extLst>
          </p:cNvPr>
          <p:cNvSpPr txBox="1"/>
          <p:nvPr/>
        </p:nvSpPr>
        <p:spPr>
          <a:xfrm>
            <a:off x="369870" y="1466577"/>
            <a:ext cx="4150760" cy="1754326"/>
          </a:xfrm>
          <a:prstGeom prst="rect">
            <a:avLst/>
          </a:prstGeom>
          <a:noFill/>
        </p:spPr>
        <p:txBody>
          <a:bodyPr wrap="square" rtlCol="0">
            <a:spAutoFit/>
          </a:bodyPr>
          <a:lstStyle/>
          <a:p>
            <a:r>
              <a:rPr lang="en-CA" dirty="0"/>
              <a:t>We have made some improvements to the agent sessions logs.</a:t>
            </a:r>
          </a:p>
          <a:p>
            <a:endParaRPr lang="en-CA" dirty="0"/>
          </a:p>
          <a:p>
            <a:r>
              <a:rPr lang="en-CA" dirty="0"/>
              <a:t>We can now see how long each unit to works takes e.g. 90ms or 3ms to determine bottlenecks</a:t>
            </a:r>
          </a:p>
        </p:txBody>
      </p:sp>
      <p:sp>
        <p:nvSpPr>
          <p:cNvPr id="24" name="TextBox 23">
            <a:extLst>
              <a:ext uri="{FF2B5EF4-FFF2-40B4-BE49-F238E27FC236}">
                <a16:creationId xmlns:a16="http://schemas.microsoft.com/office/drawing/2014/main" id="{71B46178-779B-3D38-8C44-037D259E0D65}"/>
              </a:ext>
            </a:extLst>
          </p:cNvPr>
          <p:cNvSpPr txBox="1"/>
          <p:nvPr/>
        </p:nvSpPr>
        <p:spPr>
          <a:xfrm>
            <a:off x="730316" y="5993308"/>
            <a:ext cx="2928415" cy="338554"/>
          </a:xfrm>
          <a:prstGeom prst="rect">
            <a:avLst/>
          </a:prstGeom>
          <a:solidFill>
            <a:schemeClr val="accent2">
              <a:lumMod val="20000"/>
              <a:lumOff val="80000"/>
            </a:schemeClr>
          </a:solidFill>
          <a:ln>
            <a:solidFill>
              <a:schemeClr val="tx1">
                <a:lumMod val="65000"/>
                <a:lumOff val="35000"/>
              </a:schemeClr>
            </a:solidFill>
          </a:ln>
          <a:effectLst/>
        </p:spPr>
        <p:txBody>
          <a:bodyPr wrap="square" rtlCol="0">
            <a:spAutoFit/>
          </a:bodyPr>
          <a:lstStyle/>
          <a:p>
            <a:r>
              <a:rPr lang="en-CA" sz="1600" dirty="0"/>
              <a:t>~/.</a:t>
            </a:r>
            <a:r>
              <a:rPr lang="en-CA" sz="1600" dirty="0" err="1"/>
              <a:t>boukensha</a:t>
            </a:r>
            <a:r>
              <a:rPr lang="en-CA" sz="1600" dirty="0"/>
              <a:t>/sessions/*.</a:t>
            </a:r>
            <a:r>
              <a:rPr lang="en-CA" sz="1600" dirty="0" err="1"/>
              <a:t>jsonl</a:t>
            </a:r>
            <a:endParaRPr lang="en-CA" sz="1600" dirty="0"/>
          </a:p>
        </p:txBody>
      </p:sp>
      <p:pic>
        <p:nvPicPr>
          <p:cNvPr id="32" name="Picture 31">
            <a:extLst>
              <a:ext uri="{FF2B5EF4-FFF2-40B4-BE49-F238E27FC236}">
                <a16:creationId xmlns:a16="http://schemas.microsoft.com/office/drawing/2014/main" id="{FFEE5AE7-95C4-59AC-8542-61A55489553C}"/>
              </a:ext>
            </a:extLst>
          </p:cNvPr>
          <p:cNvPicPr>
            <a:picLocks noChangeAspect="1"/>
          </p:cNvPicPr>
          <p:nvPr/>
        </p:nvPicPr>
        <p:blipFill>
          <a:blip r:embed="rId2"/>
          <a:stretch>
            <a:fillRect/>
          </a:stretch>
        </p:blipFill>
        <p:spPr>
          <a:xfrm>
            <a:off x="4623371" y="1188978"/>
            <a:ext cx="7443525" cy="4480043"/>
          </a:xfrm>
          <a:prstGeom prst="rect">
            <a:avLst/>
          </a:prstGeom>
          <a:ln>
            <a:solidFill>
              <a:schemeClr val="tx1">
                <a:lumMod val="65000"/>
                <a:lumOff val="35000"/>
              </a:schemeClr>
            </a:solidFill>
          </a:ln>
          <a:effectLst/>
        </p:spPr>
      </p:pic>
      <p:sp>
        <p:nvSpPr>
          <p:cNvPr id="34" name="TextBox 33">
            <a:extLst>
              <a:ext uri="{FF2B5EF4-FFF2-40B4-BE49-F238E27FC236}">
                <a16:creationId xmlns:a16="http://schemas.microsoft.com/office/drawing/2014/main" id="{3470A356-6C12-F704-9C43-CB70280CF1F0}"/>
              </a:ext>
            </a:extLst>
          </p:cNvPr>
          <p:cNvSpPr txBox="1"/>
          <p:nvPr/>
        </p:nvSpPr>
        <p:spPr>
          <a:xfrm>
            <a:off x="472611" y="3509422"/>
            <a:ext cx="4150760" cy="646331"/>
          </a:xfrm>
          <a:prstGeom prst="rect">
            <a:avLst/>
          </a:prstGeom>
          <a:noFill/>
        </p:spPr>
        <p:txBody>
          <a:bodyPr wrap="square" rtlCol="0">
            <a:spAutoFit/>
          </a:bodyPr>
          <a:lstStyle/>
          <a:p>
            <a:r>
              <a:rPr lang="en-CA" dirty="0"/>
              <a:t>We have a button to view what API request payloads looked like.</a:t>
            </a:r>
          </a:p>
        </p:txBody>
      </p:sp>
      <mc:AlternateContent xmlns:mc="http://schemas.openxmlformats.org/markup-compatibility/2006">
        <mc:Choice xmlns:p14="http://schemas.microsoft.com/office/powerpoint/2010/main" Requires="p14">
          <p:contentPart p14:bwMode="auto" r:id="rId3">
            <p14:nvContentPartPr>
              <p14:cNvPr id="35" name="Ink 34">
                <a:extLst>
                  <a:ext uri="{FF2B5EF4-FFF2-40B4-BE49-F238E27FC236}">
                    <a16:creationId xmlns:a16="http://schemas.microsoft.com/office/drawing/2014/main" id="{03FBE96C-E1E8-1D08-054F-656FD835F34E}"/>
                  </a:ext>
                </a:extLst>
              </p14:cNvPr>
              <p14:cNvContentPartPr/>
              <p14:nvPr/>
            </p14:nvContentPartPr>
            <p14:xfrm>
              <a:off x="4260960" y="1644480"/>
              <a:ext cx="1632240" cy="3765960"/>
            </p14:xfrm>
          </p:contentPart>
        </mc:Choice>
        <mc:Fallback>
          <p:pic>
            <p:nvPicPr>
              <p:cNvPr id="35" name="Ink 34">
                <a:extLst>
                  <a:ext uri="{FF2B5EF4-FFF2-40B4-BE49-F238E27FC236}">
                    <a16:creationId xmlns:a16="http://schemas.microsoft.com/office/drawing/2014/main" id="{03FBE96C-E1E8-1D08-054F-656FD835F34E}"/>
                  </a:ext>
                </a:extLst>
              </p:cNvPr>
              <p:cNvPicPr/>
              <p:nvPr/>
            </p:nvPicPr>
            <p:blipFill>
              <a:blip r:embed="rId4"/>
              <a:stretch>
                <a:fillRect/>
              </a:stretch>
            </p:blipFill>
            <p:spPr>
              <a:xfrm>
                <a:off x="4251600" y="1635120"/>
                <a:ext cx="1650960" cy="3784680"/>
              </a:xfrm>
              <a:prstGeom prst="rect">
                <a:avLst/>
              </a:prstGeom>
            </p:spPr>
          </p:pic>
        </mc:Fallback>
      </mc:AlternateContent>
    </p:spTree>
    <p:extLst>
      <p:ext uri="{BB962C8B-B14F-4D97-AF65-F5344CB8AC3E}">
        <p14:creationId xmlns:p14="http://schemas.microsoft.com/office/powerpoint/2010/main" val="2475922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28BF7-1419-8652-E637-30FE746E45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5BDE29C-3E39-6873-FC34-AF61D75CD509}"/>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API Request Logging</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5" name="TextBox 4">
            <a:extLst>
              <a:ext uri="{FF2B5EF4-FFF2-40B4-BE49-F238E27FC236}">
                <a16:creationId xmlns:a16="http://schemas.microsoft.com/office/drawing/2014/main" id="{5CAAFF9A-10CF-A685-F57F-AFB98C3CEA27}"/>
              </a:ext>
            </a:extLst>
          </p:cNvPr>
          <p:cNvSpPr txBox="1"/>
          <p:nvPr/>
        </p:nvSpPr>
        <p:spPr>
          <a:xfrm>
            <a:off x="369870" y="1466577"/>
            <a:ext cx="6051478" cy="646331"/>
          </a:xfrm>
          <a:prstGeom prst="rect">
            <a:avLst/>
          </a:prstGeom>
          <a:noFill/>
        </p:spPr>
        <p:txBody>
          <a:bodyPr wrap="square" rtlCol="0">
            <a:spAutoFit/>
          </a:bodyPr>
          <a:lstStyle/>
          <a:p>
            <a:r>
              <a:rPr lang="en-CA" dirty="0"/>
              <a:t>For a request we can see exactly how many input tokens are being used, and a granular breakdown.</a:t>
            </a:r>
          </a:p>
        </p:txBody>
      </p:sp>
      <p:sp>
        <p:nvSpPr>
          <p:cNvPr id="34" name="TextBox 33">
            <a:extLst>
              <a:ext uri="{FF2B5EF4-FFF2-40B4-BE49-F238E27FC236}">
                <a16:creationId xmlns:a16="http://schemas.microsoft.com/office/drawing/2014/main" id="{510F89C3-88C9-3940-D0AF-8EAFD78546A6}"/>
              </a:ext>
            </a:extLst>
          </p:cNvPr>
          <p:cNvSpPr txBox="1"/>
          <p:nvPr/>
        </p:nvSpPr>
        <p:spPr>
          <a:xfrm>
            <a:off x="369870" y="6118243"/>
            <a:ext cx="5948737" cy="369332"/>
          </a:xfrm>
          <a:prstGeom prst="rect">
            <a:avLst/>
          </a:prstGeom>
          <a:noFill/>
        </p:spPr>
        <p:txBody>
          <a:bodyPr wrap="square" rtlCol="0">
            <a:spAutoFit/>
          </a:bodyPr>
          <a:lstStyle/>
          <a:p>
            <a:r>
              <a:rPr lang="en-CA" dirty="0"/>
              <a:t>This data I think is logged in the sessions/*.</a:t>
            </a:r>
            <a:r>
              <a:rPr lang="en-CA" dirty="0" err="1"/>
              <a:t>jsonl</a:t>
            </a:r>
            <a:endParaRPr lang="en-CA" dirty="0"/>
          </a:p>
        </p:txBody>
      </p:sp>
      <p:pic>
        <p:nvPicPr>
          <p:cNvPr id="3" name="Picture 2">
            <a:extLst>
              <a:ext uri="{FF2B5EF4-FFF2-40B4-BE49-F238E27FC236}">
                <a16:creationId xmlns:a16="http://schemas.microsoft.com/office/drawing/2014/main" id="{F2B5FBCF-8C5E-F44C-1A71-F7D9B611CE85}"/>
              </a:ext>
            </a:extLst>
          </p:cNvPr>
          <p:cNvPicPr>
            <a:picLocks noChangeAspect="1"/>
          </p:cNvPicPr>
          <p:nvPr/>
        </p:nvPicPr>
        <p:blipFill>
          <a:blip r:embed="rId2"/>
          <a:stretch>
            <a:fillRect/>
          </a:stretch>
        </p:blipFill>
        <p:spPr>
          <a:xfrm>
            <a:off x="7825880" y="1352092"/>
            <a:ext cx="3790769" cy="5607322"/>
          </a:xfrm>
          <a:prstGeom prst="rect">
            <a:avLst/>
          </a:prstGeom>
        </p:spPr>
      </p:pic>
      <p:pic>
        <p:nvPicPr>
          <p:cNvPr id="7" name="Picture 6">
            <a:extLst>
              <a:ext uri="{FF2B5EF4-FFF2-40B4-BE49-F238E27FC236}">
                <a16:creationId xmlns:a16="http://schemas.microsoft.com/office/drawing/2014/main" id="{39DE7B13-AA3F-C3F3-3C3E-6B12AF9EFCC6}"/>
              </a:ext>
            </a:extLst>
          </p:cNvPr>
          <p:cNvPicPr>
            <a:picLocks noChangeAspect="1"/>
          </p:cNvPicPr>
          <p:nvPr/>
        </p:nvPicPr>
        <p:blipFill>
          <a:blip r:embed="rId3"/>
          <a:stretch>
            <a:fillRect/>
          </a:stretch>
        </p:blipFill>
        <p:spPr>
          <a:xfrm>
            <a:off x="4996523" y="2962013"/>
            <a:ext cx="2849650" cy="2704941"/>
          </a:xfrm>
          <a:prstGeom prst="rect">
            <a:avLst/>
          </a:prstGeom>
        </p:spPr>
      </p:pic>
      <p:sp>
        <p:nvSpPr>
          <p:cNvPr id="8" name="TextBox 7">
            <a:extLst>
              <a:ext uri="{FF2B5EF4-FFF2-40B4-BE49-F238E27FC236}">
                <a16:creationId xmlns:a16="http://schemas.microsoft.com/office/drawing/2014/main" id="{44A25712-A5FF-0E37-5AD6-8CF2866447F2}"/>
              </a:ext>
            </a:extLst>
          </p:cNvPr>
          <p:cNvSpPr txBox="1"/>
          <p:nvPr/>
        </p:nvSpPr>
        <p:spPr>
          <a:xfrm>
            <a:off x="369870" y="2187558"/>
            <a:ext cx="6051478" cy="646331"/>
          </a:xfrm>
          <a:prstGeom prst="rect">
            <a:avLst/>
          </a:prstGeom>
          <a:noFill/>
        </p:spPr>
        <p:txBody>
          <a:bodyPr wrap="square" rtlCol="0">
            <a:spAutoFit/>
          </a:bodyPr>
          <a:lstStyle/>
          <a:p>
            <a:r>
              <a:rPr lang="en-CA" dirty="0"/>
              <a:t>We can see exactly what tools the agent has access to (we may to provide conditional access to tools)</a:t>
            </a:r>
          </a:p>
        </p:txBody>
      </p:sp>
      <p:sp>
        <p:nvSpPr>
          <p:cNvPr id="10" name="TextBox 9">
            <a:extLst>
              <a:ext uri="{FF2B5EF4-FFF2-40B4-BE49-F238E27FC236}">
                <a16:creationId xmlns:a16="http://schemas.microsoft.com/office/drawing/2014/main" id="{B20D7AD8-DC72-5751-0669-7C08B8DB3DC3}"/>
              </a:ext>
            </a:extLst>
          </p:cNvPr>
          <p:cNvSpPr txBox="1"/>
          <p:nvPr/>
        </p:nvSpPr>
        <p:spPr>
          <a:xfrm>
            <a:off x="359724" y="3076498"/>
            <a:ext cx="4386937" cy="1477328"/>
          </a:xfrm>
          <a:prstGeom prst="rect">
            <a:avLst/>
          </a:prstGeom>
          <a:noFill/>
        </p:spPr>
        <p:txBody>
          <a:bodyPr wrap="square" rtlCol="0">
            <a:spAutoFit/>
          </a:bodyPr>
          <a:lstStyle/>
          <a:p>
            <a:r>
              <a:rPr lang="en-CA" dirty="0"/>
              <a:t>We can see the system prompt</a:t>
            </a:r>
            <a:br>
              <a:rPr lang="en-CA" dirty="0"/>
            </a:br>
            <a:br>
              <a:rPr lang="en-CA" dirty="0"/>
            </a:br>
            <a:r>
              <a:rPr lang="en-CA" dirty="0"/>
              <a:t>We can quickly jump to next requests.</a:t>
            </a:r>
            <a:br>
              <a:rPr lang="en-CA" dirty="0"/>
            </a:br>
            <a:r>
              <a:rPr lang="en-CA" dirty="0"/>
              <a:t>We can see just the delta of what has changed or see the entire message history.</a:t>
            </a:r>
          </a:p>
        </p:txBody>
      </p:sp>
      <mc:AlternateContent xmlns:mc="http://schemas.openxmlformats.org/markup-compatibility/2006">
        <mc:Choice xmlns:p14="http://schemas.microsoft.com/office/powerpoint/2010/main" Requires="p14">
          <p:contentPart p14:bwMode="auto" r:id="rId4">
            <p14:nvContentPartPr>
              <p14:cNvPr id="13" name="Ink 12">
                <a:extLst>
                  <a:ext uri="{FF2B5EF4-FFF2-40B4-BE49-F238E27FC236}">
                    <a16:creationId xmlns:a16="http://schemas.microsoft.com/office/drawing/2014/main" id="{D2BA8BDA-8276-6501-5D9A-7A5CA48EB30B}"/>
                  </a:ext>
                </a:extLst>
              </p14:cNvPr>
              <p14:cNvContentPartPr/>
              <p14:nvPr/>
            </p14:nvContentPartPr>
            <p14:xfrm>
              <a:off x="7975440" y="2394000"/>
              <a:ext cx="457560" cy="51120"/>
            </p14:xfrm>
          </p:contentPart>
        </mc:Choice>
        <mc:Fallback>
          <p:pic>
            <p:nvPicPr>
              <p:cNvPr id="13" name="Ink 12">
                <a:extLst>
                  <a:ext uri="{FF2B5EF4-FFF2-40B4-BE49-F238E27FC236}">
                    <a16:creationId xmlns:a16="http://schemas.microsoft.com/office/drawing/2014/main" id="{D2BA8BDA-8276-6501-5D9A-7A5CA48EB30B}"/>
                  </a:ext>
                </a:extLst>
              </p:cNvPr>
              <p:cNvPicPr/>
              <p:nvPr/>
            </p:nvPicPr>
            <p:blipFill>
              <a:blip r:embed="rId5"/>
              <a:stretch>
                <a:fillRect/>
              </a:stretch>
            </p:blipFill>
            <p:spPr>
              <a:xfrm>
                <a:off x="7966080" y="2384640"/>
                <a:ext cx="476280" cy="69840"/>
              </a:xfrm>
              <a:prstGeom prst="rect">
                <a:avLst/>
              </a:prstGeom>
            </p:spPr>
          </p:pic>
        </mc:Fallback>
      </mc:AlternateContent>
    </p:spTree>
    <p:extLst>
      <p:ext uri="{BB962C8B-B14F-4D97-AF65-F5344CB8AC3E}">
        <p14:creationId xmlns:p14="http://schemas.microsoft.com/office/powerpoint/2010/main" val="4281759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8F470-C64B-4AB3-94F7-996A83AE9E7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7E2079-9DA3-1F09-B891-0E9986231246}"/>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Mud Manager Logging</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5" name="TextBox 4">
            <a:extLst>
              <a:ext uri="{FF2B5EF4-FFF2-40B4-BE49-F238E27FC236}">
                <a16:creationId xmlns:a16="http://schemas.microsoft.com/office/drawing/2014/main" id="{5CC3E031-CDB2-F65E-199C-2DAF5219F2C9}"/>
              </a:ext>
            </a:extLst>
          </p:cNvPr>
          <p:cNvSpPr txBox="1"/>
          <p:nvPr/>
        </p:nvSpPr>
        <p:spPr>
          <a:xfrm>
            <a:off x="472611" y="1569319"/>
            <a:ext cx="4150760" cy="646331"/>
          </a:xfrm>
          <a:prstGeom prst="rect">
            <a:avLst/>
          </a:prstGeom>
          <a:noFill/>
        </p:spPr>
        <p:txBody>
          <a:bodyPr wrap="square" rtlCol="0">
            <a:spAutoFit/>
          </a:bodyPr>
          <a:lstStyle/>
          <a:p>
            <a:r>
              <a:rPr lang="en-CA" dirty="0"/>
              <a:t>We can see exactly what commands were invoked via the Mud Manager</a:t>
            </a:r>
          </a:p>
        </p:txBody>
      </p:sp>
      <p:sp>
        <p:nvSpPr>
          <p:cNvPr id="24" name="TextBox 23">
            <a:extLst>
              <a:ext uri="{FF2B5EF4-FFF2-40B4-BE49-F238E27FC236}">
                <a16:creationId xmlns:a16="http://schemas.microsoft.com/office/drawing/2014/main" id="{E235F773-0362-7D0C-AB38-14E01C04603E}"/>
              </a:ext>
            </a:extLst>
          </p:cNvPr>
          <p:cNvSpPr txBox="1"/>
          <p:nvPr/>
        </p:nvSpPr>
        <p:spPr>
          <a:xfrm>
            <a:off x="730316" y="5993308"/>
            <a:ext cx="2928415" cy="338554"/>
          </a:xfrm>
          <a:prstGeom prst="rect">
            <a:avLst/>
          </a:prstGeom>
          <a:solidFill>
            <a:schemeClr val="accent2">
              <a:lumMod val="20000"/>
              <a:lumOff val="80000"/>
            </a:schemeClr>
          </a:solidFill>
          <a:ln>
            <a:solidFill>
              <a:schemeClr val="tx1">
                <a:lumMod val="65000"/>
                <a:lumOff val="35000"/>
              </a:schemeClr>
            </a:solidFill>
          </a:ln>
          <a:effectLst/>
        </p:spPr>
        <p:txBody>
          <a:bodyPr wrap="square" rtlCol="0">
            <a:spAutoFit/>
          </a:bodyPr>
          <a:lstStyle/>
          <a:p>
            <a:r>
              <a:rPr lang="en-CA" sz="1600" dirty="0"/>
              <a:t>~/.</a:t>
            </a:r>
            <a:r>
              <a:rPr lang="en-CA" sz="1600" dirty="0" err="1"/>
              <a:t>boukensha</a:t>
            </a:r>
            <a:r>
              <a:rPr lang="en-CA" sz="1600" dirty="0"/>
              <a:t>/manager/*.</a:t>
            </a:r>
            <a:r>
              <a:rPr lang="en-CA" sz="1600" dirty="0" err="1"/>
              <a:t>jsonl</a:t>
            </a:r>
            <a:endParaRPr lang="en-CA" sz="1600" dirty="0"/>
          </a:p>
        </p:txBody>
      </p:sp>
      <p:pic>
        <p:nvPicPr>
          <p:cNvPr id="26" name="Picture 25">
            <a:extLst>
              <a:ext uri="{FF2B5EF4-FFF2-40B4-BE49-F238E27FC236}">
                <a16:creationId xmlns:a16="http://schemas.microsoft.com/office/drawing/2014/main" id="{BB189B2B-4F2E-699E-24D9-45B8F4F670C9}"/>
              </a:ext>
            </a:extLst>
          </p:cNvPr>
          <p:cNvPicPr>
            <a:picLocks noChangeAspect="1"/>
          </p:cNvPicPr>
          <p:nvPr/>
        </p:nvPicPr>
        <p:blipFill>
          <a:blip r:embed="rId2"/>
          <a:stretch>
            <a:fillRect/>
          </a:stretch>
        </p:blipFill>
        <p:spPr>
          <a:xfrm>
            <a:off x="5403752" y="1165858"/>
            <a:ext cx="6422524" cy="5449613"/>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28" name="TextBox 27">
            <a:extLst>
              <a:ext uri="{FF2B5EF4-FFF2-40B4-BE49-F238E27FC236}">
                <a16:creationId xmlns:a16="http://schemas.microsoft.com/office/drawing/2014/main" id="{D4E3353D-5CBF-CBA5-8167-412E7DB4420B}"/>
              </a:ext>
            </a:extLst>
          </p:cNvPr>
          <p:cNvSpPr txBox="1"/>
          <p:nvPr/>
        </p:nvSpPr>
        <p:spPr>
          <a:xfrm>
            <a:off x="472611" y="2428461"/>
            <a:ext cx="4150760" cy="646331"/>
          </a:xfrm>
          <a:prstGeom prst="rect">
            <a:avLst/>
          </a:prstGeom>
          <a:noFill/>
        </p:spPr>
        <p:txBody>
          <a:bodyPr wrap="square" rtlCol="0">
            <a:spAutoFit/>
          </a:bodyPr>
          <a:lstStyle/>
          <a:p>
            <a:r>
              <a:rPr lang="en-CA" dirty="0"/>
              <a:t>This doesn’t distinguish internal calls vs calls over MCP (at least I don’t think so)</a:t>
            </a:r>
          </a:p>
        </p:txBody>
      </p:sp>
      <p:sp>
        <p:nvSpPr>
          <p:cNvPr id="30" name="TextBox 29">
            <a:extLst>
              <a:ext uri="{FF2B5EF4-FFF2-40B4-BE49-F238E27FC236}">
                <a16:creationId xmlns:a16="http://schemas.microsoft.com/office/drawing/2014/main" id="{06BC0731-4113-3287-9B25-1974DB75E26A}"/>
              </a:ext>
            </a:extLst>
          </p:cNvPr>
          <p:cNvSpPr txBox="1"/>
          <p:nvPr/>
        </p:nvSpPr>
        <p:spPr>
          <a:xfrm>
            <a:off x="472611" y="3287603"/>
            <a:ext cx="4150760" cy="1477328"/>
          </a:xfrm>
          <a:prstGeom prst="rect">
            <a:avLst/>
          </a:prstGeom>
          <a:noFill/>
        </p:spPr>
        <p:txBody>
          <a:bodyPr wrap="square" rtlCol="0">
            <a:spAutoFit/>
          </a:bodyPr>
          <a:lstStyle/>
          <a:p>
            <a:r>
              <a:rPr lang="en-CA" dirty="0"/>
              <a:t>We more or less our sessions gets this data from the agent, but some of these are called by subsystems, and our agent session may not log those calls so this gives us full visibility. </a:t>
            </a:r>
          </a:p>
        </p:txBody>
      </p:sp>
    </p:spTree>
    <p:extLst>
      <p:ext uri="{BB962C8B-B14F-4D97-AF65-F5344CB8AC3E}">
        <p14:creationId xmlns:p14="http://schemas.microsoft.com/office/powerpoint/2010/main" val="1457091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5E3DC-CE6B-DCE4-AA90-67BE8C37FF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E3FF3CC-D087-3339-A398-F0321691A081}"/>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Telnet Raw Logging</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pic>
        <p:nvPicPr>
          <p:cNvPr id="3" name="Picture 2">
            <a:extLst>
              <a:ext uri="{FF2B5EF4-FFF2-40B4-BE49-F238E27FC236}">
                <a16:creationId xmlns:a16="http://schemas.microsoft.com/office/drawing/2014/main" id="{C56EF81E-7C53-DDD6-3765-BC87F423117F}"/>
              </a:ext>
            </a:extLst>
          </p:cNvPr>
          <p:cNvPicPr>
            <a:picLocks noChangeAspect="1"/>
          </p:cNvPicPr>
          <p:nvPr/>
        </p:nvPicPr>
        <p:blipFill>
          <a:blip r:embed="rId2"/>
          <a:stretch>
            <a:fillRect/>
          </a:stretch>
        </p:blipFill>
        <p:spPr>
          <a:xfrm>
            <a:off x="4144984" y="1245741"/>
            <a:ext cx="7802952" cy="5464629"/>
          </a:xfrm>
          <a:prstGeom prst="rect">
            <a:avLst/>
          </a:prstGeom>
          <a:solidFill>
            <a:schemeClr val="tx1"/>
          </a:solidFill>
          <a:ln>
            <a:solidFill>
              <a:schemeClr val="bg1">
                <a:lumMod val="50000"/>
              </a:schemeClr>
            </a:solidFill>
          </a:ln>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43623A5F-9242-8B89-D4E3-B49B88D7C4D7}"/>
              </a:ext>
            </a:extLst>
          </p:cNvPr>
          <p:cNvSpPr txBox="1"/>
          <p:nvPr/>
        </p:nvSpPr>
        <p:spPr>
          <a:xfrm>
            <a:off x="215757" y="1335640"/>
            <a:ext cx="3657600" cy="646331"/>
          </a:xfrm>
          <a:prstGeom prst="rect">
            <a:avLst/>
          </a:prstGeom>
          <a:noFill/>
        </p:spPr>
        <p:txBody>
          <a:bodyPr wrap="square" rtlCol="0">
            <a:spAutoFit/>
          </a:bodyPr>
          <a:lstStyle/>
          <a:p>
            <a:r>
              <a:rPr lang="en-CA" dirty="0"/>
              <a:t>We can see exactly what a user connected over telnet would see.</a:t>
            </a:r>
          </a:p>
        </p:txBody>
      </p:sp>
      <p:sp>
        <p:nvSpPr>
          <p:cNvPr id="15" name="TextBox 14">
            <a:extLst>
              <a:ext uri="{FF2B5EF4-FFF2-40B4-BE49-F238E27FC236}">
                <a16:creationId xmlns:a16="http://schemas.microsoft.com/office/drawing/2014/main" id="{AFDAF0CC-F525-8A81-2B59-78AE44EB446F}"/>
              </a:ext>
            </a:extLst>
          </p:cNvPr>
          <p:cNvSpPr txBox="1"/>
          <p:nvPr/>
        </p:nvSpPr>
        <p:spPr>
          <a:xfrm>
            <a:off x="244064" y="2302191"/>
            <a:ext cx="3657600" cy="923330"/>
          </a:xfrm>
          <a:prstGeom prst="rect">
            <a:avLst/>
          </a:prstGeom>
          <a:noFill/>
        </p:spPr>
        <p:txBody>
          <a:bodyPr wrap="square" rtlCol="0">
            <a:spAutoFit/>
          </a:bodyPr>
          <a:lstStyle/>
          <a:p>
            <a:r>
              <a:rPr lang="en-CA" dirty="0"/>
              <a:t>Because telnet can send output at anytime, our agent has to perform “poll” commands.</a:t>
            </a:r>
          </a:p>
        </p:txBody>
      </p:sp>
      <p:sp>
        <p:nvSpPr>
          <p:cNvPr id="18" name="TextBox 17">
            <a:extLst>
              <a:ext uri="{FF2B5EF4-FFF2-40B4-BE49-F238E27FC236}">
                <a16:creationId xmlns:a16="http://schemas.microsoft.com/office/drawing/2014/main" id="{E69165E9-F57C-47A9-0001-A03907DDCDBB}"/>
              </a:ext>
            </a:extLst>
          </p:cNvPr>
          <p:cNvSpPr txBox="1"/>
          <p:nvPr/>
        </p:nvSpPr>
        <p:spPr>
          <a:xfrm>
            <a:off x="244064" y="3429000"/>
            <a:ext cx="3657600" cy="923330"/>
          </a:xfrm>
          <a:prstGeom prst="rect">
            <a:avLst/>
          </a:prstGeom>
          <a:noFill/>
        </p:spPr>
        <p:txBody>
          <a:bodyPr wrap="square" rtlCol="0">
            <a:spAutoFit/>
          </a:bodyPr>
          <a:lstStyle/>
          <a:p>
            <a:r>
              <a:rPr lang="en-CA" dirty="0"/>
              <a:t>If something was dropped or missed by the agent we can clearly see it.</a:t>
            </a:r>
          </a:p>
        </p:txBody>
      </p:sp>
      <p:sp>
        <p:nvSpPr>
          <p:cNvPr id="20" name="TextBox 19">
            <a:extLst>
              <a:ext uri="{FF2B5EF4-FFF2-40B4-BE49-F238E27FC236}">
                <a16:creationId xmlns:a16="http://schemas.microsoft.com/office/drawing/2014/main" id="{D87305FE-45EB-A475-492E-ABB2C6D098A4}"/>
              </a:ext>
            </a:extLst>
          </p:cNvPr>
          <p:cNvSpPr txBox="1"/>
          <p:nvPr/>
        </p:nvSpPr>
        <p:spPr>
          <a:xfrm>
            <a:off x="365724" y="4434155"/>
            <a:ext cx="3657600" cy="1477328"/>
          </a:xfrm>
          <a:prstGeom prst="rect">
            <a:avLst/>
          </a:prstGeom>
          <a:noFill/>
        </p:spPr>
        <p:txBody>
          <a:bodyPr wrap="square" rtlCol="0">
            <a:spAutoFit/>
          </a:bodyPr>
          <a:lstStyle/>
          <a:p>
            <a:r>
              <a:rPr lang="en-CA" dirty="0"/>
              <a:t>We can clearly see what the Mud Manager commands compiled down into if something was wrong with Mud Manager command compiling.</a:t>
            </a:r>
          </a:p>
        </p:txBody>
      </p:sp>
      <p:sp>
        <p:nvSpPr>
          <p:cNvPr id="24" name="TextBox 23">
            <a:extLst>
              <a:ext uri="{FF2B5EF4-FFF2-40B4-BE49-F238E27FC236}">
                <a16:creationId xmlns:a16="http://schemas.microsoft.com/office/drawing/2014/main" id="{A8B0F827-1550-9A8B-68FE-349E2ADEC8D3}"/>
              </a:ext>
            </a:extLst>
          </p:cNvPr>
          <p:cNvSpPr txBox="1"/>
          <p:nvPr/>
        </p:nvSpPr>
        <p:spPr>
          <a:xfrm>
            <a:off x="730316" y="5993308"/>
            <a:ext cx="2928415" cy="338554"/>
          </a:xfrm>
          <a:prstGeom prst="rect">
            <a:avLst/>
          </a:prstGeom>
          <a:solidFill>
            <a:schemeClr val="accent2">
              <a:lumMod val="20000"/>
              <a:lumOff val="80000"/>
            </a:schemeClr>
          </a:solidFill>
          <a:ln>
            <a:solidFill>
              <a:schemeClr val="tx1">
                <a:lumMod val="65000"/>
                <a:lumOff val="35000"/>
              </a:schemeClr>
            </a:solidFill>
          </a:ln>
          <a:effectLst/>
        </p:spPr>
        <p:txBody>
          <a:bodyPr wrap="square" rtlCol="0">
            <a:spAutoFit/>
          </a:bodyPr>
          <a:lstStyle/>
          <a:p>
            <a:r>
              <a:rPr lang="en-CA" sz="1600" dirty="0"/>
              <a:t>~/.</a:t>
            </a:r>
            <a:r>
              <a:rPr lang="en-CA" sz="1600" dirty="0" err="1"/>
              <a:t>boukensha</a:t>
            </a:r>
            <a:r>
              <a:rPr lang="en-CA" sz="1600" dirty="0"/>
              <a:t>/telnet/*.</a:t>
            </a:r>
            <a:r>
              <a:rPr lang="en-CA" sz="1600" dirty="0" err="1"/>
              <a:t>jsonl</a:t>
            </a:r>
            <a:endParaRPr lang="en-CA" sz="1600" dirty="0"/>
          </a:p>
        </p:txBody>
      </p:sp>
    </p:spTree>
    <p:extLst>
      <p:ext uri="{BB962C8B-B14F-4D97-AF65-F5344CB8AC3E}">
        <p14:creationId xmlns:p14="http://schemas.microsoft.com/office/powerpoint/2010/main" val="1457040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94FE6-003B-3A53-A7AE-8196B134A99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18B104-3B51-B53C-FA70-873A9FDB245C}"/>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Change Capture Data (CDC) Changelog</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5" name="TextBox 4">
            <a:extLst>
              <a:ext uri="{FF2B5EF4-FFF2-40B4-BE49-F238E27FC236}">
                <a16:creationId xmlns:a16="http://schemas.microsoft.com/office/drawing/2014/main" id="{31A24ED1-FADA-0545-EF3F-7FF18A63A0F6}"/>
              </a:ext>
            </a:extLst>
          </p:cNvPr>
          <p:cNvSpPr txBox="1"/>
          <p:nvPr/>
        </p:nvSpPr>
        <p:spPr>
          <a:xfrm>
            <a:off x="215757" y="1335640"/>
            <a:ext cx="3657600" cy="923330"/>
          </a:xfrm>
          <a:prstGeom prst="rect">
            <a:avLst/>
          </a:prstGeom>
          <a:noFill/>
        </p:spPr>
        <p:txBody>
          <a:bodyPr wrap="square" rtlCol="0">
            <a:spAutoFit/>
          </a:bodyPr>
          <a:lstStyle/>
          <a:p>
            <a:r>
              <a:rPr lang="en-CA" dirty="0"/>
              <a:t>Anytime we write to our database we should capture what has changed: </a:t>
            </a:r>
            <a:r>
              <a:rPr lang="en-CA" dirty="0" err="1"/>
              <a:t>upsert</a:t>
            </a:r>
            <a:r>
              <a:rPr lang="en-CA" dirty="0"/>
              <a:t>, update, delete</a:t>
            </a:r>
          </a:p>
        </p:txBody>
      </p:sp>
      <p:pic>
        <p:nvPicPr>
          <p:cNvPr id="22" name="Picture 21">
            <a:extLst>
              <a:ext uri="{FF2B5EF4-FFF2-40B4-BE49-F238E27FC236}">
                <a16:creationId xmlns:a16="http://schemas.microsoft.com/office/drawing/2014/main" id="{4AFD332B-5B24-095B-A627-A4731C709787}"/>
              </a:ext>
            </a:extLst>
          </p:cNvPr>
          <p:cNvPicPr>
            <a:picLocks noChangeAspect="1"/>
          </p:cNvPicPr>
          <p:nvPr/>
        </p:nvPicPr>
        <p:blipFill>
          <a:blip r:embed="rId2"/>
          <a:stretch>
            <a:fillRect/>
          </a:stretch>
        </p:blipFill>
        <p:spPr>
          <a:xfrm>
            <a:off x="4272368" y="1335640"/>
            <a:ext cx="7675568" cy="4489603"/>
          </a:xfrm>
          <a:prstGeom prst="rect">
            <a:avLst/>
          </a:prstGeom>
        </p:spPr>
      </p:pic>
      <p:sp>
        <p:nvSpPr>
          <p:cNvPr id="6" name="TextBox 5">
            <a:extLst>
              <a:ext uri="{FF2B5EF4-FFF2-40B4-BE49-F238E27FC236}">
                <a16:creationId xmlns:a16="http://schemas.microsoft.com/office/drawing/2014/main" id="{F7C978B5-086E-D0BB-C2D9-7AB742F45C94}"/>
              </a:ext>
            </a:extLst>
          </p:cNvPr>
          <p:cNvSpPr txBox="1"/>
          <p:nvPr/>
        </p:nvSpPr>
        <p:spPr>
          <a:xfrm>
            <a:off x="244064" y="2505670"/>
            <a:ext cx="3657600" cy="1200329"/>
          </a:xfrm>
          <a:prstGeom prst="rect">
            <a:avLst/>
          </a:prstGeom>
          <a:noFill/>
        </p:spPr>
        <p:txBody>
          <a:bodyPr wrap="square" rtlCol="0">
            <a:spAutoFit/>
          </a:bodyPr>
          <a:lstStyle/>
          <a:p>
            <a:r>
              <a:rPr lang="en-CA" dirty="0"/>
              <a:t>SQLITE doesn’t have native CDC so will have to have a generic class wrapping all database modification calls.</a:t>
            </a:r>
          </a:p>
        </p:txBody>
      </p:sp>
      <p:sp>
        <p:nvSpPr>
          <p:cNvPr id="8" name="TextBox 7">
            <a:extLst>
              <a:ext uri="{FF2B5EF4-FFF2-40B4-BE49-F238E27FC236}">
                <a16:creationId xmlns:a16="http://schemas.microsoft.com/office/drawing/2014/main" id="{A58BDBA2-58A6-03F3-3C30-E807F686511F}"/>
              </a:ext>
            </a:extLst>
          </p:cNvPr>
          <p:cNvSpPr txBox="1"/>
          <p:nvPr/>
        </p:nvSpPr>
        <p:spPr>
          <a:xfrm>
            <a:off x="316786" y="3799366"/>
            <a:ext cx="3657600" cy="1200329"/>
          </a:xfrm>
          <a:prstGeom prst="rect">
            <a:avLst/>
          </a:prstGeom>
          <a:noFill/>
        </p:spPr>
        <p:txBody>
          <a:bodyPr wrap="square" rtlCol="0">
            <a:spAutoFit/>
          </a:bodyPr>
          <a:lstStyle/>
          <a:p>
            <a:r>
              <a:rPr lang="en-CA" dirty="0"/>
              <a:t>Some calls could get jittery e.g. like hp or </a:t>
            </a:r>
            <a:r>
              <a:rPr lang="en-CA" dirty="0" err="1"/>
              <a:t>move_cost</a:t>
            </a:r>
            <a:r>
              <a:rPr lang="en-CA" dirty="0"/>
              <a:t>. We might need consider how much we sample of high volume updates.</a:t>
            </a:r>
          </a:p>
        </p:txBody>
      </p:sp>
      <p:sp>
        <p:nvSpPr>
          <p:cNvPr id="10" name="TextBox 9">
            <a:extLst>
              <a:ext uri="{FF2B5EF4-FFF2-40B4-BE49-F238E27FC236}">
                <a16:creationId xmlns:a16="http://schemas.microsoft.com/office/drawing/2014/main" id="{7DFF078D-515B-2CBE-309A-4B3D9E8FF130}"/>
              </a:ext>
            </a:extLst>
          </p:cNvPr>
          <p:cNvSpPr txBox="1"/>
          <p:nvPr/>
        </p:nvSpPr>
        <p:spPr>
          <a:xfrm>
            <a:off x="452914" y="5486689"/>
            <a:ext cx="2928415" cy="338554"/>
          </a:xfrm>
          <a:prstGeom prst="rect">
            <a:avLst/>
          </a:prstGeom>
          <a:solidFill>
            <a:schemeClr val="accent2">
              <a:lumMod val="20000"/>
              <a:lumOff val="80000"/>
            </a:schemeClr>
          </a:solidFill>
          <a:ln>
            <a:solidFill>
              <a:schemeClr val="tx1">
                <a:lumMod val="65000"/>
                <a:lumOff val="35000"/>
              </a:schemeClr>
            </a:solidFill>
          </a:ln>
          <a:effectLst/>
        </p:spPr>
        <p:txBody>
          <a:bodyPr wrap="square" rtlCol="0">
            <a:spAutoFit/>
          </a:bodyPr>
          <a:lstStyle/>
          <a:p>
            <a:r>
              <a:rPr lang="en-CA" sz="1600" dirty="0"/>
              <a:t>~/.</a:t>
            </a:r>
            <a:r>
              <a:rPr lang="en-CA" sz="1600" dirty="0" err="1"/>
              <a:t>boukensha</a:t>
            </a:r>
            <a:r>
              <a:rPr lang="en-CA" sz="1600" dirty="0"/>
              <a:t>/journal/*.</a:t>
            </a:r>
            <a:r>
              <a:rPr lang="en-CA" sz="1600" dirty="0" err="1"/>
              <a:t>jsonl</a:t>
            </a:r>
            <a:endParaRPr lang="en-CA" sz="1600" dirty="0"/>
          </a:p>
        </p:txBody>
      </p:sp>
      <mc:AlternateContent xmlns:mc="http://schemas.openxmlformats.org/markup-compatibility/2006">
        <mc:Choice xmlns:p14="http://schemas.microsoft.com/office/powerpoint/2010/main" Requires="p14">
          <p:contentPart p14:bwMode="auto" r:id="rId3">
            <p14:nvContentPartPr>
              <p14:cNvPr id="13" name="Ink 12">
                <a:extLst>
                  <a:ext uri="{FF2B5EF4-FFF2-40B4-BE49-F238E27FC236}">
                    <a16:creationId xmlns:a16="http://schemas.microsoft.com/office/drawing/2014/main" id="{391BB0E3-584F-A962-10BB-DC10CE681978}"/>
                  </a:ext>
                </a:extLst>
              </p14:cNvPr>
              <p14:cNvContentPartPr/>
              <p14:nvPr/>
            </p14:nvContentPartPr>
            <p14:xfrm>
              <a:off x="6127920" y="3803760"/>
              <a:ext cx="1041480" cy="1879920"/>
            </p14:xfrm>
          </p:contentPart>
        </mc:Choice>
        <mc:Fallback>
          <p:pic>
            <p:nvPicPr>
              <p:cNvPr id="13" name="Ink 12">
                <a:extLst>
                  <a:ext uri="{FF2B5EF4-FFF2-40B4-BE49-F238E27FC236}">
                    <a16:creationId xmlns:a16="http://schemas.microsoft.com/office/drawing/2014/main" id="{391BB0E3-584F-A962-10BB-DC10CE681978}"/>
                  </a:ext>
                </a:extLst>
              </p:cNvPr>
              <p:cNvPicPr/>
              <p:nvPr/>
            </p:nvPicPr>
            <p:blipFill>
              <a:blip r:embed="rId4"/>
              <a:stretch>
                <a:fillRect/>
              </a:stretch>
            </p:blipFill>
            <p:spPr>
              <a:xfrm>
                <a:off x="6118560" y="3794400"/>
                <a:ext cx="1060200" cy="1898640"/>
              </a:xfrm>
              <a:prstGeom prst="rect">
                <a:avLst/>
              </a:prstGeom>
            </p:spPr>
          </p:pic>
        </mc:Fallback>
      </mc:AlternateContent>
    </p:spTree>
    <p:extLst>
      <p:ext uri="{BB962C8B-B14F-4D97-AF65-F5344CB8AC3E}">
        <p14:creationId xmlns:p14="http://schemas.microsoft.com/office/powerpoint/2010/main" val="4145163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085BC-0F7F-0A10-C008-A58FB085E50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040840-F6D0-F934-50CB-C81EB7177388}"/>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Change Capture Data (CDC) Changelog</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5" name="TextBox 4">
            <a:extLst>
              <a:ext uri="{FF2B5EF4-FFF2-40B4-BE49-F238E27FC236}">
                <a16:creationId xmlns:a16="http://schemas.microsoft.com/office/drawing/2014/main" id="{853636D3-98F7-62C3-787A-F0B75E9093F7}"/>
              </a:ext>
            </a:extLst>
          </p:cNvPr>
          <p:cNvSpPr txBox="1"/>
          <p:nvPr/>
        </p:nvSpPr>
        <p:spPr>
          <a:xfrm>
            <a:off x="354676" y="1305195"/>
            <a:ext cx="5322014" cy="646331"/>
          </a:xfrm>
          <a:prstGeom prst="rect">
            <a:avLst/>
          </a:prstGeom>
          <a:noFill/>
        </p:spPr>
        <p:txBody>
          <a:bodyPr wrap="square" rtlCol="0">
            <a:spAutoFit/>
          </a:bodyPr>
          <a:lstStyle/>
          <a:p>
            <a:r>
              <a:rPr lang="en-CA" dirty="0"/>
              <a:t>With the change log we can have timeseries of key stats like HP, MP, Level, Movement, Gold over time.</a:t>
            </a:r>
          </a:p>
        </p:txBody>
      </p:sp>
      <p:sp>
        <p:nvSpPr>
          <p:cNvPr id="10" name="TextBox 9">
            <a:extLst>
              <a:ext uri="{FF2B5EF4-FFF2-40B4-BE49-F238E27FC236}">
                <a16:creationId xmlns:a16="http://schemas.microsoft.com/office/drawing/2014/main" id="{8E94FBA7-1CBE-9BEE-9C22-D061E4E026C8}"/>
              </a:ext>
            </a:extLst>
          </p:cNvPr>
          <p:cNvSpPr txBox="1"/>
          <p:nvPr/>
        </p:nvSpPr>
        <p:spPr>
          <a:xfrm>
            <a:off x="452914" y="5486689"/>
            <a:ext cx="2928415" cy="338554"/>
          </a:xfrm>
          <a:prstGeom prst="rect">
            <a:avLst/>
          </a:prstGeom>
          <a:solidFill>
            <a:schemeClr val="accent2">
              <a:lumMod val="20000"/>
              <a:lumOff val="80000"/>
            </a:schemeClr>
          </a:solidFill>
          <a:ln>
            <a:solidFill>
              <a:schemeClr val="tx1">
                <a:lumMod val="65000"/>
                <a:lumOff val="35000"/>
              </a:schemeClr>
            </a:solidFill>
          </a:ln>
          <a:effectLst/>
        </p:spPr>
        <p:txBody>
          <a:bodyPr wrap="square" rtlCol="0">
            <a:spAutoFit/>
          </a:bodyPr>
          <a:lstStyle/>
          <a:p>
            <a:r>
              <a:rPr lang="en-CA" sz="1600" dirty="0"/>
              <a:t>~/.</a:t>
            </a:r>
            <a:r>
              <a:rPr lang="en-CA" sz="1600" dirty="0" err="1"/>
              <a:t>boukensha</a:t>
            </a:r>
            <a:r>
              <a:rPr lang="en-CA" sz="1600" dirty="0"/>
              <a:t>/journal/*.</a:t>
            </a:r>
            <a:r>
              <a:rPr lang="en-CA" sz="1600" dirty="0" err="1"/>
              <a:t>jsonl</a:t>
            </a:r>
            <a:endParaRPr lang="en-CA" sz="1600" dirty="0"/>
          </a:p>
        </p:txBody>
      </p:sp>
      <p:pic>
        <p:nvPicPr>
          <p:cNvPr id="12" name="Picture 11">
            <a:extLst>
              <a:ext uri="{FF2B5EF4-FFF2-40B4-BE49-F238E27FC236}">
                <a16:creationId xmlns:a16="http://schemas.microsoft.com/office/drawing/2014/main" id="{D73208DC-EFD2-22D6-62DE-97A92182CC6F}"/>
              </a:ext>
            </a:extLst>
          </p:cNvPr>
          <p:cNvPicPr>
            <a:picLocks noChangeAspect="1"/>
          </p:cNvPicPr>
          <p:nvPr/>
        </p:nvPicPr>
        <p:blipFill>
          <a:blip r:embed="rId2"/>
          <a:stretch>
            <a:fillRect/>
          </a:stretch>
        </p:blipFill>
        <p:spPr>
          <a:xfrm>
            <a:off x="6084041" y="1150706"/>
            <a:ext cx="5753283" cy="5602831"/>
          </a:xfrm>
          <a:prstGeom prst="rect">
            <a:avLst/>
          </a:prstGeom>
        </p:spPr>
      </p:pic>
      <p:sp>
        <p:nvSpPr>
          <p:cNvPr id="3" name="TextBox 2">
            <a:extLst>
              <a:ext uri="{FF2B5EF4-FFF2-40B4-BE49-F238E27FC236}">
                <a16:creationId xmlns:a16="http://schemas.microsoft.com/office/drawing/2014/main" id="{159FB56F-C49D-53DE-30B9-48E381405551}"/>
              </a:ext>
            </a:extLst>
          </p:cNvPr>
          <p:cNvSpPr txBox="1"/>
          <p:nvPr/>
        </p:nvSpPr>
        <p:spPr>
          <a:xfrm>
            <a:off x="452914" y="2241301"/>
            <a:ext cx="5322014" cy="1754326"/>
          </a:xfrm>
          <a:prstGeom prst="rect">
            <a:avLst/>
          </a:prstGeom>
          <a:noFill/>
        </p:spPr>
        <p:txBody>
          <a:bodyPr wrap="square" rtlCol="0">
            <a:spAutoFit/>
          </a:bodyPr>
          <a:lstStyle/>
          <a:p>
            <a:r>
              <a:rPr lang="en-CA" dirty="0"/>
              <a:t>The only catch is that we only see what was changed in our memory and when the agent is active.</a:t>
            </a:r>
          </a:p>
          <a:p>
            <a:endParaRPr lang="en-CA" dirty="0"/>
          </a:p>
          <a:p>
            <a:r>
              <a:rPr lang="en-CA" dirty="0"/>
              <a:t>We could engage a mob, and the agent decides it has hit its token usage limit, and waits for you ask it to update, and you missed detailed changes in data.</a:t>
            </a:r>
          </a:p>
        </p:txBody>
      </p:sp>
      <p:sp>
        <p:nvSpPr>
          <p:cNvPr id="9" name="TextBox 8">
            <a:extLst>
              <a:ext uri="{FF2B5EF4-FFF2-40B4-BE49-F238E27FC236}">
                <a16:creationId xmlns:a16="http://schemas.microsoft.com/office/drawing/2014/main" id="{3AE39FFD-3288-C1E2-0E38-DD2390BEF9D2}"/>
              </a:ext>
            </a:extLst>
          </p:cNvPr>
          <p:cNvSpPr txBox="1"/>
          <p:nvPr/>
        </p:nvSpPr>
        <p:spPr>
          <a:xfrm>
            <a:off x="452914" y="4187160"/>
            <a:ext cx="5454726" cy="1200329"/>
          </a:xfrm>
          <a:prstGeom prst="rect">
            <a:avLst/>
          </a:prstGeom>
          <a:noFill/>
        </p:spPr>
        <p:txBody>
          <a:bodyPr wrap="square" rtlCol="0">
            <a:spAutoFit/>
          </a:bodyPr>
          <a:lstStyle/>
          <a:p>
            <a:r>
              <a:rPr lang="en-CA" dirty="0"/>
              <a:t>Technically we could get very detail changes in player data from the telnet raw session. But this is a representation of what the agent knows in its memory.</a:t>
            </a:r>
          </a:p>
        </p:txBody>
      </p:sp>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8C34E0C9-49AD-F0FA-BEF6-6823E2F9D7A0}"/>
                  </a:ext>
                </a:extLst>
              </p14:cNvPr>
              <p14:cNvContentPartPr/>
              <p14:nvPr/>
            </p14:nvContentPartPr>
            <p14:xfrm>
              <a:off x="5778360" y="2590920"/>
              <a:ext cx="5194800" cy="4260960"/>
            </p14:xfrm>
          </p:contentPart>
        </mc:Choice>
        <mc:Fallback>
          <p:pic>
            <p:nvPicPr>
              <p:cNvPr id="11" name="Ink 10">
                <a:extLst>
                  <a:ext uri="{FF2B5EF4-FFF2-40B4-BE49-F238E27FC236}">
                    <a16:creationId xmlns:a16="http://schemas.microsoft.com/office/drawing/2014/main" id="{8C34E0C9-49AD-F0FA-BEF6-6823E2F9D7A0}"/>
                  </a:ext>
                </a:extLst>
              </p:cNvPr>
              <p:cNvPicPr/>
              <p:nvPr/>
            </p:nvPicPr>
            <p:blipFill>
              <a:blip r:embed="rId4"/>
              <a:stretch>
                <a:fillRect/>
              </a:stretch>
            </p:blipFill>
            <p:spPr>
              <a:xfrm>
                <a:off x="5769000" y="2581560"/>
                <a:ext cx="5213520" cy="4279680"/>
              </a:xfrm>
              <a:prstGeom prst="rect">
                <a:avLst/>
              </a:prstGeom>
            </p:spPr>
          </p:pic>
        </mc:Fallback>
      </mc:AlternateContent>
    </p:spTree>
    <p:extLst>
      <p:ext uri="{BB962C8B-B14F-4D97-AF65-F5344CB8AC3E}">
        <p14:creationId xmlns:p14="http://schemas.microsoft.com/office/powerpoint/2010/main" val="3177453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13A80-7166-5562-BDB8-09499A71D94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26FEEEE-CF9E-CA30-B7DA-5329C5AAD0F5}"/>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Knowledge.sqlite3</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5" name="TextBox 4">
            <a:extLst>
              <a:ext uri="{FF2B5EF4-FFF2-40B4-BE49-F238E27FC236}">
                <a16:creationId xmlns:a16="http://schemas.microsoft.com/office/drawing/2014/main" id="{B2CEE275-6153-C3C2-B95E-E1084D5671DF}"/>
              </a:ext>
            </a:extLst>
          </p:cNvPr>
          <p:cNvSpPr txBox="1"/>
          <p:nvPr/>
        </p:nvSpPr>
        <p:spPr>
          <a:xfrm>
            <a:off x="1751961" y="1243550"/>
            <a:ext cx="8100955" cy="1754326"/>
          </a:xfrm>
          <a:prstGeom prst="rect">
            <a:avLst/>
          </a:prstGeom>
          <a:noFill/>
        </p:spPr>
        <p:txBody>
          <a:bodyPr wrap="square" rtlCol="0">
            <a:spAutoFit/>
          </a:bodyPr>
          <a:lstStyle/>
          <a:p>
            <a:r>
              <a:rPr lang="en-CA" b="1" dirty="0"/>
              <a:t>Should we use a Relations or Document database</a:t>
            </a:r>
          </a:p>
          <a:p>
            <a:r>
              <a:rPr lang="en-CA" dirty="0"/>
              <a:t>Our data has the need for relations e.g. rooms and exits.</a:t>
            </a:r>
          </a:p>
          <a:p>
            <a:r>
              <a:rPr lang="en-CA" dirty="0"/>
              <a:t>What’s in a room is quite predictable, so needing loose structure is not needed, and maintain different schemas is annoying.</a:t>
            </a:r>
          </a:p>
          <a:p>
            <a:r>
              <a:rPr lang="en-CA" dirty="0"/>
              <a:t>For general knowledge a Document database could prove useful, but I don’t know enough to justify a document database </a:t>
            </a:r>
            <a:r>
              <a:rPr lang="en-CA" dirty="0" err="1"/>
              <a:t>usecase</a:t>
            </a:r>
            <a:r>
              <a:rPr lang="en-CA" dirty="0"/>
              <a:t> so we will go relational.</a:t>
            </a:r>
          </a:p>
        </p:txBody>
      </p:sp>
      <p:sp>
        <p:nvSpPr>
          <p:cNvPr id="10" name="TextBox 9">
            <a:extLst>
              <a:ext uri="{FF2B5EF4-FFF2-40B4-BE49-F238E27FC236}">
                <a16:creationId xmlns:a16="http://schemas.microsoft.com/office/drawing/2014/main" id="{57C70C1D-B86C-87CA-483A-A2DED510338F}"/>
              </a:ext>
            </a:extLst>
          </p:cNvPr>
          <p:cNvSpPr txBox="1"/>
          <p:nvPr/>
        </p:nvSpPr>
        <p:spPr>
          <a:xfrm>
            <a:off x="4100240" y="5614450"/>
            <a:ext cx="3708120" cy="338554"/>
          </a:xfrm>
          <a:prstGeom prst="rect">
            <a:avLst/>
          </a:prstGeom>
          <a:solidFill>
            <a:schemeClr val="accent2">
              <a:lumMod val="20000"/>
              <a:lumOff val="80000"/>
            </a:schemeClr>
          </a:solidFill>
          <a:ln>
            <a:solidFill>
              <a:schemeClr val="tx1">
                <a:lumMod val="65000"/>
                <a:lumOff val="35000"/>
              </a:schemeClr>
            </a:solidFill>
          </a:ln>
          <a:effectLst/>
        </p:spPr>
        <p:txBody>
          <a:bodyPr wrap="square" rtlCol="0">
            <a:spAutoFit/>
          </a:bodyPr>
          <a:lstStyle/>
          <a:p>
            <a:r>
              <a:rPr lang="en-CA" sz="1600" dirty="0"/>
              <a:t>~/.</a:t>
            </a:r>
            <a:r>
              <a:rPr lang="en-CA" sz="1600" dirty="0" err="1"/>
              <a:t>boukensha</a:t>
            </a:r>
            <a:r>
              <a:rPr lang="en-CA" sz="1600" dirty="0"/>
              <a:t>/knowledge.sqlite3</a:t>
            </a:r>
          </a:p>
        </p:txBody>
      </p:sp>
      <p:sp>
        <p:nvSpPr>
          <p:cNvPr id="6" name="TextBox 5">
            <a:extLst>
              <a:ext uri="{FF2B5EF4-FFF2-40B4-BE49-F238E27FC236}">
                <a16:creationId xmlns:a16="http://schemas.microsoft.com/office/drawing/2014/main" id="{45B7A3F6-F3EA-1F12-EDB9-542DE78CC6E3}"/>
              </a:ext>
            </a:extLst>
          </p:cNvPr>
          <p:cNvSpPr txBox="1"/>
          <p:nvPr/>
        </p:nvSpPr>
        <p:spPr>
          <a:xfrm>
            <a:off x="1669767" y="3244334"/>
            <a:ext cx="8100955" cy="2031325"/>
          </a:xfrm>
          <a:prstGeom prst="rect">
            <a:avLst/>
          </a:prstGeom>
          <a:noFill/>
        </p:spPr>
        <p:txBody>
          <a:bodyPr wrap="square" rtlCol="0">
            <a:spAutoFit/>
          </a:bodyPr>
          <a:lstStyle/>
          <a:p>
            <a:r>
              <a:rPr lang="en-CA" b="1" dirty="0"/>
              <a:t>Postgres or SQLITE3?</a:t>
            </a:r>
          </a:p>
          <a:p>
            <a:r>
              <a:rPr lang="en-CA" dirty="0"/>
              <a:t>SQLITE3 is portable, there are no major </a:t>
            </a:r>
            <a:r>
              <a:rPr lang="en-CA" dirty="0" err="1"/>
              <a:t>painpoints</a:t>
            </a:r>
            <a:r>
              <a:rPr lang="en-CA" dirty="0"/>
              <a:t>. If we needed a document like database </a:t>
            </a:r>
            <a:r>
              <a:rPr lang="en-CA" dirty="0" err="1"/>
              <a:t>postgres</a:t>
            </a:r>
            <a:r>
              <a:rPr lang="en-CA" dirty="0"/>
              <a:t> could easily add that with </a:t>
            </a:r>
            <a:r>
              <a:rPr lang="en-CA" dirty="0" err="1"/>
              <a:t>json</a:t>
            </a:r>
            <a:r>
              <a:rPr lang="en-CA" dirty="0"/>
              <a:t> columns, and we could easily get a CDC with </a:t>
            </a:r>
            <a:r>
              <a:rPr lang="en-CA" dirty="0" err="1"/>
              <a:t>postgres</a:t>
            </a:r>
            <a:r>
              <a:rPr lang="en-CA" dirty="0"/>
              <a:t>. The portability at this stage is a big win, also the amount of rooms in the world is in the hundreds so the world in theory is quite small not really justifying a </a:t>
            </a:r>
            <a:r>
              <a:rPr lang="en-CA" dirty="0" err="1"/>
              <a:t>postgres</a:t>
            </a:r>
            <a:r>
              <a:rPr lang="en-CA" dirty="0"/>
              <a:t> </a:t>
            </a:r>
            <a:r>
              <a:rPr lang="en-CA" dirty="0" err="1"/>
              <a:t>db</a:t>
            </a:r>
            <a:r>
              <a:rPr lang="en-CA" dirty="0"/>
              <a:t>, (unless we run multiple player agents at the same time.)</a:t>
            </a:r>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52510416-EB24-4787-6ECA-B9F62C801D8D}"/>
                  </a:ext>
                </a:extLst>
              </p14:cNvPr>
              <p14:cNvContentPartPr/>
              <p14:nvPr/>
            </p14:nvContentPartPr>
            <p14:xfrm>
              <a:off x="1701720" y="1498680"/>
              <a:ext cx="4439160" cy="2914920"/>
            </p14:xfrm>
          </p:contentPart>
        </mc:Choice>
        <mc:Fallback>
          <p:pic>
            <p:nvPicPr>
              <p:cNvPr id="7" name="Ink 6">
                <a:extLst>
                  <a:ext uri="{FF2B5EF4-FFF2-40B4-BE49-F238E27FC236}">
                    <a16:creationId xmlns:a16="http://schemas.microsoft.com/office/drawing/2014/main" id="{52510416-EB24-4787-6ECA-B9F62C801D8D}"/>
                  </a:ext>
                </a:extLst>
              </p:cNvPr>
              <p:cNvPicPr/>
              <p:nvPr/>
            </p:nvPicPr>
            <p:blipFill>
              <a:blip r:embed="rId3"/>
              <a:stretch>
                <a:fillRect/>
              </a:stretch>
            </p:blipFill>
            <p:spPr>
              <a:xfrm>
                <a:off x="1692360" y="1489320"/>
                <a:ext cx="4457880" cy="2933640"/>
              </a:xfrm>
              <a:prstGeom prst="rect">
                <a:avLst/>
              </a:prstGeom>
            </p:spPr>
          </p:pic>
        </mc:Fallback>
      </mc:AlternateContent>
    </p:spTree>
    <p:extLst>
      <p:ext uri="{BB962C8B-B14F-4D97-AF65-F5344CB8AC3E}">
        <p14:creationId xmlns:p14="http://schemas.microsoft.com/office/powerpoint/2010/main" val="718448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C3B58-82FA-0B51-6A8E-76CCB5153D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5067125-5C0C-B755-B36E-CE15BDCE6650}"/>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Knowledge</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pic>
        <p:nvPicPr>
          <p:cNvPr id="3" name="Picture 2">
            <a:extLst>
              <a:ext uri="{FF2B5EF4-FFF2-40B4-BE49-F238E27FC236}">
                <a16:creationId xmlns:a16="http://schemas.microsoft.com/office/drawing/2014/main" id="{692387F2-9977-809E-0006-97390D4157BD}"/>
              </a:ext>
            </a:extLst>
          </p:cNvPr>
          <p:cNvPicPr>
            <a:picLocks noChangeAspect="1"/>
          </p:cNvPicPr>
          <p:nvPr/>
        </p:nvPicPr>
        <p:blipFill>
          <a:blip r:embed="rId2"/>
          <a:stretch>
            <a:fillRect/>
          </a:stretch>
        </p:blipFill>
        <p:spPr>
          <a:xfrm>
            <a:off x="4016305" y="1726058"/>
            <a:ext cx="8061468" cy="4269263"/>
          </a:xfrm>
          <a:prstGeom prst="rect">
            <a:avLst/>
          </a:prstGeom>
        </p:spPr>
      </p:pic>
      <p:sp>
        <p:nvSpPr>
          <p:cNvPr id="7" name="TextBox 6">
            <a:extLst>
              <a:ext uri="{FF2B5EF4-FFF2-40B4-BE49-F238E27FC236}">
                <a16:creationId xmlns:a16="http://schemas.microsoft.com/office/drawing/2014/main" id="{099C3A94-5FC5-9AC3-3C4F-1CDBE37A037D}"/>
              </a:ext>
            </a:extLst>
          </p:cNvPr>
          <p:cNvSpPr txBox="1"/>
          <p:nvPr/>
        </p:nvSpPr>
        <p:spPr>
          <a:xfrm>
            <a:off x="369870" y="1469204"/>
            <a:ext cx="3308278" cy="2585323"/>
          </a:xfrm>
          <a:prstGeom prst="rect">
            <a:avLst/>
          </a:prstGeom>
          <a:noFill/>
        </p:spPr>
        <p:txBody>
          <a:bodyPr wrap="square" rtlCol="0">
            <a:spAutoFit/>
          </a:bodyPr>
          <a:lstStyle/>
          <a:p>
            <a:r>
              <a:rPr lang="en-CA" dirty="0"/>
              <a:t>Score being called on the before hook for model so you can see we have information about the player.</a:t>
            </a:r>
          </a:p>
          <a:p>
            <a:endParaRPr lang="en-CA" dirty="0"/>
          </a:p>
          <a:p>
            <a:endParaRPr lang="en-CA" dirty="0"/>
          </a:p>
          <a:p>
            <a:r>
              <a:rPr lang="en-CA" dirty="0"/>
              <a:t>Notice we are storing what we think is our current location and where we came from.</a:t>
            </a:r>
          </a:p>
        </p:txBody>
      </p:sp>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050ECF99-9089-84D7-8D3F-1B5302A781ED}"/>
                  </a:ext>
                </a:extLst>
              </p14:cNvPr>
              <p14:cNvContentPartPr/>
              <p14:nvPr/>
            </p14:nvContentPartPr>
            <p14:xfrm>
              <a:off x="4172040" y="4425840"/>
              <a:ext cx="5175360" cy="330840"/>
            </p14:xfrm>
          </p:contentPart>
        </mc:Choice>
        <mc:Fallback>
          <p:pic>
            <p:nvPicPr>
              <p:cNvPr id="11" name="Ink 10">
                <a:extLst>
                  <a:ext uri="{FF2B5EF4-FFF2-40B4-BE49-F238E27FC236}">
                    <a16:creationId xmlns:a16="http://schemas.microsoft.com/office/drawing/2014/main" id="{050ECF99-9089-84D7-8D3F-1B5302A781ED}"/>
                  </a:ext>
                </a:extLst>
              </p:cNvPr>
              <p:cNvPicPr/>
              <p:nvPr/>
            </p:nvPicPr>
            <p:blipFill>
              <a:blip r:embed="rId4"/>
              <a:stretch>
                <a:fillRect/>
              </a:stretch>
            </p:blipFill>
            <p:spPr>
              <a:xfrm>
                <a:off x="4162680" y="4416480"/>
                <a:ext cx="5194080" cy="349560"/>
              </a:xfrm>
              <a:prstGeom prst="rect">
                <a:avLst/>
              </a:prstGeom>
            </p:spPr>
          </p:pic>
        </mc:Fallback>
      </mc:AlternateContent>
    </p:spTree>
    <p:extLst>
      <p:ext uri="{BB962C8B-B14F-4D97-AF65-F5344CB8AC3E}">
        <p14:creationId xmlns:p14="http://schemas.microsoft.com/office/powerpoint/2010/main" val="2085380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ECD9F-2324-9F61-BC8C-0F2614CD90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3D0A59-E08E-5B2C-49FB-41EE45E3FF80}"/>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Knowledge</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7" name="TextBox 6">
            <a:extLst>
              <a:ext uri="{FF2B5EF4-FFF2-40B4-BE49-F238E27FC236}">
                <a16:creationId xmlns:a16="http://schemas.microsoft.com/office/drawing/2014/main" id="{5093C824-9CA6-7985-1637-16CA6596FED6}"/>
              </a:ext>
            </a:extLst>
          </p:cNvPr>
          <p:cNvSpPr txBox="1"/>
          <p:nvPr/>
        </p:nvSpPr>
        <p:spPr>
          <a:xfrm>
            <a:off x="369870" y="1469204"/>
            <a:ext cx="3308278" cy="4524315"/>
          </a:xfrm>
          <a:prstGeom prst="rect">
            <a:avLst/>
          </a:prstGeom>
          <a:noFill/>
        </p:spPr>
        <p:txBody>
          <a:bodyPr wrap="square" rtlCol="0">
            <a:spAutoFit/>
          </a:bodyPr>
          <a:lstStyle/>
          <a:p>
            <a:r>
              <a:rPr lang="en-CA" dirty="0"/>
              <a:t>For room data we capture the room title, description, and exits.</a:t>
            </a:r>
          </a:p>
          <a:p>
            <a:endParaRPr lang="en-CA" dirty="0"/>
          </a:p>
          <a:p>
            <a:r>
              <a:rPr lang="en-CA" dirty="0"/>
              <a:t>We can see how many times we </a:t>
            </a:r>
            <a:r>
              <a:rPr lang="en-CA" dirty="0" err="1"/>
              <a:t>visted</a:t>
            </a:r>
            <a:r>
              <a:rPr lang="en-CA" dirty="0"/>
              <a:t>.</a:t>
            </a:r>
          </a:p>
          <a:p>
            <a:endParaRPr lang="en-CA" dirty="0"/>
          </a:p>
          <a:p>
            <a:r>
              <a:rPr lang="en-CA" dirty="0"/>
              <a:t>What the heck is “here”</a:t>
            </a:r>
          </a:p>
          <a:p>
            <a:endParaRPr lang="en-CA" dirty="0"/>
          </a:p>
          <a:p>
            <a:r>
              <a:rPr lang="en-CA" dirty="0"/>
              <a:t>Look targets we have a custom BERT-Medium model to extract out look candidates and then we performed look to validate they do exists. (It only has 60-80% accuracy to detect those things)</a:t>
            </a:r>
          </a:p>
        </p:txBody>
      </p:sp>
      <p:pic>
        <p:nvPicPr>
          <p:cNvPr id="5" name="Picture 4">
            <a:extLst>
              <a:ext uri="{FF2B5EF4-FFF2-40B4-BE49-F238E27FC236}">
                <a16:creationId xmlns:a16="http://schemas.microsoft.com/office/drawing/2014/main" id="{5080EFC9-6F29-B9DA-ED1E-8DE2148C8A4A}"/>
              </a:ext>
            </a:extLst>
          </p:cNvPr>
          <p:cNvPicPr>
            <a:picLocks noChangeAspect="1"/>
          </p:cNvPicPr>
          <p:nvPr/>
        </p:nvPicPr>
        <p:blipFill>
          <a:blip r:embed="rId2"/>
          <a:stretch>
            <a:fillRect/>
          </a:stretch>
        </p:blipFill>
        <p:spPr>
          <a:xfrm>
            <a:off x="4818579" y="1132064"/>
            <a:ext cx="7191910" cy="5206643"/>
          </a:xfrm>
          <a:prstGeom prst="rect">
            <a:avLst/>
          </a:prstGeom>
        </p:spPr>
      </p:pic>
      <mc:AlternateContent xmlns:mc="http://schemas.openxmlformats.org/markup-compatibility/2006">
        <mc:Choice xmlns:p14="http://schemas.microsoft.com/office/powerpoint/2010/main" Requires="p14">
          <p:contentPart p14:bwMode="auto" r:id="rId3">
            <p14:nvContentPartPr>
              <p14:cNvPr id="12" name="Ink 11">
                <a:extLst>
                  <a:ext uri="{FF2B5EF4-FFF2-40B4-BE49-F238E27FC236}">
                    <a16:creationId xmlns:a16="http://schemas.microsoft.com/office/drawing/2014/main" id="{C695505B-7A64-66C4-AA2E-FE96BBE1E7E3}"/>
                  </a:ext>
                </a:extLst>
              </p14:cNvPr>
              <p14:cNvContentPartPr/>
              <p14:nvPr/>
            </p14:nvContentPartPr>
            <p14:xfrm>
              <a:off x="349200" y="2076480"/>
              <a:ext cx="9646200" cy="3454560"/>
            </p14:xfrm>
          </p:contentPart>
        </mc:Choice>
        <mc:Fallback>
          <p:pic>
            <p:nvPicPr>
              <p:cNvPr id="12" name="Ink 11">
                <a:extLst>
                  <a:ext uri="{FF2B5EF4-FFF2-40B4-BE49-F238E27FC236}">
                    <a16:creationId xmlns:a16="http://schemas.microsoft.com/office/drawing/2014/main" id="{C695505B-7A64-66C4-AA2E-FE96BBE1E7E3}"/>
                  </a:ext>
                </a:extLst>
              </p:cNvPr>
              <p:cNvPicPr/>
              <p:nvPr/>
            </p:nvPicPr>
            <p:blipFill>
              <a:blip r:embed="rId4"/>
              <a:stretch>
                <a:fillRect/>
              </a:stretch>
            </p:blipFill>
            <p:spPr>
              <a:xfrm>
                <a:off x="339840" y="2067120"/>
                <a:ext cx="9664920" cy="3473280"/>
              </a:xfrm>
              <a:prstGeom prst="rect">
                <a:avLst/>
              </a:prstGeom>
            </p:spPr>
          </p:pic>
        </mc:Fallback>
      </mc:AlternateContent>
    </p:spTree>
    <p:extLst>
      <p:ext uri="{BB962C8B-B14F-4D97-AF65-F5344CB8AC3E}">
        <p14:creationId xmlns:p14="http://schemas.microsoft.com/office/powerpoint/2010/main" val="3965982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75679-A277-9EB7-3AC7-5F069F40D5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F3BC03E-15C5-8D49-2F07-C3E228557640}"/>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kumimoji="0" lang="en-CA" sz="4000" b="1" i="0" u="none" strike="noStrike" kern="1200" cap="none" spc="0" normalizeH="0" baseline="0" noProof="0" dirty="0">
                <a:ln>
                  <a:noFill/>
                </a:ln>
                <a:solidFill>
                  <a:prstClr val="black"/>
                </a:solidFill>
                <a:effectLst/>
                <a:uLnTx/>
                <a:uFillTx/>
                <a:latin typeface="Handlee" panose="02000000000000000000" pitchFamily="2" charset="0"/>
              </a:rPr>
              <a:t>Map from Memory</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7" name="TextBox 6">
            <a:extLst>
              <a:ext uri="{FF2B5EF4-FFF2-40B4-BE49-F238E27FC236}">
                <a16:creationId xmlns:a16="http://schemas.microsoft.com/office/drawing/2014/main" id="{703EF9F1-5E80-1DAD-1911-A1041F64068F}"/>
              </a:ext>
            </a:extLst>
          </p:cNvPr>
          <p:cNvSpPr txBox="1"/>
          <p:nvPr/>
        </p:nvSpPr>
        <p:spPr>
          <a:xfrm>
            <a:off x="369870" y="1469204"/>
            <a:ext cx="3308278" cy="1477328"/>
          </a:xfrm>
          <a:prstGeom prst="rect">
            <a:avLst/>
          </a:prstGeom>
          <a:noFill/>
        </p:spPr>
        <p:txBody>
          <a:bodyPr wrap="square" rtlCol="0">
            <a:spAutoFit/>
          </a:bodyPr>
          <a:lstStyle/>
          <a:p>
            <a:r>
              <a:rPr lang="en-CA" dirty="0"/>
              <a:t>A visual map of what the agent sees.</a:t>
            </a:r>
          </a:p>
          <a:p>
            <a:endParaRPr lang="en-CA" dirty="0"/>
          </a:p>
          <a:p>
            <a:r>
              <a:rPr lang="en-CA" dirty="0"/>
              <a:t>Its not overlayed with the world data.</a:t>
            </a:r>
          </a:p>
        </p:txBody>
      </p:sp>
      <p:pic>
        <p:nvPicPr>
          <p:cNvPr id="11" name="Picture 10">
            <a:extLst>
              <a:ext uri="{FF2B5EF4-FFF2-40B4-BE49-F238E27FC236}">
                <a16:creationId xmlns:a16="http://schemas.microsoft.com/office/drawing/2014/main" id="{E1ACC5D1-E596-09F2-9FA7-882BB574BD44}"/>
              </a:ext>
            </a:extLst>
          </p:cNvPr>
          <p:cNvPicPr>
            <a:picLocks noChangeAspect="1"/>
          </p:cNvPicPr>
          <p:nvPr/>
        </p:nvPicPr>
        <p:blipFill>
          <a:blip r:embed="rId2"/>
          <a:stretch>
            <a:fillRect/>
          </a:stretch>
        </p:blipFill>
        <p:spPr>
          <a:xfrm>
            <a:off x="3901817" y="1163139"/>
            <a:ext cx="12192000" cy="5854768"/>
          </a:xfrm>
          <a:prstGeom prst="rect">
            <a:avLst/>
          </a:prstGeom>
        </p:spPr>
      </p:pic>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D6E5270C-C034-6FE3-5FFD-D6679FC38818}"/>
                  </a:ext>
                </a:extLst>
              </p14:cNvPr>
              <p14:cNvContentPartPr/>
              <p14:nvPr/>
            </p14:nvContentPartPr>
            <p14:xfrm>
              <a:off x="6864480" y="3505320"/>
              <a:ext cx="304920" cy="749520"/>
            </p14:xfrm>
          </p:contentPart>
        </mc:Choice>
        <mc:Fallback>
          <p:pic>
            <p:nvPicPr>
              <p:cNvPr id="6" name="Ink 5">
                <a:extLst>
                  <a:ext uri="{FF2B5EF4-FFF2-40B4-BE49-F238E27FC236}">
                    <a16:creationId xmlns:a16="http://schemas.microsoft.com/office/drawing/2014/main" id="{D6E5270C-C034-6FE3-5FFD-D6679FC38818}"/>
                  </a:ext>
                </a:extLst>
              </p:cNvPr>
              <p:cNvPicPr/>
              <p:nvPr/>
            </p:nvPicPr>
            <p:blipFill>
              <a:blip r:embed="rId4"/>
              <a:stretch>
                <a:fillRect/>
              </a:stretch>
            </p:blipFill>
            <p:spPr>
              <a:xfrm>
                <a:off x="6855120" y="3495960"/>
                <a:ext cx="323640" cy="768240"/>
              </a:xfrm>
              <a:prstGeom prst="rect">
                <a:avLst/>
              </a:prstGeom>
            </p:spPr>
          </p:pic>
        </mc:Fallback>
      </mc:AlternateContent>
    </p:spTree>
    <p:extLst>
      <p:ext uri="{BB962C8B-B14F-4D97-AF65-F5344CB8AC3E}">
        <p14:creationId xmlns:p14="http://schemas.microsoft.com/office/powerpoint/2010/main" val="3898055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4E1E4-3A93-5C2A-305A-3641341FDAE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B730F1-B61F-0BDB-BE3B-35A9D5E450E0}"/>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kumimoji="0" lang="en-CA" sz="4000" b="1" i="0" u="none" strike="noStrike" kern="1200" cap="none" spc="0" normalizeH="0" baseline="0" noProof="0" dirty="0">
                <a:ln>
                  <a:noFill/>
                </a:ln>
                <a:solidFill>
                  <a:prstClr val="black"/>
                </a:solidFill>
                <a:effectLst/>
                <a:uLnTx/>
                <a:uFillTx/>
                <a:latin typeface="Handlee" panose="02000000000000000000" pitchFamily="2" charset="0"/>
              </a:rPr>
              <a:t>Permission Polices</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pic>
        <p:nvPicPr>
          <p:cNvPr id="3" name="Picture 2">
            <a:extLst>
              <a:ext uri="{FF2B5EF4-FFF2-40B4-BE49-F238E27FC236}">
                <a16:creationId xmlns:a16="http://schemas.microsoft.com/office/drawing/2014/main" id="{A76C1B65-1207-CC55-2005-F13D107D40B2}"/>
              </a:ext>
            </a:extLst>
          </p:cNvPr>
          <p:cNvPicPr>
            <a:picLocks noChangeAspect="1"/>
          </p:cNvPicPr>
          <p:nvPr/>
        </p:nvPicPr>
        <p:blipFill>
          <a:blip r:embed="rId2"/>
          <a:stretch>
            <a:fillRect/>
          </a:stretch>
        </p:blipFill>
        <p:spPr>
          <a:xfrm>
            <a:off x="5776842" y="1514046"/>
            <a:ext cx="5611008" cy="4610743"/>
          </a:xfrm>
          <a:prstGeom prst="rect">
            <a:avLst/>
          </a:prstGeom>
        </p:spPr>
      </p:pic>
      <p:sp>
        <p:nvSpPr>
          <p:cNvPr id="6" name="TextBox 5">
            <a:extLst>
              <a:ext uri="{FF2B5EF4-FFF2-40B4-BE49-F238E27FC236}">
                <a16:creationId xmlns:a16="http://schemas.microsoft.com/office/drawing/2014/main" id="{0AE9667F-5646-D5F7-12E0-04E0E015D467}"/>
              </a:ext>
            </a:extLst>
          </p:cNvPr>
          <p:cNvSpPr txBox="1"/>
          <p:nvPr/>
        </p:nvSpPr>
        <p:spPr>
          <a:xfrm>
            <a:off x="369869" y="1469204"/>
            <a:ext cx="4520629" cy="1477328"/>
          </a:xfrm>
          <a:prstGeom prst="rect">
            <a:avLst/>
          </a:prstGeom>
          <a:noFill/>
        </p:spPr>
        <p:txBody>
          <a:bodyPr wrap="square" rtlCol="0">
            <a:spAutoFit/>
          </a:bodyPr>
          <a:lstStyle/>
          <a:p>
            <a:r>
              <a:rPr lang="en-CA" dirty="0"/>
              <a:t>Added Permission Policies.</a:t>
            </a:r>
          </a:p>
          <a:p>
            <a:endParaRPr lang="en-CA" dirty="0"/>
          </a:p>
          <a:p>
            <a:r>
              <a:rPr lang="en-CA" dirty="0"/>
              <a:t>At one point I thought I should have a </a:t>
            </a:r>
            <a:r>
              <a:rPr lang="en-CA" dirty="0" err="1"/>
              <a:t>inspect_room</a:t>
            </a:r>
            <a:r>
              <a:rPr lang="en-CA" dirty="0"/>
              <a:t> tool that would call subtask (LLM) that would gather more information</a:t>
            </a:r>
          </a:p>
        </p:txBody>
      </p:sp>
      <p:sp>
        <p:nvSpPr>
          <p:cNvPr id="8" name="TextBox 7">
            <a:extLst>
              <a:ext uri="{FF2B5EF4-FFF2-40B4-BE49-F238E27FC236}">
                <a16:creationId xmlns:a16="http://schemas.microsoft.com/office/drawing/2014/main" id="{3EAA0A79-E975-79A9-1CBC-D0071E128452}"/>
              </a:ext>
            </a:extLst>
          </p:cNvPr>
          <p:cNvSpPr txBox="1"/>
          <p:nvPr/>
        </p:nvSpPr>
        <p:spPr>
          <a:xfrm>
            <a:off x="450350" y="3219252"/>
            <a:ext cx="4520629" cy="1200329"/>
          </a:xfrm>
          <a:prstGeom prst="rect">
            <a:avLst/>
          </a:prstGeom>
          <a:noFill/>
        </p:spPr>
        <p:txBody>
          <a:bodyPr wrap="square" rtlCol="0">
            <a:spAutoFit/>
          </a:bodyPr>
          <a:lstStyle/>
          <a:p>
            <a:r>
              <a:rPr lang="en-CA" dirty="0"/>
              <a:t>At that time I thought look and exits we don’t want the main player to use, to force it to use </a:t>
            </a:r>
            <a:r>
              <a:rPr lang="en-CA" dirty="0" err="1"/>
              <a:t>inspect_room</a:t>
            </a:r>
            <a:r>
              <a:rPr lang="en-CA" dirty="0"/>
              <a:t> and so I needed to implement permissions</a:t>
            </a:r>
          </a:p>
        </p:txBody>
      </p:sp>
      <p:sp>
        <p:nvSpPr>
          <p:cNvPr id="10" name="TextBox 9">
            <a:extLst>
              <a:ext uri="{FF2B5EF4-FFF2-40B4-BE49-F238E27FC236}">
                <a16:creationId xmlns:a16="http://schemas.microsoft.com/office/drawing/2014/main" id="{17E4476B-8031-E93E-F281-6DBF7A88A07B}"/>
              </a:ext>
            </a:extLst>
          </p:cNvPr>
          <p:cNvSpPr txBox="1"/>
          <p:nvPr/>
        </p:nvSpPr>
        <p:spPr>
          <a:xfrm>
            <a:off x="450350" y="4550199"/>
            <a:ext cx="4520629" cy="646331"/>
          </a:xfrm>
          <a:prstGeom prst="rect">
            <a:avLst/>
          </a:prstGeom>
          <a:noFill/>
        </p:spPr>
        <p:txBody>
          <a:bodyPr wrap="square" rtlCol="0">
            <a:spAutoFit/>
          </a:bodyPr>
          <a:lstStyle/>
          <a:p>
            <a:r>
              <a:rPr lang="en-CA" dirty="0"/>
              <a:t>Decided the LLM subtask was too expensive and so we implemented Lifecyle hooks</a:t>
            </a:r>
          </a:p>
        </p:txBody>
      </p:sp>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FD97B7F5-B651-1526-6CED-69E8DEC80853}"/>
                  </a:ext>
                </a:extLst>
              </p14:cNvPr>
              <p14:cNvContentPartPr/>
              <p14:nvPr/>
            </p14:nvContentPartPr>
            <p14:xfrm>
              <a:off x="5048280" y="1860480"/>
              <a:ext cx="1486080" cy="1486440"/>
            </p14:xfrm>
          </p:contentPart>
        </mc:Choice>
        <mc:Fallback>
          <p:pic>
            <p:nvPicPr>
              <p:cNvPr id="11" name="Ink 10">
                <a:extLst>
                  <a:ext uri="{FF2B5EF4-FFF2-40B4-BE49-F238E27FC236}">
                    <a16:creationId xmlns:a16="http://schemas.microsoft.com/office/drawing/2014/main" id="{FD97B7F5-B651-1526-6CED-69E8DEC80853}"/>
                  </a:ext>
                </a:extLst>
              </p:cNvPr>
              <p:cNvPicPr/>
              <p:nvPr/>
            </p:nvPicPr>
            <p:blipFill>
              <a:blip r:embed="rId4"/>
              <a:stretch>
                <a:fillRect/>
              </a:stretch>
            </p:blipFill>
            <p:spPr>
              <a:xfrm>
                <a:off x="5038920" y="1851120"/>
                <a:ext cx="1504800" cy="1505160"/>
              </a:xfrm>
              <a:prstGeom prst="rect">
                <a:avLst/>
              </a:prstGeom>
            </p:spPr>
          </p:pic>
        </mc:Fallback>
      </mc:AlternateContent>
    </p:spTree>
    <p:extLst>
      <p:ext uri="{BB962C8B-B14F-4D97-AF65-F5344CB8AC3E}">
        <p14:creationId xmlns:p14="http://schemas.microsoft.com/office/powerpoint/2010/main" val="1682247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A5A8D-F826-C67D-5B9A-A78ED6D8A00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E89DA02-85FA-9A00-0061-F947F14010C3}"/>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kumimoji="0" lang="en-CA" sz="4000" b="1" i="0" u="none" strike="noStrike" kern="1200" cap="none" spc="0" normalizeH="0" baseline="0" noProof="0" dirty="0">
                <a:ln>
                  <a:noFill/>
                </a:ln>
                <a:solidFill>
                  <a:prstClr val="black"/>
                </a:solidFill>
                <a:effectLst/>
                <a:uLnTx/>
                <a:uFillTx/>
                <a:latin typeface="Handlee" panose="02000000000000000000" pitchFamily="2" charset="0"/>
              </a:rPr>
              <a:t>Lifecycle Hooks</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5" name="TextBox 4">
            <a:extLst>
              <a:ext uri="{FF2B5EF4-FFF2-40B4-BE49-F238E27FC236}">
                <a16:creationId xmlns:a16="http://schemas.microsoft.com/office/drawing/2014/main" id="{E1029256-5D83-FEE6-9A2A-AD6CC6592A94}"/>
              </a:ext>
            </a:extLst>
          </p:cNvPr>
          <p:cNvSpPr txBox="1"/>
          <p:nvPr/>
        </p:nvSpPr>
        <p:spPr>
          <a:xfrm>
            <a:off x="380143" y="1130950"/>
            <a:ext cx="10674850" cy="1754326"/>
          </a:xfrm>
          <a:prstGeom prst="rect">
            <a:avLst/>
          </a:prstGeom>
          <a:noFill/>
        </p:spPr>
        <p:txBody>
          <a:bodyPr wrap="square" rtlCol="0">
            <a:spAutoFit/>
          </a:bodyPr>
          <a:lstStyle/>
          <a:p>
            <a:r>
              <a:rPr lang="en-US" b="1" dirty="0" err="1"/>
              <a:t>before_turn</a:t>
            </a:r>
            <a:r>
              <a:rPr lang="en-US" dirty="0"/>
              <a:t>: initializes player state with check(score)</a:t>
            </a:r>
          </a:p>
          <a:p>
            <a:r>
              <a:rPr lang="en-US" b="1" dirty="0" err="1"/>
              <a:t>before_model</a:t>
            </a:r>
            <a:r>
              <a:rPr lang="en-US" dirty="0"/>
              <a:t>: establishes position with look and performs first-visit room surveys</a:t>
            </a:r>
          </a:p>
          <a:p>
            <a:r>
              <a:rPr lang="en-US" b="1" dirty="0" err="1"/>
              <a:t>before_tools</a:t>
            </a:r>
            <a:r>
              <a:rPr lang="en-US" dirty="0"/>
              <a:t>: performs poll before a model-selected tool batch</a:t>
            </a:r>
          </a:p>
          <a:p>
            <a:r>
              <a:rPr lang="en-US" b="1" dirty="0" err="1"/>
              <a:t>after_tool</a:t>
            </a:r>
            <a:r>
              <a:rPr lang="en-US" dirty="0"/>
              <a:t>: processes results and can replace raw movement output with a compact result</a:t>
            </a:r>
          </a:p>
          <a:p>
            <a:r>
              <a:rPr lang="en-US" b="1" dirty="0" err="1"/>
              <a:t>after_turn</a:t>
            </a:r>
            <a:r>
              <a:rPr lang="en-US" b="1" dirty="0"/>
              <a:t> </a:t>
            </a:r>
            <a:r>
              <a:rPr lang="en-US" dirty="0"/>
              <a:t>is documented as an available seam, but these docs don’t describe meaningful MUD-specific behavior attached to it.</a:t>
            </a:r>
            <a:endParaRPr lang="en-CA" dirty="0"/>
          </a:p>
        </p:txBody>
      </p:sp>
      <p:sp>
        <p:nvSpPr>
          <p:cNvPr id="9" name="TextBox 8">
            <a:extLst>
              <a:ext uri="{FF2B5EF4-FFF2-40B4-BE49-F238E27FC236}">
                <a16:creationId xmlns:a16="http://schemas.microsoft.com/office/drawing/2014/main" id="{16714EFD-45ED-772D-8D20-EC3C497CA393}"/>
              </a:ext>
            </a:extLst>
          </p:cNvPr>
          <p:cNvSpPr txBox="1"/>
          <p:nvPr/>
        </p:nvSpPr>
        <p:spPr>
          <a:xfrm>
            <a:off x="408718" y="3372560"/>
            <a:ext cx="7520683" cy="1200329"/>
          </a:xfrm>
          <a:prstGeom prst="rect">
            <a:avLst/>
          </a:prstGeom>
          <a:noFill/>
        </p:spPr>
        <p:txBody>
          <a:bodyPr wrap="square" rtlCol="0">
            <a:spAutoFit/>
          </a:bodyPr>
          <a:lstStyle/>
          <a:p>
            <a:r>
              <a:rPr lang="en-US" dirty="0"/>
              <a:t>A </a:t>
            </a:r>
            <a:r>
              <a:rPr lang="en-US" b="1" dirty="0">
                <a:solidFill>
                  <a:srgbClr val="FF0000"/>
                </a:solidFill>
              </a:rPr>
              <a:t>turn</a:t>
            </a:r>
            <a:r>
              <a:rPr lang="en-US" dirty="0"/>
              <a:t> is one user input and the complete agent run needed to answer it.</a:t>
            </a:r>
          </a:p>
          <a:p>
            <a:endParaRPr lang="en-US" dirty="0"/>
          </a:p>
          <a:p>
            <a:r>
              <a:rPr lang="en-US" dirty="0"/>
              <a:t> An </a:t>
            </a:r>
            <a:r>
              <a:rPr lang="en-US" b="1" dirty="0">
                <a:solidFill>
                  <a:srgbClr val="FF0000"/>
                </a:solidFill>
              </a:rPr>
              <a:t>iteration</a:t>
            </a:r>
            <a:r>
              <a:rPr lang="en-US" dirty="0"/>
              <a:t> is one pass through the inner agent loop—principally one model request and its response.</a:t>
            </a:r>
            <a:endParaRPr lang="en-CA" dirty="0"/>
          </a:p>
        </p:txBody>
      </p:sp>
      <p:pic>
        <p:nvPicPr>
          <p:cNvPr id="14" name="Picture 13">
            <a:extLst>
              <a:ext uri="{FF2B5EF4-FFF2-40B4-BE49-F238E27FC236}">
                <a16:creationId xmlns:a16="http://schemas.microsoft.com/office/drawing/2014/main" id="{1C7E4994-1492-C85E-99C7-9E367FA8DB4D}"/>
              </a:ext>
            </a:extLst>
          </p:cNvPr>
          <p:cNvPicPr>
            <a:picLocks noChangeAspect="1"/>
          </p:cNvPicPr>
          <p:nvPr/>
        </p:nvPicPr>
        <p:blipFill>
          <a:blip r:embed="rId2"/>
          <a:stretch>
            <a:fillRect/>
          </a:stretch>
        </p:blipFill>
        <p:spPr>
          <a:xfrm>
            <a:off x="142245" y="5188316"/>
            <a:ext cx="9030960" cy="1638529"/>
          </a:xfrm>
          <a:prstGeom prst="rect">
            <a:avLst/>
          </a:prstGeom>
        </p:spPr>
      </p:pic>
      <p:pic>
        <p:nvPicPr>
          <p:cNvPr id="8" name="Picture 7">
            <a:extLst>
              <a:ext uri="{FF2B5EF4-FFF2-40B4-BE49-F238E27FC236}">
                <a16:creationId xmlns:a16="http://schemas.microsoft.com/office/drawing/2014/main" id="{EC35BBA8-AEF5-1A78-16C0-605A5888DAD0}"/>
              </a:ext>
            </a:extLst>
          </p:cNvPr>
          <p:cNvPicPr>
            <a:picLocks noChangeAspect="1"/>
          </p:cNvPicPr>
          <p:nvPr/>
        </p:nvPicPr>
        <p:blipFill>
          <a:blip r:embed="rId3"/>
          <a:stretch>
            <a:fillRect/>
          </a:stretch>
        </p:blipFill>
        <p:spPr>
          <a:xfrm>
            <a:off x="8128605" y="2653817"/>
            <a:ext cx="3921150" cy="3533344"/>
          </a:xfrm>
          <a:prstGeom prst="rect">
            <a:avLst/>
          </a:prstGeom>
        </p:spPr>
      </p:pic>
      <mc:AlternateContent xmlns:mc="http://schemas.openxmlformats.org/markup-compatibility/2006">
        <mc:Choice xmlns:p14="http://schemas.microsoft.com/office/powerpoint/2010/main" Requires="p14">
          <p:contentPart p14:bwMode="auto" r:id="rId4">
            <p14:nvContentPartPr>
              <p14:cNvPr id="15" name="Ink 14">
                <a:extLst>
                  <a:ext uri="{FF2B5EF4-FFF2-40B4-BE49-F238E27FC236}">
                    <a16:creationId xmlns:a16="http://schemas.microsoft.com/office/drawing/2014/main" id="{69CA9D88-179A-2D74-8072-3B039BC825CA}"/>
                  </a:ext>
                </a:extLst>
              </p14:cNvPr>
              <p14:cNvContentPartPr/>
              <p14:nvPr/>
            </p14:nvContentPartPr>
            <p14:xfrm>
              <a:off x="247680" y="1333440"/>
              <a:ext cx="9347400" cy="4692960"/>
            </p14:xfrm>
          </p:contentPart>
        </mc:Choice>
        <mc:Fallback>
          <p:pic>
            <p:nvPicPr>
              <p:cNvPr id="15" name="Ink 14">
                <a:extLst>
                  <a:ext uri="{FF2B5EF4-FFF2-40B4-BE49-F238E27FC236}">
                    <a16:creationId xmlns:a16="http://schemas.microsoft.com/office/drawing/2014/main" id="{69CA9D88-179A-2D74-8072-3B039BC825CA}"/>
                  </a:ext>
                </a:extLst>
              </p:cNvPr>
              <p:cNvPicPr/>
              <p:nvPr/>
            </p:nvPicPr>
            <p:blipFill>
              <a:blip r:embed="rId5"/>
              <a:stretch>
                <a:fillRect/>
              </a:stretch>
            </p:blipFill>
            <p:spPr>
              <a:xfrm>
                <a:off x="238320" y="1324080"/>
                <a:ext cx="9366120" cy="4711680"/>
              </a:xfrm>
              <a:prstGeom prst="rect">
                <a:avLst/>
              </a:prstGeom>
            </p:spPr>
          </p:pic>
        </mc:Fallback>
      </mc:AlternateContent>
    </p:spTree>
    <p:extLst>
      <p:ext uri="{BB962C8B-B14F-4D97-AF65-F5344CB8AC3E}">
        <p14:creationId xmlns:p14="http://schemas.microsoft.com/office/powerpoint/2010/main" val="1606671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9E7C5-5B89-4AD7-EA8E-1DF2643ABBB5}"/>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80952201-82A2-A433-892B-5ACD0C55E119}"/>
              </a:ext>
            </a:extLst>
          </p:cNvPr>
          <p:cNvPicPr>
            <a:picLocks noChangeAspect="1"/>
          </p:cNvPicPr>
          <p:nvPr/>
        </p:nvPicPr>
        <p:blipFill>
          <a:blip r:embed="rId2"/>
          <a:stretch>
            <a:fillRect/>
          </a:stretch>
        </p:blipFill>
        <p:spPr>
          <a:xfrm>
            <a:off x="9815556" y="5003514"/>
            <a:ext cx="1971950" cy="1495634"/>
          </a:xfrm>
          <a:prstGeom prst="rect">
            <a:avLst/>
          </a:prstGeom>
        </p:spPr>
      </p:pic>
      <p:sp>
        <p:nvSpPr>
          <p:cNvPr id="4" name="TextBox 3">
            <a:extLst>
              <a:ext uri="{FF2B5EF4-FFF2-40B4-BE49-F238E27FC236}">
                <a16:creationId xmlns:a16="http://schemas.microsoft.com/office/drawing/2014/main" id="{6E2F7101-0349-478E-A9CA-C2D12D49B33F}"/>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Player Scoping</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7" name="TextBox 6">
            <a:extLst>
              <a:ext uri="{FF2B5EF4-FFF2-40B4-BE49-F238E27FC236}">
                <a16:creationId xmlns:a16="http://schemas.microsoft.com/office/drawing/2014/main" id="{8CC4BDB7-65FA-9F35-134F-01D9A3896B85}"/>
              </a:ext>
            </a:extLst>
          </p:cNvPr>
          <p:cNvSpPr txBox="1"/>
          <p:nvPr/>
        </p:nvSpPr>
        <p:spPr>
          <a:xfrm>
            <a:off x="2571901" y="1266667"/>
            <a:ext cx="7037797" cy="646331"/>
          </a:xfrm>
          <a:prstGeom prst="rect">
            <a:avLst/>
          </a:prstGeom>
          <a:noFill/>
        </p:spPr>
        <p:txBody>
          <a:bodyPr wrap="square" rtlCol="0">
            <a:spAutoFit/>
          </a:bodyPr>
          <a:lstStyle/>
          <a:p>
            <a:r>
              <a:rPr lang="en-CA" dirty="0"/>
              <a:t>Q: How do I build out the Mud Monitor and Schema if I do not have player that has ‘inventory’, ‘equipment’, ‘skills’, </a:t>
            </a:r>
            <a:r>
              <a:rPr lang="en-CA" dirty="0" err="1"/>
              <a:t>etc</a:t>
            </a:r>
            <a:r>
              <a:rPr lang="en-CA" dirty="0"/>
              <a:t>…?</a:t>
            </a:r>
          </a:p>
        </p:txBody>
      </p:sp>
      <p:sp>
        <p:nvSpPr>
          <p:cNvPr id="3" name="TextBox 2">
            <a:extLst>
              <a:ext uri="{FF2B5EF4-FFF2-40B4-BE49-F238E27FC236}">
                <a16:creationId xmlns:a16="http://schemas.microsoft.com/office/drawing/2014/main" id="{D776F967-9AFD-38B8-584F-90AAE1297375}"/>
              </a:ext>
            </a:extLst>
          </p:cNvPr>
          <p:cNvSpPr txBox="1"/>
          <p:nvPr/>
        </p:nvSpPr>
        <p:spPr>
          <a:xfrm>
            <a:off x="553093" y="2042844"/>
            <a:ext cx="4583986" cy="2308324"/>
          </a:xfrm>
          <a:prstGeom prst="rect">
            <a:avLst/>
          </a:prstGeom>
          <a:noFill/>
        </p:spPr>
        <p:txBody>
          <a:bodyPr wrap="square" rtlCol="0">
            <a:spAutoFit/>
          </a:bodyPr>
          <a:lstStyle/>
          <a:p>
            <a:r>
              <a:rPr lang="en-CA" b="1" dirty="0"/>
              <a:t>Create a script that:</a:t>
            </a:r>
          </a:p>
          <a:p>
            <a:r>
              <a:rPr lang="en-CA" dirty="0"/>
              <a:t>Resets the player (or simply deletes and recreates)</a:t>
            </a:r>
          </a:p>
          <a:p>
            <a:r>
              <a:rPr lang="en-CA" dirty="0"/>
              <a:t>A script that loads up the player with stuff</a:t>
            </a:r>
          </a:p>
          <a:p>
            <a:endParaRPr lang="en-CA" dirty="0"/>
          </a:p>
          <a:p>
            <a:r>
              <a:rPr lang="en-CA" b="1" dirty="0"/>
              <a:t>OR</a:t>
            </a:r>
          </a:p>
          <a:p>
            <a:r>
              <a:rPr lang="en-CA" dirty="0"/>
              <a:t>Create a script that creates </a:t>
            </a:r>
            <a:r>
              <a:rPr lang="en-CA" b="1" dirty="0">
                <a:solidFill>
                  <a:srgbClr val="FF0000"/>
                </a:solidFill>
              </a:rPr>
              <a:t>a new player </a:t>
            </a:r>
            <a:r>
              <a:rPr lang="en-CA" dirty="0"/>
              <a:t>and seeds them with random stuff.</a:t>
            </a:r>
          </a:p>
        </p:txBody>
      </p:sp>
      <p:pic>
        <p:nvPicPr>
          <p:cNvPr id="8" name="Picture 7">
            <a:extLst>
              <a:ext uri="{FF2B5EF4-FFF2-40B4-BE49-F238E27FC236}">
                <a16:creationId xmlns:a16="http://schemas.microsoft.com/office/drawing/2014/main" id="{004006A9-9A2A-51AB-56BD-57E74ED67243}"/>
              </a:ext>
            </a:extLst>
          </p:cNvPr>
          <p:cNvPicPr>
            <a:picLocks noChangeAspect="1"/>
          </p:cNvPicPr>
          <p:nvPr/>
        </p:nvPicPr>
        <p:blipFill>
          <a:blip r:embed="rId3"/>
          <a:stretch>
            <a:fillRect/>
          </a:stretch>
        </p:blipFill>
        <p:spPr>
          <a:xfrm>
            <a:off x="6657654" y="2137405"/>
            <a:ext cx="5061670" cy="2788129"/>
          </a:xfrm>
          <a:prstGeom prst="rect">
            <a:avLst/>
          </a:prstGeom>
        </p:spPr>
      </p:pic>
      <p:sp>
        <p:nvSpPr>
          <p:cNvPr id="9" name="TextBox 8">
            <a:extLst>
              <a:ext uri="{FF2B5EF4-FFF2-40B4-BE49-F238E27FC236}">
                <a16:creationId xmlns:a16="http://schemas.microsoft.com/office/drawing/2014/main" id="{9FFBC486-E537-FF8B-F858-D9FB06EA9EC9}"/>
              </a:ext>
            </a:extLst>
          </p:cNvPr>
          <p:cNvSpPr txBox="1"/>
          <p:nvPr/>
        </p:nvSpPr>
        <p:spPr>
          <a:xfrm>
            <a:off x="327519" y="4720595"/>
            <a:ext cx="6823294" cy="646331"/>
          </a:xfrm>
          <a:prstGeom prst="rect">
            <a:avLst/>
          </a:prstGeom>
          <a:noFill/>
        </p:spPr>
        <p:txBody>
          <a:bodyPr wrap="square" rtlCol="0">
            <a:spAutoFit/>
          </a:bodyPr>
          <a:lstStyle/>
          <a:p>
            <a:r>
              <a:rPr lang="en-CA" dirty="0"/>
              <a:t>We need to scope players, to separate their data with </a:t>
            </a:r>
            <a:r>
              <a:rPr lang="en-CA" b="1" dirty="0">
                <a:solidFill>
                  <a:srgbClr val="FF0000"/>
                </a:solidFill>
              </a:rPr>
              <a:t>profiles</a:t>
            </a:r>
            <a:r>
              <a:rPr lang="en-CA" dirty="0"/>
              <a:t>.</a:t>
            </a:r>
          </a:p>
          <a:p>
            <a:r>
              <a:rPr lang="en-CA" dirty="0"/>
              <a:t>We will use </a:t>
            </a:r>
            <a:r>
              <a:rPr lang="en-CA" dirty="0" err="1"/>
              <a:t>boukensha</a:t>
            </a:r>
            <a:r>
              <a:rPr lang="en-CA" dirty="0"/>
              <a:t> –profile Dummy to launch a player.</a:t>
            </a:r>
          </a:p>
        </p:txBody>
      </p:sp>
      <mc:AlternateContent xmlns:mc="http://schemas.openxmlformats.org/markup-compatibility/2006">
        <mc:Choice xmlns:p14="http://schemas.microsoft.com/office/powerpoint/2010/main" Requires="p14">
          <p:contentPart p14:bwMode="auto" r:id="rId4">
            <p14:nvContentPartPr>
              <p14:cNvPr id="15" name="Ink 14">
                <a:extLst>
                  <a:ext uri="{FF2B5EF4-FFF2-40B4-BE49-F238E27FC236}">
                    <a16:creationId xmlns:a16="http://schemas.microsoft.com/office/drawing/2014/main" id="{9FD492E2-0E54-7068-5115-139AFC069E3D}"/>
                  </a:ext>
                </a:extLst>
              </p14:cNvPr>
              <p14:cNvContentPartPr/>
              <p14:nvPr/>
            </p14:nvContentPartPr>
            <p14:xfrm>
              <a:off x="5835402" y="3759253"/>
              <a:ext cx="973800" cy="884880"/>
            </p14:xfrm>
          </p:contentPart>
        </mc:Choice>
        <mc:Fallback>
          <p:pic>
            <p:nvPicPr>
              <p:cNvPr id="15" name="Ink 14">
                <a:extLst>
                  <a:ext uri="{FF2B5EF4-FFF2-40B4-BE49-F238E27FC236}">
                    <a16:creationId xmlns:a16="http://schemas.microsoft.com/office/drawing/2014/main" id="{9FD492E2-0E54-7068-5115-139AFC069E3D}"/>
                  </a:ext>
                </a:extLst>
              </p:cNvPr>
              <p:cNvPicPr/>
              <p:nvPr/>
            </p:nvPicPr>
            <p:blipFill>
              <a:blip r:embed="rId5"/>
              <a:stretch>
                <a:fillRect/>
              </a:stretch>
            </p:blipFill>
            <p:spPr>
              <a:xfrm>
                <a:off x="5826762" y="3750613"/>
                <a:ext cx="991440" cy="902520"/>
              </a:xfrm>
              <a:prstGeom prst="rect">
                <a:avLst/>
              </a:prstGeom>
            </p:spPr>
          </p:pic>
        </mc:Fallback>
      </mc:AlternateContent>
      <p:sp>
        <p:nvSpPr>
          <p:cNvPr id="16" name="TextBox 15">
            <a:extLst>
              <a:ext uri="{FF2B5EF4-FFF2-40B4-BE49-F238E27FC236}">
                <a16:creationId xmlns:a16="http://schemas.microsoft.com/office/drawing/2014/main" id="{19E66FCC-2CDC-1C52-81E6-D53725708E6C}"/>
              </a:ext>
            </a:extLst>
          </p:cNvPr>
          <p:cNvSpPr txBox="1"/>
          <p:nvPr/>
        </p:nvSpPr>
        <p:spPr>
          <a:xfrm>
            <a:off x="5352835" y="5618173"/>
            <a:ext cx="4530903" cy="646331"/>
          </a:xfrm>
          <a:prstGeom prst="rect">
            <a:avLst/>
          </a:prstGeom>
          <a:noFill/>
        </p:spPr>
        <p:txBody>
          <a:bodyPr wrap="square" rtlCol="0">
            <a:spAutoFit/>
          </a:bodyPr>
          <a:lstStyle/>
          <a:p>
            <a:r>
              <a:rPr lang="en-CA" dirty="0"/>
              <a:t>We need to have player drop down in our Mud Monitor to change profile information</a:t>
            </a:r>
          </a:p>
        </p:txBody>
      </p:sp>
      <mc:AlternateContent xmlns:mc="http://schemas.openxmlformats.org/markup-compatibility/2006">
        <mc:Choice xmlns:p14="http://schemas.microsoft.com/office/powerpoint/2010/main" Requires="p14">
          <p:contentPart p14:bwMode="auto" r:id="rId6">
            <p14:nvContentPartPr>
              <p14:cNvPr id="18" name="Ink 17">
                <a:extLst>
                  <a:ext uri="{FF2B5EF4-FFF2-40B4-BE49-F238E27FC236}">
                    <a16:creationId xmlns:a16="http://schemas.microsoft.com/office/drawing/2014/main" id="{2FE71ECC-D166-D907-A23F-56442AF93F6E}"/>
                  </a:ext>
                </a:extLst>
              </p14:cNvPr>
              <p14:cNvContentPartPr/>
              <p14:nvPr/>
            </p14:nvContentPartPr>
            <p14:xfrm>
              <a:off x="9585522" y="5571493"/>
              <a:ext cx="883800" cy="305640"/>
            </p14:xfrm>
          </p:contentPart>
        </mc:Choice>
        <mc:Fallback>
          <p:pic>
            <p:nvPicPr>
              <p:cNvPr id="18" name="Ink 17">
                <a:extLst>
                  <a:ext uri="{FF2B5EF4-FFF2-40B4-BE49-F238E27FC236}">
                    <a16:creationId xmlns:a16="http://schemas.microsoft.com/office/drawing/2014/main" id="{2FE71ECC-D166-D907-A23F-56442AF93F6E}"/>
                  </a:ext>
                </a:extLst>
              </p:cNvPr>
              <p:cNvPicPr/>
              <p:nvPr/>
            </p:nvPicPr>
            <p:blipFill>
              <a:blip r:embed="rId7"/>
              <a:stretch>
                <a:fillRect/>
              </a:stretch>
            </p:blipFill>
            <p:spPr>
              <a:xfrm>
                <a:off x="9576522" y="5562493"/>
                <a:ext cx="901440" cy="323280"/>
              </a:xfrm>
              <a:prstGeom prst="rect">
                <a:avLst/>
              </a:prstGeom>
            </p:spPr>
          </p:pic>
        </mc:Fallback>
      </mc:AlternateContent>
      <p:sp>
        <p:nvSpPr>
          <p:cNvPr id="19" name="TextBox 18">
            <a:extLst>
              <a:ext uri="{FF2B5EF4-FFF2-40B4-BE49-F238E27FC236}">
                <a16:creationId xmlns:a16="http://schemas.microsoft.com/office/drawing/2014/main" id="{CB258B69-8FC3-318E-B98B-F21BA8FD2DEF}"/>
              </a:ext>
            </a:extLst>
          </p:cNvPr>
          <p:cNvSpPr txBox="1"/>
          <p:nvPr/>
        </p:nvSpPr>
        <p:spPr>
          <a:xfrm>
            <a:off x="327519" y="5571493"/>
            <a:ext cx="4439732" cy="646331"/>
          </a:xfrm>
          <a:prstGeom prst="rect">
            <a:avLst/>
          </a:prstGeom>
          <a:noFill/>
        </p:spPr>
        <p:txBody>
          <a:bodyPr wrap="square" rtlCol="0">
            <a:spAutoFit/>
          </a:bodyPr>
          <a:lstStyle/>
          <a:p>
            <a:r>
              <a:rPr lang="en-CA" dirty="0"/>
              <a:t>Players don’t share underlying data, so they have separate database files and logs.</a:t>
            </a:r>
          </a:p>
        </p:txBody>
      </p:sp>
      <mc:AlternateContent xmlns:mc="http://schemas.openxmlformats.org/markup-compatibility/2006">
        <mc:Choice xmlns:p14="http://schemas.microsoft.com/office/powerpoint/2010/main" Requires="p14">
          <p:contentPart p14:bwMode="auto" r:id="rId8">
            <p14:nvContentPartPr>
              <p14:cNvPr id="22" name="Ink 21">
                <a:extLst>
                  <a:ext uri="{FF2B5EF4-FFF2-40B4-BE49-F238E27FC236}">
                    <a16:creationId xmlns:a16="http://schemas.microsoft.com/office/drawing/2014/main" id="{7425F493-C25F-262F-9169-A434C1724A2E}"/>
                  </a:ext>
                </a:extLst>
              </p14:cNvPr>
              <p14:cNvContentPartPr/>
              <p14:nvPr/>
            </p14:nvContentPartPr>
            <p14:xfrm>
              <a:off x="1352520" y="2298600"/>
              <a:ext cx="8528400" cy="3232440"/>
            </p14:xfrm>
          </p:contentPart>
        </mc:Choice>
        <mc:Fallback>
          <p:pic>
            <p:nvPicPr>
              <p:cNvPr id="22" name="Ink 21">
                <a:extLst>
                  <a:ext uri="{FF2B5EF4-FFF2-40B4-BE49-F238E27FC236}">
                    <a16:creationId xmlns:a16="http://schemas.microsoft.com/office/drawing/2014/main" id="{7425F493-C25F-262F-9169-A434C1724A2E}"/>
                  </a:ext>
                </a:extLst>
              </p:cNvPr>
              <p:cNvPicPr/>
              <p:nvPr/>
            </p:nvPicPr>
            <p:blipFill>
              <a:blip r:embed="rId9"/>
              <a:stretch>
                <a:fillRect/>
              </a:stretch>
            </p:blipFill>
            <p:spPr>
              <a:xfrm>
                <a:off x="1343160" y="2289240"/>
                <a:ext cx="8547120" cy="3251160"/>
              </a:xfrm>
              <a:prstGeom prst="rect">
                <a:avLst/>
              </a:prstGeom>
            </p:spPr>
          </p:pic>
        </mc:Fallback>
      </mc:AlternateContent>
    </p:spTree>
    <p:extLst>
      <p:ext uri="{BB962C8B-B14F-4D97-AF65-F5344CB8AC3E}">
        <p14:creationId xmlns:p14="http://schemas.microsoft.com/office/powerpoint/2010/main" val="3525820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647E8-92D4-F7B7-42C7-91B28797BC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511073-DF4F-A39C-51E5-2BCE23CB59CE}"/>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Context Work and Context Injection</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pic>
        <p:nvPicPr>
          <p:cNvPr id="10" name="Picture 9">
            <a:extLst>
              <a:ext uri="{FF2B5EF4-FFF2-40B4-BE49-F238E27FC236}">
                <a16:creationId xmlns:a16="http://schemas.microsoft.com/office/drawing/2014/main" id="{1855C2FC-7947-61BE-643B-0D9F740CFA88}"/>
              </a:ext>
            </a:extLst>
          </p:cNvPr>
          <p:cNvPicPr>
            <a:picLocks noChangeAspect="1"/>
          </p:cNvPicPr>
          <p:nvPr/>
        </p:nvPicPr>
        <p:blipFill>
          <a:blip r:embed="rId2"/>
          <a:stretch>
            <a:fillRect/>
          </a:stretch>
        </p:blipFill>
        <p:spPr>
          <a:xfrm>
            <a:off x="2931835" y="2913060"/>
            <a:ext cx="9107171" cy="3134162"/>
          </a:xfrm>
          <a:prstGeom prst="rect">
            <a:avLst/>
          </a:prstGeom>
        </p:spPr>
      </p:pic>
      <p:pic>
        <p:nvPicPr>
          <p:cNvPr id="14" name="Picture 13">
            <a:extLst>
              <a:ext uri="{FF2B5EF4-FFF2-40B4-BE49-F238E27FC236}">
                <a16:creationId xmlns:a16="http://schemas.microsoft.com/office/drawing/2014/main" id="{3A0AE597-6B48-EBAC-106E-F8AD9B04B537}"/>
              </a:ext>
            </a:extLst>
          </p:cNvPr>
          <p:cNvPicPr>
            <a:picLocks noChangeAspect="1"/>
          </p:cNvPicPr>
          <p:nvPr/>
        </p:nvPicPr>
        <p:blipFill>
          <a:blip r:embed="rId3"/>
          <a:stretch>
            <a:fillRect/>
          </a:stretch>
        </p:blipFill>
        <p:spPr>
          <a:xfrm>
            <a:off x="2931835" y="2089608"/>
            <a:ext cx="9118908" cy="674389"/>
          </a:xfrm>
          <a:prstGeom prst="rect">
            <a:avLst/>
          </a:prstGeom>
        </p:spPr>
      </p:pic>
      <p:sp>
        <p:nvSpPr>
          <p:cNvPr id="17" name="TextBox 16">
            <a:extLst>
              <a:ext uri="{FF2B5EF4-FFF2-40B4-BE49-F238E27FC236}">
                <a16:creationId xmlns:a16="http://schemas.microsoft.com/office/drawing/2014/main" id="{22A9CC58-70D4-5D4D-38A5-313E520C5754}"/>
              </a:ext>
            </a:extLst>
          </p:cNvPr>
          <p:cNvSpPr txBox="1"/>
          <p:nvPr/>
        </p:nvSpPr>
        <p:spPr>
          <a:xfrm>
            <a:off x="471948" y="1166278"/>
            <a:ext cx="6607278" cy="923330"/>
          </a:xfrm>
          <a:prstGeom prst="rect">
            <a:avLst/>
          </a:prstGeom>
          <a:noFill/>
        </p:spPr>
        <p:txBody>
          <a:bodyPr wrap="square" rtlCol="0">
            <a:spAutoFit/>
          </a:bodyPr>
          <a:lstStyle/>
          <a:p>
            <a:r>
              <a:rPr lang="en-CA" dirty="0"/>
              <a:t>The cost of using commands against the MUD is cheap and we could automate calling information from the MUD and memory prior to agent calls based on different hooks.</a:t>
            </a:r>
          </a:p>
        </p:txBody>
      </p:sp>
      <p:sp>
        <p:nvSpPr>
          <p:cNvPr id="20" name="TextBox 19">
            <a:extLst>
              <a:ext uri="{FF2B5EF4-FFF2-40B4-BE49-F238E27FC236}">
                <a16:creationId xmlns:a16="http://schemas.microsoft.com/office/drawing/2014/main" id="{0733D645-08FE-61C2-92D3-893953C14AD3}"/>
              </a:ext>
            </a:extLst>
          </p:cNvPr>
          <p:cNvSpPr txBox="1"/>
          <p:nvPr/>
        </p:nvSpPr>
        <p:spPr>
          <a:xfrm>
            <a:off x="334297" y="4246380"/>
            <a:ext cx="2438400" cy="1477328"/>
          </a:xfrm>
          <a:prstGeom prst="rect">
            <a:avLst/>
          </a:prstGeom>
          <a:noFill/>
        </p:spPr>
        <p:txBody>
          <a:bodyPr wrap="square" rtlCol="0">
            <a:spAutoFit/>
          </a:bodyPr>
          <a:lstStyle/>
          <a:p>
            <a:r>
              <a:rPr lang="en-CA" dirty="0"/>
              <a:t>Figuring out what to inject is tricky. We could define known templates to use a shorthand.</a:t>
            </a:r>
          </a:p>
        </p:txBody>
      </p:sp>
      <mc:AlternateContent xmlns:mc="http://schemas.openxmlformats.org/markup-compatibility/2006">
        <mc:Choice xmlns:p14="http://schemas.microsoft.com/office/powerpoint/2010/main" Requires="p14">
          <p:contentPart p14:bwMode="auto" r:id="rId4">
            <p14:nvContentPartPr>
              <p14:cNvPr id="22" name="Ink 21">
                <a:extLst>
                  <a:ext uri="{FF2B5EF4-FFF2-40B4-BE49-F238E27FC236}">
                    <a16:creationId xmlns:a16="http://schemas.microsoft.com/office/drawing/2014/main" id="{82D21DB9-A528-BD3E-BAC1-DD276E84AE3A}"/>
                  </a:ext>
                </a:extLst>
              </p14:cNvPr>
              <p14:cNvContentPartPr/>
              <p14:nvPr/>
            </p14:nvContentPartPr>
            <p14:xfrm>
              <a:off x="1015920" y="723960"/>
              <a:ext cx="9093600" cy="5499360"/>
            </p14:xfrm>
          </p:contentPart>
        </mc:Choice>
        <mc:Fallback>
          <p:pic>
            <p:nvPicPr>
              <p:cNvPr id="22" name="Ink 21">
                <a:extLst>
                  <a:ext uri="{FF2B5EF4-FFF2-40B4-BE49-F238E27FC236}">
                    <a16:creationId xmlns:a16="http://schemas.microsoft.com/office/drawing/2014/main" id="{82D21DB9-A528-BD3E-BAC1-DD276E84AE3A}"/>
                  </a:ext>
                </a:extLst>
              </p:cNvPr>
              <p:cNvPicPr/>
              <p:nvPr/>
            </p:nvPicPr>
            <p:blipFill>
              <a:blip r:embed="rId5"/>
              <a:stretch>
                <a:fillRect/>
              </a:stretch>
            </p:blipFill>
            <p:spPr>
              <a:xfrm>
                <a:off x="1006560" y="714600"/>
                <a:ext cx="9112320" cy="5518080"/>
              </a:xfrm>
              <a:prstGeom prst="rect">
                <a:avLst/>
              </a:prstGeom>
            </p:spPr>
          </p:pic>
        </mc:Fallback>
      </mc:AlternateContent>
    </p:spTree>
    <p:extLst>
      <p:ext uri="{BB962C8B-B14F-4D97-AF65-F5344CB8AC3E}">
        <p14:creationId xmlns:p14="http://schemas.microsoft.com/office/powerpoint/2010/main" val="1632249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20288-CC3A-7C12-03A5-3D87176D1B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CD78B9-F9E2-FBA4-E8C5-D15B81AF24BA}"/>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Agent Specific Code</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pic>
        <p:nvPicPr>
          <p:cNvPr id="6" name="Picture 5">
            <a:extLst>
              <a:ext uri="{FF2B5EF4-FFF2-40B4-BE49-F238E27FC236}">
                <a16:creationId xmlns:a16="http://schemas.microsoft.com/office/drawing/2014/main" id="{03BC6B37-1E98-B403-F016-D19417D96300}"/>
              </a:ext>
            </a:extLst>
          </p:cNvPr>
          <p:cNvPicPr>
            <a:picLocks noChangeAspect="1"/>
          </p:cNvPicPr>
          <p:nvPr/>
        </p:nvPicPr>
        <p:blipFill>
          <a:blip r:embed="rId2"/>
          <a:stretch>
            <a:fillRect/>
          </a:stretch>
        </p:blipFill>
        <p:spPr>
          <a:xfrm>
            <a:off x="431292" y="1602895"/>
            <a:ext cx="2845308" cy="4079242"/>
          </a:xfrm>
          <a:prstGeom prst="rect">
            <a:avLst/>
          </a:prstGeom>
        </p:spPr>
      </p:pic>
      <p:sp>
        <p:nvSpPr>
          <p:cNvPr id="7" name="TextBox 6">
            <a:extLst>
              <a:ext uri="{FF2B5EF4-FFF2-40B4-BE49-F238E27FC236}">
                <a16:creationId xmlns:a16="http://schemas.microsoft.com/office/drawing/2014/main" id="{507C055E-A03B-16E6-AB6A-1C184DD874E1}"/>
              </a:ext>
            </a:extLst>
          </p:cNvPr>
          <p:cNvSpPr txBox="1"/>
          <p:nvPr/>
        </p:nvSpPr>
        <p:spPr>
          <a:xfrm>
            <a:off x="4125686" y="1334192"/>
            <a:ext cx="7375434" cy="2308324"/>
          </a:xfrm>
          <a:prstGeom prst="rect">
            <a:avLst/>
          </a:prstGeom>
          <a:noFill/>
        </p:spPr>
        <p:txBody>
          <a:bodyPr wrap="square" rtlCol="0">
            <a:spAutoFit/>
          </a:bodyPr>
          <a:lstStyle/>
          <a:p>
            <a:r>
              <a:rPr lang="en-US" dirty="0" err="1"/>
              <a:t>boukensha</a:t>
            </a:r>
            <a:r>
              <a:rPr lang="en-US" dirty="0"/>
              <a:t> is a game-agnostic agent.</a:t>
            </a:r>
          </a:p>
          <a:p>
            <a:r>
              <a:rPr lang="en-US" dirty="0"/>
              <a:t> </a:t>
            </a:r>
            <a:r>
              <a:rPr lang="en-US" b="1" dirty="0"/>
              <a:t>mud/</a:t>
            </a:r>
            <a:r>
              <a:rPr lang="en-US" dirty="0"/>
              <a:t> is the part that knows it's playing </a:t>
            </a:r>
            <a:r>
              <a:rPr lang="en-US" dirty="0" err="1"/>
              <a:t>tbaMUD</a:t>
            </a:r>
            <a:r>
              <a:rPr lang="en-US" dirty="0"/>
              <a:t>.</a:t>
            </a:r>
          </a:p>
          <a:p>
            <a:endParaRPr lang="en-US" dirty="0"/>
          </a:p>
          <a:p>
            <a:r>
              <a:rPr lang="en-US" dirty="0"/>
              <a:t>Specific optimizations:</a:t>
            </a:r>
          </a:p>
          <a:p>
            <a:r>
              <a:rPr lang="en-US" dirty="0"/>
              <a:t>Fingerprint – to help unique identify a room</a:t>
            </a:r>
          </a:p>
          <a:p>
            <a:r>
              <a:rPr lang="en-US" dirty="0"/>
              <a:t>Hooks – MUD specific hook implementations to ensure the agent does what we want</a:t>
            </a:r>
          </a:p>
          <a:p>
            <a:endParaRPr lang="en-CA" dirty="0"/>
          </a:p>
        </p:txBody>
      </p:sp>
      <p:sp>
        <p:nvSpPr>
          <p:cNvPr id="9" name="TextBox 8">
            <a:extLst>
              <a:ext uri="{FF2B5EF4-FFF2-40B4-BE49-F238E27FC236}">
                <a16:creationId xmlns:a16="http://schemas.microsoft.com/office/drawing/2014/main" id="{BC8E6AC2-DB9D-5C1D-9557-4A544CCAC3A3}"/>
              </a:ext>
            </a:extLst>
          </p:cNvPr>
          <p:cNvSpPr txBox="1"/>
          <p:nvPr/>
        </p:nvSpPr>
        <p:spPr>
          <a:xfrm>
            <a:off x="4125686" y="4067232"/>
            <a:ext cx="7375434" cy="1754326"/>
          </a:xfrm>
          <a:prstGeom prst="rect">
            <a:avLst/>
          </a:prstGeom>
          <a:solidFill>
            <a:schemeClr val="accent2">
              <a:lumMod val="20000"/>
              <a:lumOff val="80000"/>
            </a:schemeClr>
          </a:solidFill>
        </p:spPr>
        <p:txBody>
          <a:bodyPr wrap="square" rtlCol="0">
            <a:spAutoFit/>
          </a:bodyPr>
          <a:lstStyle/>
          <a:p>
            <a:r>
              <a:rPr lang="en-US" dirty="0"/>
              <a:t>Claude ended up implement the </a:t>
            </a:r>
            <a:r>
              <a:rPr lang="en-US" dirty="0" err="1"/>
              <a:t>statemachine</a:t>
            </a:r>
            <a:r>
              <a:rPr lang="en-US" dirty="0"/>
              <a:t> for combat because it cherry picked a strategy from scratch note, and promoted it into a tech spec which I missed.</a:t>
            </a:r>
          </a:p>
          <a:p>
            <a:endParaRPr lang="en-US" dirty="0"/>
          </a:p>
          <a:p>
            <a:r>
              <a:rPr lang="en-US" dirty="0"/>
              <a:t>I wanted to walk through each MUD specific system, and so now I have more unexpected plumbing I don’t have ownership of.</a:t>
            </a:r>
            <a:endParaRPr lang="en-CA" dirty="0"/>
          </a:p>
        </p:txBody>
      </p:sp>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982CC584-E400-7D66-2006-C617E380B396}"/>
                  </a:ext>
                </a:extLst>
              </p14:cNvPr>
              <p14:cNvContentPartPr/>
              <p14:nvPr/>
            </p14:nvContentPartPr>
            <p14:xfrm>
              <a:off x="260280" y="851040"/>
              <a:ext cx="9023760" cy="5048640"/>
            </p14:xfrm>
          </p:contentPart>
        </mc:Choice>
        <mc:Fallback>
          <p:pic>
            <p:nvPicPr>
              <p:cNvPr id="11" name="Ink 10">
                <a:extLst>
                  <a:ext uri="{FF2B5EF4-FFF2-40B4-BE49-F238E27FC236}">
                    <a16:creationId xmlns:a16="http://schemas.microsoft.com/office/drawing/2014/main" id="{982CC584-E400-7D66-2006-C617E380B396}"/>
                  </a:ext>
                </a:extLst>
              </p:cNvPr>
              <p:cNvPicPr/>
              <p:nvPr/>
            </p:nvPicPr>
            <p:blipFill>
              <a:blip r:embed="rId4"/>
              <a:stretch>
                <a:fillRect/>
              </a:stretch>
            </p:blipFill>
            <p:spPr>
              <a:xfrm>
                <a:off x="250920" y="841680"/>
                <a:ext cx="9042480" cy="5067360"/>
              </a:xfrm>
              <a:prstGeom prst="rect">
                <a:avLst/>
              </a:prstGeom>
            </p:spPr>
          </p:pic>
        </mc:Fallback>
      </mc:AlternateContent>
    </p:spTree>
    <p:extLst>
      <p:ext uri="{BB962C8B-B14F-4D97-AF65-F5344CB8AC3E}">
        <p14:creationId xmlns:p14="http://schemas.microsoft.com/office/powerpoint/2010/main" val="27564519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5B22A-9163-E528-16F1-D1C1FF01D95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E72610-9A59-E8CB-5737-3B9101A49D17}"/>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Traces and Spans</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pic>
        <p:nvPicPr>
          <p:cNvPr id="5" name="Picture 4">
            <a:extLst>
              <a:ext uri="{FF2B5EF4-FFF2-40B4-BE49-F238E27FC236}">
                <a16:creationId xmlns:a16="http://schemas.microsoft.com/office/drawing/2014/main" id="{BC45D89A-EC52-A7F2-B6FF-803AD99642FD}"/>
              </a:ext>
            </a:extLst>
          </p:cNvPr>
          <p:cNvPicPr>
            <a:picLocks noChangeAspect="1"/>
          </p:cNvPicPr>
          <p:nvPr/>
        </p:nvPicPr>
        <p:blipFill>
          <a:blip r:embed="rId2"/>
          <a:stretch>
            <a:fillRect/>
          </a:stretch>
        </p:blipFill>
        <p:spPr>
          <a:xfrm>
            <a:off x="833091" y="2118186"/>
            <a:ext cx="10078749" cy="1986775"/>
          </a:xfrm>
          <a:prstGeom prst="rect">
            <a:avLst/>
          </a:prstGeom>
        </p:spPr>
      </p:pic>
      <p:sp>
        <p:nvSpPr>
          <p:cNvPr id="8" name="TextBox 7">
            <a:extLst>
              <a:ext uri="{FF2B5EF4-FFF2-40B4-BE49-F238E27FC236}">
                <a16:creationId xmlns:a16="http://schemas.microsoft.com/office/drawing/2014/main" id="{991F4A43-2A76-202B-0841-B8111073ED46}"/>
              </a:ext>
            </a:extLst>
          </p:cNvPr>
          <p:cNvSpPr txBox="1"/>
          <p:nvPr/>
        </p:nvSpPr>
        <p:spPr>
          <a:xfrm>
            <a:off x="3002279" y="1082654"/>
            <a:ext cx="6543040" cy="923330"/>
          </a:xfrm>
          <a:prstGeom prst="rect">
            <a:avLst/>
          </a:prstGeom>
          <a:noFill/>
        </p:spPr>
        <p:txBody>
          <a:bodyPr wrap="square" rtlCol="0">
            <a:spAutoFit/>
          </a:bodyPr>
          <a:lstStyle/>
          <a:p>
            <a:r>
              <a:rPr lang="en-CA" dirty="0"/>
              <a:t>I kept looking at my sessions and noticed information missing.</a:t>
            </a:r>
            <a:br>
              <a:rPr lang="en-CA" dirty="0"/>
            </a:br>
            <a:r>
              <a:rPr lang="en-CA" dirty="0"/>
              <a:t>Claude drove us towards adding spans and traces with the structure of the </a:t>
            </a:r>
            <a:r>
              <a:rPr lang="en-CA" b="1" dirty="0" err="1">
                <a:solidFill>
                  <a:srgbClr val="FF0000"/>
                </a:solidFill>
              </a:rPr>
              <a:t>OpenTelemetry</a:t>
            </a:r>
            <a:r>
              <a:rPr lang="en-CA" b="1" dirty="0">
                <a:solidFill>
                  <a:srgbClr val="FF0000"/>
                </a:solidFill>
              </a:rPr>
              <a:t> span model</a:t>
            </a:r>
          </a:p>
        </p:txBody>
      </p:sp>
      <p:sp>
        <p:nvSpPr>
          <p:cNvPr id="10" name="TextBox 9">
            <a:extLst>
              <a:ext uri="{FF2B5EF4-FFF2-40B4-BE49-F238E27FC236}">
                <a16:creationId xmlns:a16="http://schemas.microsoft.com/office/drawing/2014/main" id="{C80ECA5C-94D6-2227-DE91-F264B9D7B1A7}"/>
              </a:ext>
            </a:extLst>
          </p:cNvPr>
          <p:cNvSpPr txBox="1"/>
          <p:nvPr/>
        </p:nvSpPr>
        <p:spPr>
          <a:xfrm>
            <a:off x="467360" y="4417039"/>
            <a:ext cx="4450080" cy="1200329"/>
          </a:xfrm>
          <a:prstGeom prst="rect">
            <a:avLst/>
          </a:prstGeom>
          <a:noFill/>
        </p:spPr>
        <p:txBody>
          <a:bodyPr wrap="square" rtlCol="0">
            <a:spAutoFit/>
          </a:bodyPr>
          <a:lstStyle/>
          <a:p>
            <a:r>
              <a:rPr lang="en-US" dirty="0"/>
              <a:t> real spans for the automatic hook work — and nothing else.</a:t>
            </a:r>
            <a:br>
              <a:rPr lang="en-US" dirty="0"/>
            </a:br>
            <a:r>
              <a:rPr lang="en-US" dirty="0"/>
              <a:t>Should we change all logs to have real spans throughout?</a:t>
            </a:r>
            <a:endParaRPr lang="en-CA" dirty="0"/>
          </a:p>
        </p:txBody>
      </p:sp>
      <p:pic>
        <p:nvPicPr>
          <p:cNvPr id="12" name="Picture 11">
            <a:extLst>
              <a:ext uri="{FF2B5EF4-FFF2-40B4-BE49-F238E27FC236}">
                <a16:creationId xmlns:a16="http://schemas.microsoft.com/office/drawing/2014/main" id="{B2085B67-10B8-0055-8C22-95901C67B5B9}"/>
              </a:ext>
            </a:extLst>
          </p:cNvPr>
          <p:cNvPicPr>
            <a:picLocks noChangeAspect="1"/>
          </p:cNvPicPr>
          <p:nvPr/>
        </p:nvPicPr>
        <p:blipFill>
          <a:blip r:embed="rId3"/>
          <a:stretch>
            <a:fillRect/>
          </a:stretch>
        </p:blipFill>
        <p:spPr>
          <a:xfrm>
            <a:off x="5116642" y="4104961"/>
            <a:ext cx="7075358" cy="2563149"/>
          </a:xfrm>
          <a:prstGeom prst="rect">
            <a:avLst/>
          </a:prstGeom>
        </p:spPr>
      </p:pic>
      <mc:AlternateContent xmlns:mc="http://schemas.openxmlformats.org/markup-compatibility/2006">
        <mc:Choice xmlns:p14="http://schemas.microsoft.com/office/powerpoint/2010/main" Requires="p14">
          <p:contentPart p14:bwMode="auto" r:id="rId4">
            <p14:nvContentPartPr>
              <p14:cNvPr id="13" name="Ink 12">
                <a:extLst>
                  <a:ext uri="{FF2B5EF4-FFF2-40B4-BE49-F238E27FC236}">
                    <a16:creationId xmlns:a16="http://schemas.microsoft.com/office/drawing/2014/main" id="{B6AADF9C-7DC9-ADB6-04DE-39269971DBC4}"/>
                  </a:ext>
                </a:extLst>
              </p14:cNvPr>
              <p14:cNvContentPartPr/>
              <p14:nvPr/>
            </p14:nvContentPartPr>
            <p14:xfrm>
              <a:off x="5029200" y="4813200"/>
              <a:ext cx="254520" cy="1803960"/>
            </p14:xfrm>
          </p:contentPart>
        </mc:Choice>
        <mc:Fallback>
          <p:pic>
            <p:nvPicPr>
              <p:cNvPr id="13" name="Ink 12">
                <a:extLst>
                  <a:ext uri="{FF2B5EF4-FFF2-40B4-BE49-F238E27FC236}">
                    <a16:creationId xmlns:a16="http://schemas.microsoft.com/office/drawing/2014/main" id="{B6AADF9C-7DC9-ADB6-04DE-39269971DBC4}"/>
                  </a:ext>
                </a:extLst>
              </p:cNvPr>
              <p:cNvPicPr/>
              <p:nvPr/>
            </p:nvPicPr>
            <p:blipFill>
              <a:blip r:embed="rId5"/>
              <a:stretch>
                <a:fillRect/>
              </a:stretch>
            </p:blipFill>
            <p:spPr>
              <a:xfrm>
                <a:off x="5019840" y="4803840"/>
                <a:ext cx="273240" cy="1822680"/>
              </a:xfrm>
              <a:prstGeom prst="rect">
                <a:avLst/>
              </a:prstGeom>
            </p:spPr>
          </p:pic>
        </mc:Fallback>
      </mc:AlternateContent>
    </p:spTree>
    <p:extLst>
      <p:ext uri="{BB962C8B-B14F-4D97-AF65-F5344CB8AC3E}">
        <p14:creationId xmlns:p14="http://schemas.microsoft.com/office/powerpoint/2010/main" val="1441265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96E68-B71B-2A02-CA5B-79EAA221F5A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0139DD5-83DD-D66A-85A7-3696892F8557}"/>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Logs vs Instrumentation</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2" name="TextBox 1">
            <a:extLst>
              <a:ext uri="{FF2B5EF4-FFF2-40B4-BE49-F238E27FC236}">
                <a16:creationId xmlns:a16="http://schemas.microsoft.com/office/drawing/2014/main" id="{A07A84A3-0D4B-87E1-0AE2-5A625FDE3EFA}"/>
              </a:ext>
            </a:extLst>
          </p:cNvPr>
          <p:cNvSpPr txBox="1"/>
          <p:nvPr/>
        </p:nvSpPr>
        <p:spPr>
          <a:xfrm>
            <a:off x="702638" y="1274566"/>
            <a:ext cx="4734560" cy="369332"/>
          </a:xfrm>
          <a:prstGeom prst="rect">
            <a:avLst/>
          </a:prstGeom>
          <a:noFill/>
        </p:spPr>
        <p:txBody>
          <a:bodyPr wrap="square" rtlCol="0">
            <a:spAutoFit/>
          </a:bodyPr>
          <a:lstStyle/>
          <a:p>
            <a:r>
              <a:rPr lang="en-CA" b="1" dirty="0"/>
              <a:t>Logs answer: “What happened?”</a:t>
            </a:r>
          </a:p>
        </p:txBody>
      </p:sp>
      <p:sp>
        <p:nvSpPr>
          <p:cNvPr id="6" name="TextBox 5">
            <a:extLst>
              <a:ext uri="{FF2B5EF4-FFF2-40B4-BE49-F238E27FC236}">
                <a16:creationId xmlns:a16="http://schemas.microsoft.com/office/drawing/2014/main" id="{614BB0AB-A05E-3471-4F8A-20E8D455139E}"/>
              </a:ext>
            </a:extLst>
          </p:cNvPr>
          <p:cNvSpPr txBox="1"/>
          <p:nvPr/>
        </p:nvSpPr>
        <p:spPr>
          <a:xfrm>
            <a:off x="800614" y="1807246"/>
            <a:ext cx="4734560" cy="1952806"/>
          </a:xfrm>
          <a:prstGeom prst="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txBody>
          <a:bodyPr wrap="square" lIns="144000" tIns="144000" rIns="144000" bIns="144000">
            <a:spAutoFit/>
          </a:bodyPr>
          <a:lstStyle/>
          <a:p>
            <a:r>
              <a:rPr lang="en-CA" sz="1800" dirty="0"/>
              <a:t>Received room description </a:t>
            </a:r>
          </a:p>
          <a:p>
            <a:r>
              <a:rPr lang="en-CA" sz="1800" dirty="0"/>
              <a:t>Extracted 6 candidate objects Calling tool: move(direction=north) </a:t>
            </a:r>
          </a:p>
          <a:p>
            <a:r>
              <a:rPr lang="en-CA" sz="1800" dirty="0"/>
              <a:t>Tool returned: Market Square </a:t>
            </a:r>
          </a:p>
          <a:p>
            <a:r>
              <a:rPr lang="en-CA" sz="1800" dirty="0"/>
              <a:t>Updating world memory </a:t>
            </a:r>
          </a:p>
          <a:p>
            <a:r>
              <a:rPr lang="en-CA" sz="1800" dirty="0"/>
              <a:t>Calling tool: </a:t>
            </a:r>
            <a:r>
              <a:rPr lang="en-CA" sz="1800" dirty="0" err="1"/>
              <a:t>inspect_room</a:t>
            </a:r>
            <a:endParaRPr lang="en-CA" sz="1800" dirty="0"/>
          </a:p>
        </p:txBody>
      </p:sp>
      <p:sp>
        <p:nvSpPr>
          <p:cNvPr id="7" name="TextBox 6">
            <a:extLst>
              <a:ext uri="{FF2B5EF4-FFF2-40B4-BE49-F238E27FC236}">
                <a16:creationId xmlns:a16="http://schemas.microsoft.com/office/drawing/2014/main" id="{84BE52BA-E181-B40E-CDC2-DF6A2C968578}"/>
              </a:ext>
            </a:extLst>
          </p:cNvPr>
          <p:cNvSpPr txBox="1"/>
          <p:nvPr/>
        </p:nvSpPr>
        <p:spPr>
          <a:xfrm>
            <a:off x="6328881" y="1274566"/>
            <a:ext cx="5160481" cy="369332"/>
          </a:xfrm>
          <a:prstGeom prst="rect">
            <a:avLst/>
          </a:prstGeom>
          <a:noFill/>
        </p:spPr>
        <p:txBody>
          <a:bodyPr wrap="square" rtlCol="0">
            <a:spAutoFit/>
          </a:bodyPr>
          <a:lstStyle/>
          <a:p>
            <a:r>
              <a:rPr lang="en-CA" b="1" dirty="0"/>
              <a:t>Traces/spans answer: “How did this happen?”</a:t>
            </a:r>
          </a:p>
        </p:txBody>
      </p:sp>
      <p:sp>
        <p:nvSpPr>
          <p:cNvPr id="9" name="TextBox 8">
            <a:extLst>
              <a:ext uri="{FF2B5EF4-FFF2-40B4-BE49-F238E27FC236}">
                <a16:creationId xmlns:a16="http://schemas.microsoft.com/office/drawing/2014/main" id="{194AC807-AE22-B8EF-CDD5-C4C236BB9B58}"/>
              </a:ext>
            </a:extLst>
          </p:cNvPr>
          <p:cNvSpPr txBox="1"/>
          <p:nvPr/>
        </p:nvSpPr>
        <p:spPr>
          <a:xfrm>
            <a:off x="6400800" y="1807246"/>
            <a:ext cx="4348823" cy="4445796"/>
          </a:xfrm>
          <a:prstGeom prst="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txBody>
          <a:bodyPr wrap="square" lIns="144000" tIns="144000" rIns="144000" bIns="144000" rtlCol="0">
            <a:spAutoFit/>
          </a:bodyPr>
          <a:lstStyle/>
          <a:p>
            <a:r>
              <a:rPr lang="en-CA" dirty="0">
                <a:latin typeface="Arial Nova" panose="020B0504020202020204" pitchFamily="34" charset="0"/>
                <a:ea typeface="Verdana" panose="020B0604030504040204" pitchFamily="34" charset="0"/>
              </a:rPr>
              <a:t>TRACE: </a:t>
            </a:r>
            <a:r>
              <a:rPr lang="en-CA" dirty="0" err="1">
                <a:latin typeface="Arial Nova" panose="020B0504020202020204" pitchFamily="34" charset="0"/>
                <a:ea typeface="Verdana" panose="020B0604030504040204" pitchFamily="34" charset="0"/>
              </a:rPr>
              <a:t>agent_turn</a:t>
            </a:r>
            <a:r>
              <a:rPr lang="en-CA" dirty="0">
                <a:latin typeface="Arial Nova" panose="020B0504020202020204" pitchFamily="34" charset="0"/>
                <a:ea typeface="Verdana" panose="020B0604030504040204" pitchFamily="34" charset="0"/>
              </a:rPr>
              <a:t> #281</a:t>
            </a:r>
          </a:p>
          <a:p>
            <a:r>
              <a:rPr lang="en-CA" dirty="0">
                <a:latin typeface="Arial Nova" panose="020B0504020202020204" pitchFamily="34" charset="0"/>
                <a:ea typeface="Verdana" panose="020B0604030504040204" pitchFamily="34" charset="0"/>
              </a:rPr>
              <a:t>│</a:t>
            </a:r>
          </a:p>
          <a:p>
            <a:r>
              <a:rPr lang="en-CA" dirty="0">
                <a:latin typeface="Arial Nova" panose="020B0504020202020204" pitchFamily="34" charset="0"/>
                <a:ea typeface="Verdana" panose="020B0604030504040204" pitchFamily="34" charset="0"/>
              </a:rPr>
              <a:t>├── SPAN: </a:t>
            </a:r>
            <a:r>
              <a:rPr lang="en-CA" dirty="0" err="1">
                <a:latin typeface="Arial Nova" panose="020B0504020202020204" pitchFamily="34" charset="0"/>
                <a:ea typeface="Verdana" panose="020B0604030504040204" pitchFamily="34" charset="0"/>
              </a:rPr>
              <a:t>build_context</a:t>
            </a:r>
            <a:endParaRPr lang="en-CA" dirty="0">
              <a:latin typeface="Arial Nova" panose="020B0504020202020204" pitchFamily="34" charset="0"/>
              <a:ea typeface="Verdana" panose="020B0604030504040204" pitchFamily="34" charset="0"/>
            </a:endParaRPr>
          </a:p>
          <a:p>
            <a:r>
              <a:rPr lang="en-CA" dirty="0">
                <a:latin typeface="Arial Nova" panose="020B0504020202020204" pitchFamily="34" charset="0"/>
                <a:ea typeface="Verdana" panose="020B0604030504040204" pitchFamily="34" charset="0"/>
              </a:rPr>
              <a:t>│</a:t>
            </a:r>
          </a:p>
          <a:p>
            <a:r>
              <a:rPr lang="en-CA" dirty="0">
                <a:latin typeface="Arial Nova" panose="020B0504020202020204" pitchFamily="34" charset="0"/>
                <a:ea typeface="Verdana" panose="020B0604030504040204" pitchFamily="34" charset="0"/>
              </a:rPr>
              <a:t>├── SPAN: </a:t>
            </a:r>
            <a:r>
              <a:rPr lang="en-CA" dirty="0" err="1">
                <a:latin typeface="Arial Nova" panose="020B0504020202020204" pitchFamily="34" charset="0"/>
                <a:ea typeface="Verdana" panose="020B0604030504040204" pitchFamily="34" charset="0"/>
              </a:rPr>
              <a:t>call_llm</a:t>
            </a:r>
            <a:endParaRPr lang="en-CA" dirty="0">
              <a:latin typeface="Arial Nova" panose="020B0504020202020204" pitchFamily="34" charset="0"/>
              <a:ea typeface="Verdana" panose="020B0604030504040204" pitchFamily="34" charset="0"/>
            </a:endParaRPr>
          </a:p>
          <a:p>
            <a:r>
              <a:rPr lang="en-CA" dirty="0">
                <a:latin typeface="Arial Nova" panose="020B0504020202020204" pitchFamily="34" charset="0"/>
                <a:ea typeface="Verdana" panose="020B0604030504040204" pitchFamily="34" charset="0"/>
              </a:rPr>
              <a:t>│   └── model: </a:t>
            </a:r>
            <a:r>
              <a:rPr lang="en-CA" dirty="0" err="1">
                <a:latin typeface="Arial Nova" panose="020B0504020202020204" pitchFamily="34" charset="0"/>
                <a:ea typeface="Verdana" panose="020B0604030504040204" pitchFamily="34" charset="0"/>
              </a:rPr>
              <a:t>claude</a:t>
            </a:r>
            <a:r>
              <a:rPr lang="en-CA" dirty="0">
                <a:latin typeface="Arial Nova" panose="020B0504020202020204" pitchFamily="34" charset="0"/>
                <a:ea typeface="Verdana" panose="020B0604030504040204" pitchFamily="34" charset="0"/>
              </a:rPr>
              <a:t>-haiku</a:t>
            </a:r>
          </a:p>
          <a:p>
            <a:r>
              <a:rPr lang="en-CA" dirty="0">
                <a:latin typeface="Arial Nova" panose="020B0504020202020204" pitchFamily="34" charset="0"/>
                <a:ea typeface="Verdana" panose="020B0604030504040204" pitchFamily="34" charset="0"/>
              </a:rPr>
              <a:t>│</a:t>
            </a:r>
          </a:p>
          <a:p>
            <a:r>
              <a:rPr lang="en-CA" dirty="0">
                <a:latin typeface="Arial Nova" panose="020B0504020202020204" pitchFamily="34" charset="0"/>
                <a:ea typeface="Verdana" panose="020B0604030504040204" pitchFamily="34" charset="0"/>
              </a:rPr>
              <a:t>├── SPAN: </a:t>
            </a:r>
            <a:r>
              <a:rPr lang="en-CA" dirty="0" err="1">
                <a:latin typeface="Arial Nova" panose="020B0504020202020204" pitchFamily="34" charset="0"/>
                <a:ea typeface="Verdana" panose="020B0604030504040204" pitchFamily="34" charset="0"/>
              </a:rPr>
              <a:t>tool.move</a:t>
            </a:r>
            <a:endParaRPr lang="en-CA" dirty="0">
              <a:latin typeface="Arial Nova" panose="020B0504020202020204" pitchFamily="34" charset="0"/>
              <a:ea typeface="Verdana" panose="020B0604030504040204" pitchFamily="34" charset="0"/>
            </a:endParaRPr>
          </a:p>
          <a:p>
            <a:r>
              <a:rPr lang="en-CA" dirty="0">
                <a:latin typeface="Arial Nova" panose="020B0504020202020204" pitchFamily="34" charset="0"/>
                <a:ea typeface="Verdana" panose="020B0604030504040204" pitchFamily="34" charset="0"/>
              </a:rPr>
              <a:t>│   └── direction: north</a:t>
            </a:r>
          </a:p>
          <a:p>
            <a:r>
              <a:rPr lang="en-CA" dirty="0">
                <a:latin typeface="Arial Nova" panose="020B0504020202020204" pitchFamily="34" charset="0"/>
                <a:ea typeface="Verdana" panose="020B0604030504040204" pitchFamily="34" charset="0"/>
              </a:rPr>
              <a:t>│</a:t>
            </a:r>
          </a:p>
          <a:p>
            <a:r>
              <a:rPr lang="en-CA" dirty="0">
                <a:latin typeface="Arial Nova" panose="020B0504020202020204" pitchFamily="34" charset="0"/>
                <a:ea typeface="Verdana" panose="020B0604030504040204" pitchFamily="34" charset="0"/>
              </a:rPr>
              <a:t>├── SPAN: </a:t>
            </a:r>
            <a:r>
              <a:rPr lang="en-CA" dirty="0" err="1">
                <a:latin typeface="Arial Nova" panose="020B0504020202020204" pitchFamily="34" charset="0"/>
                <a:ea typeface="Verdana" panose="020B0604030504040204" pitchFamily="34" charset="0"/>
              </a:rPr>
              <a:t>parse_room</a:t>
            </a:r>
            <a:endParaRPr lang="en-CA" dirty="0">
              <a:latin typeface="Arial Nova" panose="020B0504020202020204" pitchFamily="34" charset="0"/>
              <a:ea typeface="Verdana" panose="020B0604030504040204" pitchFamily="34" charset="0"/>
            </a:endParaRPr>
          </a:p>
          <a:p>
            <a:r>
              <a:rPr lang="en-CA" dirty="0">
                <a:latin typeface="Arial Nova" panose="020B0504020202020204" pitchFamily="34" charset="0"/>
                <a:ea typeface="Verdana" panose="020B0604030504040204" pitchFamily="34" charset="0"/>
              </a:rPr>
              <a:t>│   ├── SPAN: </a:t>
            </a:r>
            <a:r>
              <a:rPr lang="en-CA" dirty="0" err="1">
                <a:latin typeface="Arial Nova" panose="020B0504020202020204" pitchFamily="34" charset="0"/>
                <a:ea typeface="Verdana" panose="020B0604030504040204" pitchFamily="34" charset="0"/>
              </a:rPr>
              <a:t>bert_candidates</a:t>
            </a:r>
            <a:endParaRPr lang="en-CA" dirty="0">
              <a:latin typeface="Arial Nova" panose="020B0504020202020204" pitchFamily="34" charset="0"/>
              <a:ea typeface="Verdana" panose="020B0604030504040204" pitchFamily="34" charset="0"/>
            </a:endParaRPr>
          </a:p>
          <a:p>
            <a:r>
              <a:rPr lang="en-CA" dirty="0">
                <a:latin typeface="Arial Nova" panose="020B0504020202020204" pitchFamily="34" charset="0"/>
                <a:ea typeface="Verdana" panose="020B0604030504040204" pitchFamily="34" charset="0"/>
              </a:rPr>
              <a:t>│   └── SPAN: </a:t>
            </a:r>
            <a:r>
              <a:rPr lang="en-CA" dirty="0" err="1">
                <a:latin typeface="Arial Nova" panose="020B0504020202020204" pitchFamily="34" charset="0"/>
                <a:ea typeface="Verdana" panose="020B0604030504040204" pitchFamily="34" charset="0"/>
              </a:rPr>
              <a:t>summarize_room</a:t>
            </a:r>
            <a:endParaRPr lang="en-CA" dirty="0">
              <a:latin typeface="Arial Nova" panose="020B0504020202020204" pitchFamily="34" charset="0"/>
              <a:ea typeface="Verdana" panose="020B0604030504040204" pitchFamily="34" charset="0"/>
            </a:endParaRPr>
          </a:p>
          <a:p>
            <a:r>
              <a:rPr lang="en-CA" dirty="0">
                <a:latin typeface="Arial Nova" panose="020B0504020202020204" pitchFamily="34" charset="0"/>
                <a:ea typeface="Verdana" panose="020B0604030504040204" pitchFamily="34" charset="0"/>
              </a:rPr>
              <a:t>│</a:t>
            </a:r>
          </a:p>
          <a:p>
            <a:r>
              <a:rPr lang="en-CA" dirty="0">
                <a:latin typeface="Arial Nova" panose="020B0504020202020204" pitchFamily="34" charset="0"/>
                <a:ea typeface="Verdana" panose="020B0604030504040204" pitchFamily="34" charset="0"/>
              </a:rPr>
              <a:t>└── SPAN: </a:t>
            </a:r>
            <a:r>
              <a:rPr lang="en-CA" dirty="0" err="1">
                <a:latin typeface="Arial Nova" panose="020B0504020202020204" pitchFamily="34" charset="0"/>
                <a:ea typeface="Verdana" panose="020B0604030504040204" pitchFamily="34" charset="0"/>
              </a:rPr>
              <a:t>update_memory</a:t>
            </a:r>
            <a:endParaRPr lang="en-CA" dirty="0">
              <a:latin typeface="Arial Nova" panose="020B0504020202020204" pitchFamily="34" charset="0"/>
              <a:ea typeface="Verdana" panose="020B0604030504040204" pitchFamily="34" charset="0"/>
            </a:endParaRPr>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2429EFA9-04B6-D548-3618-ADE33C207927}"/>
                  </a:ext>
                </a:extLst>
              </p14:cNvPr>
              <p14:cNvContentPartPr/>
              <p14:nvPr/>
            </p14:nvContentPartPr>
            <p14:xfrm>
              <a:off x="2685960" y="1549440"/>
              <a:ext cx="4394520" cy="4769280"/>
            </p14:xfrm>
          </p:contentPart>
        </mc:Choice>
        <mc:Fallback>
          <p:pic>
            <p:nvPicPr>
              <p:cNvPr id="11" name="Ink 10">
                <a:extLst>
                  <a:ext uri="{FF2B5EF4-FFF2-40B4-BE49-F238E27FC236}">
                    <a16:creationId xmlns:a16="http://schemas.microsoft.com/office/drawing/2014/main" id="{2429EFA9-04B6-D548-3618-ADE33C207927}"/>
                  </a:ext>
                </a:extLst>
              </p:cNvPr>
              <p:cNvPicPr/>
              <p:nvPr/>
            </p:nvPicPr>
            <p:blipFill>
              <a:blip r:embed="rId3"/>
              <a:stretch>
                <a:fillRect/>
              </a:stretch>
            </p:blipFill>
            <p:spPr>
              <a:xfrm>
                <a:off x="2676600" y="1540080"/>
                <a:ext cx="4413240" cy="4788000"/>
              </a:xfrm>
              <a:prstGeom prst="rect">
                <a:avLst/>
              </a:prstGeom>
            </p:spPr>
          </p:pic>
        </mc:Fallback>
      </mc:AlternateContent>
    </p:spTree>
    <p:extLst>
      <p:ext uri="{BB962C8B-B14F-4D97-AF65-F5344CB8AC3E}">
        <p14:creationId xmlns:p14="http://schemas.microsoft.com/office/powerpoint/2010/main" val="968898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232BE-B86C-B7A8-8BC4-479778CB51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4A5AF34-31E1-1C7C-ADE7-728A39A6FC5C}"/>
              </a:ext>
            </a:extLst>
          </p:cNvPr>
          <p:cNvSpPr txBox="1"/>
          <p:nvPr/>
        </p:nvSpPr>
        <p:spPr>
          <a:xfrm>
            <a:off x="-10399" y="0"/>
            <a:ext cx="12202399" cy="1015420"/>
          </a:xfrm>
          <a:prstGeom prst="rect">
            <a:avLst/>
          </a:prstGeom>
          <a:solidFill>
            <a:schemeClr val="bg1">
              <a:lumMod val="95000"/>
            </a:schemeClr>
          </a:solidFill>
        </p:spPr>
        <p:txBody>
          <a:bodyPr wrap="square" tIns="108000" bIns="288000" rtlCol="0">
            <a:spAutoFit/>
          </a:bodyPr>
          <a:lstStyle/>
          <a:p>
            <a:pPr lvl="0" algn="ctr">
              <a:defRPr/>
            </a:pPr>
            <a:r>
              <a:rPr lang="en-CA" sz="4000" b="1" dirty="0">
                <a:solidFill>
                  <a:prstClr val="black"/>
                </a:solidFill>
                <a:latin typeface="Handlee" panose="02000000000000000000" pitchFamily="2" charset="0"/>
              </a:rPr>
              <a:t>Logs vs Instrumentation</a:t>
            </a:r>
            <a:endParaRPr kumimoji="0" lang="en-US" sz="4000" b="1" i="0" u="none" strike="noStrike" kern="1200" cap="none" spc="0" normalizeH="0" baseline="0" noProof="0" dirty="0">
              <a:ln>
                <a:noFill/>
              </a:ln>
              <a:solidFill>
                <a:prstClr val="black"/>
              </a:solidFill>
              <a:effectLst/>
              <a:uLnTx/>
              <a:uFillTx/>
              <a:latin typeface="Handlee" panose="02000000000000000000" pitchFamily="2" charset="0"/>
            </a:endParaRPr>
          </a:p>
        </p:txBody>
      </p:sp>
      <p:sp>
        <p:nvSpPr>
          <p:cNvPr id="2" name="TextBox 1">
            <a:extLst>
              <a:ext uri="{FF2B5EF4-FFF2-40B4-BE49-F238E27FC236}">
                <a16:creationId xmlns:a16="http://schemas.microsoft.com/office/drawing/2014/main" id="{1185A873-8509-CFEB-9298-54E4AFD2C7D4}"/>
              </a:ext>
            </a:extLst>
          </p:cNvPr>
          <p:cNvSpPr txBox="1"/>
          <p:nvPr/>
        </p:nvSpPr>
        <p:spPr>
          <a:xfrm>
            <a:off x="702638" y="1274566"/>
            <a:ext cx="4734560" cy="369332"/>
          </a:xfrm>
          <a:prstGeom prst="rect">
            <a:avLst/>
          </a:prstGeom>
          <a:noFill/>
        </p:spPr>
        <p:txBody>
          <a:bodyPr wrap="square" rtlCol="0">
            <a:spAutoFit/>
          </a:bodyPr>
          <a:lstStyle/>
          <a:p>
            <a:r>
              <a:rPr lang="en-CA" b="1" dirty="0"/>
              <a:t>Logs answer: “What happened?”</a:t>
            </a:r>
          </a:p>
        </p:txBody>
      </p:sp>
      <p:sp>
        <p:nvSpPr>
          <p:cNvPr id="6" name="TextBox 5">
            <a:extLst>
              <a:ext uri="{FF2B5EF4-FFF2-40B4-BE49-F238E27FC236}">
                <a16:creationId xmlns:a16="http://schemas.microsoft.com/office/drawing/2014/main" id="{2A691D70-1F24-6199-A9B5-9DE9C1ADD9D1}"/>
              </a:ext>
            </a:extLst>
          </p:cNvPr>
          <p:cNvSpPr txBox="1"/>
          <p:nvPr/>
        </p:nvSpPr>
        <p:spPr>
          <a:xfrm>
            <a:off x="800614" y="1807246"/>
            <a:ext cx="4734560" cy="1952806"/>
          </a:xfrm>
          <a:prstGeom prst="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txBody>
          <a:bodyPr wrap="square" lIns="144000" tIns="144000" rIns="144000" bIns="144000">
            <a:spAutoFit/>
          </a:bodyPr>
          <a:lstStyle/>
          <a:p>
            <a:r>
              <a:rPr lang="en-CA" sz="1800" dirty="0"/>
              <a:t>Received room description </a:t>
            </a:r>
          </a:p>
          <a:p>
            <a:r>
              <a:rPr lang="en-CA" sz="1800" dirty="0"/>
              <a:t>Extracted 6 candidate objects Calling tool: move(direction=north) </a:t>
            </a:r>
          </a:p>
          <a:p>
            <a:r>
              <a:rPr lang="en-CA" sz="1800" dirty="0"/>
              <a:t>Tool returned: Market Square </a:t>
            </a:r>
          </a:p>
          <a:p>
            <a:r>
              <a:rPr lang="en-CA" sz="1800" dirty="0"/>
              <a:t>Updating world memory </a:t>
            </a:r>
          </a:p>
          <a:p>
            <a:r>
              <a:rPr lang="en-CA" sz="1800" dirty="0"/>
              <a:t>Calling tool: </a:t>
            </a:r>
            <a:r>
              <a:rPr lang="en-CA" sz="1800" dirty="0" err="1"/>
              <a:t>inspect_room</a:t>
            </a:r>
            <a:endParaRPr lang="en-CA" sz="1800" dirty="0"/>
          </a:p>
        </p:txBody>
      </p:sp>
      <p:sp>
        <p:nvSpPr>
          <p:cNvPr id="7" name="TextBox 6">
            <a:extLst>
              <a:ext uri="{FF2B5EF4-FFF2-40B4-BE49-F238E27FC236}">
                <a16:creationId xmlns:a16="http://schemas.microsoft.com/office/drawing/2014/main" id="{3B7C377F-FC19-ED07-8139-F58007762B8C}"/>
              </a:ext>
            </a:extLst>
          </p:cNvPr>
          <p:cNvSpPr txBox="1"/>
          <p:nvPr/>
        </p:nvSpPr>
        <p:spPr>
          <a:xfrm>
            <a:off x="6328881" y="1274566"/>
            <a:ext cx="5160481" cy="369332"/>
          </a:xfrm>
          <a:prstGeom prst="rect">
            <a:avLst/>
          </a:prstGeom>
          <a:noFill/>
        </p:spPr>
        <p:txBody>
          <a:bodyPr wrap="square" rtlCol="0">
            <a:spAutoFit/>
          </a:bodyPr>
          <a:lstStyle/>
          <a:p>
            <a:r>
              <a:rPr lang="en-CA" b="1" dirty="0"/>
              <a:t>Traces/spans answer: “How did this happen?”</a:t>
            </a:r>
          </a:p>
        </p:txBody>
      </p:sp>
      <p:sp>
        <p:nvSpPr>
          <p:cNvPr id="9" name="TextBox 8">
            <a:extLst>
              <a:ext uri="{FF2B5EF4-FFF2-40B4-BE49-F238E27FC236}">
                <a16:creationId xmlns:a16="http://schemas.microsoft.com/office/drawing/2014/main" id="{567A37EA-FAE7-DFA3-BDE6-9CA9C0C5B3E7}"/>
              </a:ext>
            </a:extLst>
          </p:cNvPr>
          <p:cNvSpPr txBox="1"/>
          <p:nvPr/>
        </p:nvSpPr>
        <p:spPr>
          <a:xfrm>
            <a:off x="6400800" y="1807246"/>
            <a:ext cx="4348823" cy="4445796"/>
          </a:xfrm>
          <a:prstGeom prst="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txBody>
          <a:bodyPr wrap="square" lIns="144000" tIns="144000" rIns="144000" bIns="144000" rtlCol="0">
            <a:spAutoFit/>
          </a:bodyPr>
          <a:lstStyle/>
          <a:p>
            <a:r>
              <a:rPr lang="en-CA" dirty="0">
                <a:latin typeface="Arial Nova" panose="020B0504020202020204" pitchFamily="34" charset="0"/>
                <a:ea typeface="Verdana" panose="020B0604030504040204" pitchFamily="34" charset="0"/>
              </a:rPr>
              <a:t>TRACE: </a:t>
            </a:r>
            <a:r>
              <a:rPr lang="en-CA" dirty="0" err="1">
                <a:latin typeface="Arial Nova" panose="020B0504020202020204" pitchFamily="34" charset="0"/>
                <a:ea typeface="Verdana" panose="020B0604030504040204" pitchFamily="34" charset="0"/>
              </a:rPr>
              <a:t>agent_turn</a:t>
            </a:r>
            <a:r>
              <a:rPr lang="en-CA" dirty="0">
                <a:latin typeface="Arial Nova" panose="020B0504020202020204" pitchFamily="34" charset="0"/>
                <a:ea typeface="Verdana" panose="020B0604030504040204" pitchFamily="34" charset="0"/>
              </a:rPr>
              <a:t> #281</a:t>
            </a:r>
          </a:p>
          <a:p>
            <a:r>
              <a:rPr lang="en-CA" dirty="0">
                <a:latin typeface="Arial Nova" panose="020B0504020202020204" pitchFamily="34" charset="0"/>
                <a:ea typeface="Verdana" panose="020B0604030504040204" pitchFamily="34" charset="0"/>
              </a:rPr>
              <a:t>│</a:t>
            </a:r>
          </a:p>
          <a:p>
            <a:r>
              <a:rPr lang="en-CA" dirty="0">
                <a:latin typeface="Arial Nova" panose="020B0504020202020204" pitchFamily="34" charset="0"/>
                <a:ea typeface="Verdana" panose="020B0604030504040204" pitchFamily="34" charset="0"/>
              </a:rPr>
              <a:t>├── SPAN: </a:t>
            </a:r>
            <a:r>
              <a:rPr lang="en-CA" dirty="0" err="1">
                <a:latin typeface="Arial Nova" panose="020B0504020202020204" pitchFamily="34" charset="0"/>
                <a:ea typeface="Verdana" panose="020B0604030504040204" pitchFamily="34" charset="0"/>
              </a:rPr>
              <a:t>build_context</a:t>
            </a:r>
            <a:endParaRPr lang="en-CA" dirty="0">
              <a:latin typeface="Arial Nova" panose="020B0504020202020204" pitchFamily="34" charset="0"/>
              <a:ea typeface="Verdana" panose="020B0604030504040204" pitchFamily="34" charset="0"/>
            </a:endParaRPr>
          </a:p>
          <a:p>
            <a:r>
              <a:rPr lang="en-CA" dirty="0">
                <a:latin typeface="Arial Nova" panose="020B0504020202020204" pitchFamily="34" charset="0"/>
                <a:ea typeface="Verdana" panose="020B0604030504040204" pitchFamily="34" charset="0"/>
              </a:rPr>
              <a:t>│</a:t>
            </a:r>
          </a:p>
          <a:p>
            <a:r>
              <a:rPr lang="en-CA" dirty="0">
                <a:latin typeface="Arial Nova" panose="020B0504020202020204" pitchFamily="34" charset="0"/>
                <a:ea typeface="Verdana" panose="020B0604030504040204" pitchFamily="34" charset="0"/>
              </a:rPr>
              <a:t>├── SPAN: </a:t>
            </a:r>
            <a:r>
              <a:rPr lang="en-CA" dirty="0" err="1">
                <a:latin typeface="Arial Nova" panose="020B0504020202020204" pitchFamily="34" charset="0"/>
                <a:ea typeface="Verdana" panose="020B0604030504040204" pitchFamily="34" charset="0"/>
              </a:rPr>
              <a:t>call_llm</a:t>
            </a:r>
            <a:endParaRPr lang="en-CA" dirty="0">
              <a:latin typeface="Arial Nova" panose="020B0504020202020204" pitchFamily="34" charset="0"/>
              <a:ea typeface="Verdana" panose="020B0604030504040204" pitchFamily="34" charset="0"/>
            </a:endParaRPr>
          </a:p>
          <a:p>
            <a:r>
              <a:rPr lang="en-CA" dirty="0">
                <a:latin typeface="Arial Nova" panose="020B0504020202020204" pitchFamily="34" charset="0"/>
                <a:ea typeface="Verdana" panose="020B0604030504040204" pitchFamily="34" charset="0"/>
              </a:rPr>
              <a:t>│   └── model: </a:t>
            </a:r>
            <a:r>
              <a:rPr lang="en-CA" dirty="0" err="1">
                <a:latin typeface="Arial Nova" panose="020B0504020202020204" pitchFamily="34" charset="0"/>
                <a:ea typeface="Verdana" panose="020B0604030504040204" pitchFamily="34" charset="0"/>
              </a:rPr>
              <a:t>claude</a:t>
            </a:r>
            <a:r>
              <a:rPr lang="en-CA" dirty="0">
                <a:latin typeface="Arial Nova" panose="020B0504020202020204" pitchFamily="34" charset="0"/>
                <a:ea typeface="Verdana" panose="020B0604030504040204" pitchFamily="34" charset="0"/>
              </a:rPr>
              <a:t>-haiku</a:t>
            </a:r>
          </a:p>
          <a:p>
            <a:r>
              <a:rPr lang="en-CA" dirty="0">
                <a:latin typeface="Arial Nova" panose="020B0504020202020204" pitchFamily="34" charset="0"/>
                <a:ea typeface="Verdana" panose="020B0604030504040204" pitchFamily="34" charset="0"/>
              </a:rPr>
              <a:t>│</a:t>
            </a:r>
          </a:p>
          <a:p>
            <a:r>
              <a:rPr lang="en-CA" dirty="0">
                <a:latin typeface="Arial Nova" panose="020B0504020202020204" pitchFamily="34" charset="0"/>
                <a:ea typeface="Verdana" panose="020B0604030504040204" pitchFamily="34" charset="0"/>
              </a:rPr>
              <a:t>├── SPAN: </a:t>
            </a:r>
            <a:r>
              <a:rPr lang="en-CA" dirty="0" err="1">
                <a:latin typeface="Arial Nova" panose="020B0504020202020204" pitchFamily="34" charset="0"/>
                <a:ea typeface="Verdana" panose="020B0604030504040204" pitchFamily="34" charset="0"/>
              </a:rPr>
              <a:t>tool.move</a:t>
            </a:r>
            <a:endParaRPr lang="en-CA" dirty="0">
              <a:latin typeface="Arial Nova" panose="020B0504020202020204" pitchFamily="34" charset="0"/>
              <a:ea typeface="Verdana" panose="020B0604030504040204" pitchFamily="34" charset="0"/>
            </a:endParaRPr>
          </a:p>
          <a:p>
            <a:r>
              <a:rPr lang="en-CA" dirty="0">
                <a:latin typeface="Arial Nova" panose="020B0504020202020204" pitchFamily="34" charset="0"/>
                <a:ea typeface="Verdana" panose="020B0604030504040204" pitchFamily="34" charset="0"/>
              </a:rPr>
              <a:t>│   └── direction: north</a:t>
            </a:r>
          </a:p>
          <a:p>
            <a:r>
              <a:rPr lang="en-CA" dirty="0">
                <a:latin typeface="Arial Nova" panose="020B0504020202020204" pitchFamily="34" charset="0"/>
                <a:ea typeface="Verdana" panose="020B0604030504040204" pitchFamily="34" charset="0"/>
              </a:rPr>
              <a:t>│</a:t>
            </a:r>
          </a:p>
          <a:p>
            <a:r>
              <a:rPr lang="en-CA" dirty="0">
                <a:latin typeface="Arial Nova" panose="020B0504020202020204" pitchFamily="34" charset="0"/>
                <a:ea typeface="Verdana" panose="020B0604030504040204" pitchFamily="34" charset="0"/>
              </a:rPr>
              <a:t>├── SPAN: </a:t>
            </a:r>
            <a:r>
              <a:rPr lang="en-CA" dirty="0" err="1">
                <a:latin typeface="Arial Nova" panose="020B0504020202020204" pitchFamily="34" charset="0"/>
                <a:ea typeface="Verdana" panose="020B0604030504040204" pitchFamily="34" charset="0"/>
              </a:rPr>
              <a:t>parse_room</a:t>
            </a:r>
            <a:endParaRPr lang="en-CA" dirty="0">
              <a:latin typeface="Arial Nova" panose="020B0504020202020204" pitchFamily="34" charset="0"/>
              <a:ea typeface="Verdana" panose="020B0604030504040204" pitchFamily="34" charset="0"/>
            </a:endParaRPr>
          </a:p>
          <a:p>
            <a:r>
              <a:rPr lang="en-CA" dirty="0">
                <a:latin typeface="Arial Nova" panose="020B0504020202020204" pitchFamily="34" charset="0"/>
                <a:ea typeface="Verdana" panose="020B0604030504040204" pitchFamily="34" charset="0"/>
              </a:rPr>
              <a:t>│   ├── SPAN: </a:t>
            </a:r>
            <a:r>
              <a:rPr lang="en-CA" dirty="0" err="1">
                <a:latin typeface="Arial Nova" panose="020B0504020202020204" pitchFamily="34" charset="0"/>
                <a:ea typeface="Verdana" panose="020B0604030504040204" pitchFamily="34" charset="0"/>
              </a:rPr>
              <a:t>bert_candidates</a:t>
            </a:r>
            <a:endParaRPr lang="en-CA" dirty="0">
              <a:latin typeface="Arial Nova" panose="020B0504020202020204" pitchFamily="34" charset="0"/>
              <a:ea typeface="Verdana" panose="020B0604030504040204" pitchFamily="34" charset="0"/>
            </a:endParaRPr>
          </a:p>
          <a:p>
            <a:r>
              <a:rPr lang="en-CA" dirty="0">
                <a:latin typeface="Arial Nova" panose="020B0504020202020204" pitchFamily="34" charset="0"/>
                <a:ea typeface="Verdana" panose="020B0604030504040204" pitchFamily="34" charset="0"/>
              </a:rPr>
              <a:t>│   └── SPAN: </a:t>
            </a:r>
            <a:r>
              <a:rPr lang="en-CA" dirty="0" err="1">
                <a:latin typeface="Arial Nova" panose="020B0504020202020204" pitchFamily="34" charset="0"/>
                <a:ea typeface="Verdana" panose="020B0604030504040204" pitchFamily="34" charset="0"/>
              </a:rPr>
              <a:t>summarize_room</a:t>
            </a:r>
            <a:endParaRPr lang="en-CA" dirty="0">
              <a:latin typeface="Arial Nova" panose="020B0504020202020204" pitchFamily="34" charset="0"/>
              <a:ea typeface="Verdana" panose="020B0604030504040204" pitchFamily="34" charset="0"/>
            </a:endParaRPr>
          </a:p>
          <a:p>
            <a:r>
              <a:rPr lang="en-CA" dirty="0">
                <a:latin typeface="Arial Nova" panose="020B0504020202020204" pitchFamily="34" charset="0"/>
                <a:ea typeface="Verdana" panose="020B0604030504040204" pitchFamily="34" charset="0"/>
              </a:rPr>
              <a:t>│</a:t>
            </a:r>
          </a:p>
          <a:p>
            <a:r>
              <a:rPr lang="en-CA" dirty="0">
                <a:latin typeface="Arial Nova" panose="020B0504020202020204" pitchFamily="34" charset="0"/>
                <a:ea typeface="Verdana" panose="020B0604030504040204" pitchFamily="34" charset="0"/>
              </a:rPr>
              <a:t>└── SPAN: </a:t>
            </a:r>
            <a:r>
              <a:rPr lang="en-CA" dirty="0" err="1">
                <a:latin typeface="Arial Nova" panose="020B0504020202020204" pitchFamily="34" charset="0"/>
                <a:ea typeface="Verdana" panose="020B0604030504040204" pitchFamily="34" charset="0"/>
              </a:rPr>
              <a:t>update_memory</a:t>
            </a:r>
            <a:endParaRPr lang="en-CA" dirty="0">
              <a:latin typeface="Arial Nova" panose="020B0504020202020204" pitchFamily="34" charset="0"/>
              <a:ea typeface="Verdana" panose="020B0604030504040204" pitchFamily="34" charset="0"/>
            </a:endParaRPr>
          </a:p>
        </p:txBody>
      </p:sp>
    </p:spTree>
    <p:extLst>
      <p:ext uri="{BB962C8B-B14F-4D97-AF65-F5344CB8AC3E}">
        <p14:creationId xmlns:p14="http://schemas.microsoft.com/office/powerpoint/2010/main" val="41878473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2595</Words>
  <Application>Microsoft Office PowerPoint</Application>
  <PresentationFormat>Widescreen</PresentationFormat>
  <Paragraphs>260</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Arial Nova</vt:lpstr>
      <vt:lpstr>Handlee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Brown</dc:creator>
  <cp:lastModifiedBy>Andrew Brown</cp:lastModifiedBy>
  <cp:revision>1</cp:revision>
  <dcterms:created xsi:type="dcterms:W3CDTF">2026-07-25T20:24:03Z</dcterms:created>
  <dcterms:modified xsi:type="dcterms:W3CDTF">2026-07-25T20:24:23Z</dcterms:modified>
</cp:coreProperties>
</file>